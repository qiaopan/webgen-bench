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2" r:id="rId6"/>
    <p:sldId id="269" r:id="rId7"/>
    <p:sldId id="260" r:id="rId8"/>
    <p:sldId id="273" r:id="rId9"/>
    <p:sldId id="261" r:id="rId10"/>
    <p:sldId id="262" r:id="rId11"/>
    <p:sldId id="271" r:id="rId12"/>
    <p:sldId id="263" r:id="rId13"/>
    <p:sldId id="264" r:id="rId14"/>
    <p:sldId id="265" r:id="rId15"/>
    <p:sldId id="270" r:id="rId16"/>
    <p:sldId id="26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p:normalViewPr>
  <p:slideViewPr>
    <p:cSldViewPr snapToGrid="0" snapToObjects="1">
      <p:cViewPr varScale="1">
        <p:scale>
          <a:sx n="97" d="100"/>
          <a:sy n="97"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I am Qiaopan. My question: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generator is WebGen-LM-7B: Qwen2.5-Coder-7B fine-tuned by the benchmark authors on Bolt trajectories, so it already knows Bolt's format. Everything is self-hosted on two H200 GPUs on the school cluster, with no paid API. One task takes about twelve minutes with memory.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shows what we compare. Each arm answers one question. Every run builds all 101 websites from an empty memory. Task order matters for memory, so we also shuffle the tasks: either keeping each domain's tasks together, or fully random. No Memory has no memory, so its order should not matter; we repeat it to measure noise.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text memory, used text lessons. They helped on the first 30 tasks, but by the end text memory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task, a solar dashboard. Without memory, the model imports a chart library that is not installed, so the page shows only an error and every test fails. This is the most common way the 7B model scores zero. With memory, the prompt carried a short working code example, and every test passed.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whole-file code memory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versions fall into three families. Text memory gives lessons as text; the small model mostly ignores them: 30.9 percent. Code memory adds short code examples from our own working sites: 40 percent. The final version uses only checked fragments, never whole files. And the checklist alone, without memory, helps only a little.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main result. Without memory: 28.5 percent and 30 zero-score tasks. With whole-file code memory: 40 percent and 13. Paired by task, the gain is 11.5 points, and the 95 percent confidence interval, 6 to 16.9, does not include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learning curve, in execution order. Text memory, in orange, starts high and then falls below No Memory. Code memory, in blue, keeps its lead to the end. So the gain grows with experience, it is not only an early boost.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its interval includes zero. Adding memory on top adds 8.1 points, and its interval excludes zero.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two new orders, the whole-file version produced many blank starter projects: it copied a whole example file as its finished answer. With fragments, the blank sites disappeared in both orders. The chart shows the fragments version minus No Memory over the last ten tasks; above zero means memory is ahead, which holds most of the time.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Each order has one run, as in the original paper. The gain is in features, not in look. We used one model and one tool, and the method was developed on this benchmark. Next: the last runs finish this weekend, and the thesis draft goes to my supervisor on Monday.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for a small model, memory should give code, not advice. Accuracy rises from 28.5 to 40 percent, and most of the gain comes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Experiments</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compare, and in which task orders</a:t>
            </a:r>
            <a:endParaRPr lang="en-US" sz="3000" dirty="0"/>
          </a:p>
        </p:txBody>
      </p:sp>
      <p:graphicFrame>
        <p:nvGraphicFramePr>
          <p:cNvPr id="20" name="Arms"/>
          <p:cNvGraphicFramePr>
            <a:graphicFrameLocks noGrp="1"/>
          </p:cNvGraphicFramePr>
          <p:nvPr/>
        </p:nvGraphicFramePr>
        <p:xfrm>
          <a:off x="812800" y="1650000"/>
          <a:ext cx="10900000" cy="2030000"/>
        </p:xfrm>
        <a:graphic>
          <a:graphicData uri="http://schemas.openxmlformats.org/drawingml/2006/table">
            <a:tbl>
              <a:tblPr/>
              <a:tblGrid>
                <a:gridCol w="2900000"/>
                <a:gridCol w="4900000"/>
                <a:gridCol w="3100000"/>
              </a:tblGrid>
              <a:tr h="290000">
                <a:tc>
                  <a:txBody>
                    <a:bodyPr/>
                    <a:lstStyle/>
                    <a:p>
                      <a:r>
                        <a:rPr sz="1100" b="1">
                          <a:solidFill>
                            <a:srgbClr val="14213D"/>
                          </a:solidFill>
                          <a:latin typeface="Arial"/>
                        </a:rPr>
                        <a:t>Arm</a:t>
                      </a:r>
                    </a:p>
                  </a:txBody>
                  <a:tcPr marL="60000" marR="60000" marT="30000" marB="30000">
                    <a:solidFill>
                      <a:srgbClr val="EEF2F8"/>
                    </a:solidFill>
                  </a:tcPr>
                </a:tc>
                <a:tc>
                  <a:txBody>
                    <a:bodyPr/>
                    <a:lstStyle/>
                    <a:p>
                      <a:r>
                        <a:rPr sz="1100" b="1">
                          <a:solidFill>
                            <a:srgbClr val="14213D"/>
                          </a:solidFill>
                          <a:latin typeface="Arial"/>
                        </a:rPr>
                        <a:t>Question it answers</a:t>
                      </a:r>
                    </a:p>
                  </a:txBody>
                  <a:tcPr marL="60000" marR="60000" marT="30000" marB="30000">
                    <a:solidFill>
                      <a:srgbClr val="EEF2F8"/>
                    </a:solidFill>
                  </a:tcPr>
                </a:tc>
                <a:tc>
                  <a:txBody>
                    <a:bodyPr/>
                    <a:lstStyle/>
                    <a:p>
                      <a:r>
                        <a:rPr sz="1100" b="1">
                          <a:solidFill>
                            <a:srgbClr val="14213D"/>
                          </a:solidFill>
                          <a:latin typeface="Arial"/>
                        </a:rPr>
                        <a:t>Task orders</a:t>
                      </a:r>
                    </a:p>
                  </a:txBody>
                  <a:tcPr marL="60000" marR="60000" marT="30000" marB="30000">
                    <a:solidFill>
                      <a:srgbClr val="EEF2F8"/>
                    </a:solidFill>
                  </a:tcPr>
                </a:tc>
              </a:tr>
              <a:tr h="290000">
                <a:tc>
                  <a:txBody>
                    <a:bodyPr/>
                    <a:lstStyle/>
                    <a:p>
                      <a:r>
                        <a:rPr sz="1100" b="1">
                          <a:solidFill>
                            <a:srgbClr val="14213D"/>
                          </a:solidFill>
                          <a:latin typeface="Arial"/>
                        </a:rPr>
                        <a:t>No Memory</a:t>
                      </a:r>
                    </a:p>
                  </a:txBody>
                  <a:tcPr marL="60000" marR="60000" marT="30000" marB="30000">
                    <a:solidFill>
                      <a:srgbClr val="FFFFFF"/>
                    </a:solidFill>
                  </a:tcPr>
                </a:tc>
                <a:tc>
                  <a:txBody>
                    <a:bodyPr/>
                    <a:lstStyle/>
                    <a:p>
                      <a:r>
                        <a:rPr sz="1100" b="0">
                          <a:solidFill>
                            <a:srgbClr val="14213D"/>
                          </a:solidFill>
                          <a:latin typeface="Arial"/>
                        </a:rPr>
                        <a:t>Baseline: does it match the paper (28.4%)?</a:t>
                      </a:r>
                    </a:p>
                  </a:txBody>
                  <a:tcPr marL="60000" marR="60000" marT="30000" marB="30000">
                    <a:solidFill>
                      <a:srgbClr val="FFFFFF"/>
                    </a:solidFill>
                  </a:tcPr>
                </a:tc>
                <a:tc>
                  <a:txBody>
                    <a:bodyPr/>
                    <a:lstStyle/>
                    <a:p>
                      <a:r>
                        <a:rPr sz="1100" b="0">
                          <a:solidFill>
                            <a:srgbClr val="14213D"/>
                          </a:solidFill>
                          <a:latin typeface="Arial"/>
                        </a:rPr>
                        <a:t>Original, grouped, random</a:t>
                      </a:r>
                    </a:p>
                  </a:txBody>
                  <a:tcPr marL="60000" marR="60000" marT="30000" marB="30000">
                    <a:solidFill>
                      <a:srgbClr val="FFFFFF"/>
                    </a:solidFill>
                  </a:tcPr>
                </a:tc>
              </a:tr>
              <a:tr h="290000">
                <a:tc>
                  <a:txBody>
                    <a:bodyPr/>
                    <a:lstStyle/>
                    <a:p>
                      <a:r>
                        <a:rPr sz="1100" b="1">
                          <a:solidFill>
                            <a:srgbClr val="14213D"/>
                          </a:solidFill>
                          <a:latin typeface="Arial"/>
                        </a:rPr>
                        <a:t>Text memory</a:t>
                      </a:r>
                    </a:p>
                  </a:txBody>
                  <a:tcPr marL="60000" marR="60000" marT="30000" marB="30000">
                    <a:solidFill>
                      <a:srgbClr val="FFFFFF"/>
                    </a:solidFill>
                  </a:tcPr>
                </a:tc>
                <a:tc>
                  <a:txBody>
                    <a:bodyPr/>
                    <a:lstStyle/>
                    <a:p>
                      <a:r>
                        <a:rPr sz="1100" b="0">
                          <a:solidFill>
                            <a:srgbClr val="14213D"/>
                          </a:solidFill>
                          <a:latin typeface="Arial"/>
                        </a:rPr>
                        <a:t>Do written lessons help?</a:t>
                      </a:r>
                    </a:p>
                  </a:txBody>
                  <a:tcPr marL="60000" marR="60000" marT="30000" marB="30000">
                    <a:solidFill>
                      <a:srgbClr val="FFFFFF"/>
                    </a:solidFill>
                  </a:tcPr>
                </a:tc>
                <a:tc>
                  <a:txBody>
                    <a:bodyPr/>
                    <a:lstStyle/>
                    <a:p>
                      <a:r>
                        <a:rPr sz="1100" b="0">
                          <a:solidFill>
                            <a:srgbClr val="14213D"/>
                          </a:solidFill>
                          <a:latin typeface="Arial"/>
                        </a:rPr>
                        <a:t>Original</a:t>
                      </a:r>
                    </a:p>
                  </a:txBody>
                  <a:tcPr marL="60000" marR="60000" marT="30000" marB="30000">
                    <a:solidFill>
                      <a:srgbClr val="FFFFFF"/>
                    </a:solidFill>
                  </a:tcPr>
                </a:tc>
              </a:tr>
              <a:tr h="290000">
                <a:tc>
                  <a:txBody>
                    <a:bodyPr/>
                    <a:lstStyle/>
                    <a:p>
                      <a:r>
                        <a:rPr sz="1100" b="1">
                          <a:solidFill>
                            <a:srgbClr val="14213D"/>
                          </a:solidFill>
                          <a:latin typeface="Arial"/>
                        </a:rPr>
                        <a:t>Checklist only</a:t>
                      </a:r>
                    </a:p>
                  </a:txBody>
                  <a:tcPr marL="60000" marR="60000" marT="30000" marB="30000">
                    <a:solidFill>
                      <a:srgbClr val="FFFFFF"/>
                    </a:solidFill>
                  </a:tcPr>
                </a:tc>
                <a:tc>
                  <a:txBody>
                    <a:bodyPr/>
                    <a:lstStyle/>
                    <a:p>
                      <a:r>
                        <a:rPr sz="1100" b="0">
                          <a:solidFill>
                            <a:srgbClr val="14213D"/>
                          </a:solidFill>
                          <a:latin typeface="Arial"/>
                        </a:rPr>
                        <a:t>Does splitting the request into a list help?</a:t>
                      </a:r>
                    </a:p>
                  </a:txBody>
                  <a:tcPr marL="60000" marR="60000" marT="30000" marB="30000">
                    <a:solidFill>
                      <a:srgbClr val="FFFFFF"/>
                    </a:solidFill>
                  </a:tcPr>
                </a:tc>
                <a:tc>
                  <a:txBody>
                    <a:bodyPr/>
                    <a:lstStyle/>
                    <a:p>
                      <a:r>
                        <a:rPr sz="1100" b="0">
                          <a:solidFill>
                            <a:srgbClr val="14213D"/>
                          </a:solidFill>
                          <a:latin typeface="Arial"/>
                        </a:rPr>
                        <a:t>Original</a:t>
                      </a:r>
                    </a:p>
                  </a:txBody>
                  <a:tcPr marL="60000" marR="60000" marT="30000" marB="30000">
                    <a:solidFill>
                      <a:srgbClr val="FFFFFF"/>
                    </a:solidFill>
                  </a:tcPr>
                </a:tc>
              </a:tr>
              <a:tr h="290000">
                <a:tc>
                  <a:txBody>
                    <a:bodyPr/>
                    <a:lstStyle/>
                    <a:p>
                      <a:r>
                        <a:rPr sz="1100" b="1">
                          <a:solidFill>
                            <a:srgbClr val="14213D"/>
                          </a:solidFill>
                          <a:latin typeface="Arial"/>
                        </a:rPr>
                        <a:t>Code memory (whole-file)</a:t>
                      </a:r>
                    </a:p>
                  </a:txBody>
                  <a:tcPr marL="60000" marR="60000" marT="30000" marB="30000">
                    <a:solidFill>
                      <a:srgbClr val="FFFFFF"/>
                    </a:solidFill>
                  </a:tcPr>
                </a:tc>
                <a:tc>
                  <a:txBody>
                    <a:bodyPr/>
                    <a:lstStyle/>
                    <a:p>
                      <a:r>
                        <a:rPr sz="1100" b="0">
                          <a:solidFill>
                            <a:srgbClr val="14213D"/>
                          </a:solidFill>
                          <a:latin typeface="Arial"/>
                        </a:rPr>
                        <a:t>Do code examples help?</a:t>
                      </a:r>
                    </a:p>
                  </a:txBody>
                  <a:tcPr marL="60000" marR="60000" marT="30000" marB="30000">
                    <a:solidFill>
                      <a:srgbClr val="FFFFFF"/>
                    </a:solidFill>
                  </a:tcPr>
                </a:tc>
                <a:tc>
                  <a:txBody>
                    <a:bodyPr/>
                    <a:lstStyle/>
                    <a:p>
                      <a:r>
                        <a:rPr sz="1100" b="0">
                          <a:solidFill>
                            <a:srgbClr val="14213D"/>
                          </a:solidFill>
                          <a:latin typeface="Arial"/>
                        </a:rPr>
                        <a:t>Original, grouped, random</a:t>
                      </a:r>
                    </a:p>
                  </a:txBody>
                  <a:tcPr marL="60000" marR="60000" marT="30000" marB="30000">
                    <a:solidFill>
                      <a:srgbClr val="FFFFFF"/>
                    </a:solidFill>
                  </a:tcPr>
                </a:tc>
              </a:tr>
              <a:tr h="290000">
                <a:tc>
                  <a:txBody>
                    <a:bodyPr/>
                    <a:lstStyle/>
                    <a:p>
                      <a:r>
                        <a:rPr sz="1100" b="1">
                          <a:solidFill>
                            <a:srgbClr val="14213D"/>
                          </a:solidFill>
                          <a:latin typeface="Arial"/>
                        </a:rPr>
                        <a:t>Code memory (fragments), final</a:t>
                      </a:r>
                    </a:p>
                  </a:txBody>
                  <a:tcPr marL="60000" marR="60000" marT="30000" marB="30000">
                    <a:solidFill>
                      <a:srgbClr val="FFFFFF"/>
                    </a:solidFill>
                  </a:tcPr>
                </a:tc>
                <a:tc>
                  <a:txBody>
                    <a:bodyPr/>
                    <a:lstStyle/>
                    <a:p>
                      <a:r>
                        <a:rPr sz="1100" b="0">
                          <a:solidFill>
                            <a:srgbClr val="14213D"/>
                          </a:solidFill>
                          <a:latin typeface="Arial"/>
                        </a:rPr>
                        <a:t>Does the final method hold in other orders?</a:t>
                      </a:r>
                    </a:p>
                  </a:txBody>
                  <a:tcPr marL="60000" marR="60000" marT="30000" marB="30000">
                    <a:solidFill>
                      <a:srgbClr val="FFFFFF"/>
                    </a:solidFill>
                  </a:tcPr>
                </a:tc>
                <a:tc>
                  <a:txBody>
                    <a:bodyPr/>
                    <a:lstStyle/>
                    <a:p>
                      <a:r>
                        <a:rPr sz="1100" b="0">
                          <a:solidFill>
                            <a:srgbClr val="14213D"/>
                          </a:solidFill>
                          <a:latin typeface="Arial"/>
                        </a:rPr>
                        <a:t>Grouped, random (original: running)</a:t>
                      </a:r>
                    </a:p>
                  </a:txBody>
                  <a:tcPr marL="60000" marR="60000" marT="30000" marB="30000">
                    <a:solidFill>
                      <a:srgbClr val="FFFFFF"/>
                    </a:solidFill>
                  </a:tcPr>
                </a:tc>
              </a:tr>
              <a:tr h="290000">
                <a:tc>
                  <a:txBody>
                    <a:bodyPr/>
                    <a:lstStyle/>
                    <a:p>
                      <a:r>
                        <a:rPr sz="1100" b="1">
                          <a:solidFill>
                            <a:srgbClr val="14213D"/>
                          </a:solidFill>
                          <a:latin typeface="Arial"/>
                        </a:rPr>
                        <a:t>Fixed code prefix</a:t>
                      </a:r>
                    </a:p>
                  </a:txBody>
                  <a:tcPr marL="60000" marR="60000" marT="30000" marB="30000">
                    <a:solidFill>
                      <a:srgbClr val="FFFFFF"/>
                    </a:solidFill>
                  </a:tcPr>
                </a:tc>
                <a:tc>
                  <a:txBody>
                    <a:bodyPr/>
                    <a:lstStyle/>
                    <a:p>
                      <a:r>
                        <a:rPr sz="1100" b="0">
                          <a:solidFill>
                            <a:srgbClr val="14213D"/>
                          </a:solidFill>
                          <a:latin typeface="Arial"/>
                        </a:rPr>
                        <a:t>Is it learning, or just code in the prompt?</a:t>
                      </a:r>
                    </a:p>
                  </a:txBody>
                  <a:tcPr marL="60000" marR="60000" marT="30000" marB="30000">
                    <a:solidFill>
                      <a:srgbClr val="FFFFFF"/>
                    </a:solidFill>
                  </a:tcPr>
                </a:tc>
                <a:tc>
                  <a:txBody>
                    <a:bodyPr/>
                    <a:lstStyle/>
                    <a:p>
                      <a:r>
                        <a:rPr sz="1100" b="0">
                          <a:solidFill>
                            <a:srgbClr val="14213D"/>
                          </a:solidFill>
                          <a:latin typeface="Arial"/>
                        </a:rPr>
                        <a:t>Original (running)</a:t>
                      </a:r>
                    </a:p>
                  </a:txBody>
                  <a:tcPr marL="60000" marR="60000" marT="30000" marB="30000">
                    <a:solidFill>
                      <a:srgbClr val="FFFFFF"/>
                    </a:solidFill>
                  </a:tcPr>
                </a:tc>
              </a:tr>
            </a:tbl>
          </a:graphicData>
        </a:graphic>
      </p:graphicFrame>
      <p:graphicFrame>
        <p:nvGraphicFramePr>
          <p:cNvPr id="21" name="Orders"/>
          <p:cNvGraphicFramePr>
            <a:graphicFrameLocks noGrp="1"/>
          </p:cNvGraphicFramePr>
          <p:nvPr/>
        </p:nvGraphicFramePr>
        <p:xfrm>
          <a:off x="812800" y="4000000"/>
          <a:ext cx="10900000" cy="1450000"/>
        </p:xfrm>
        <a:graphic>
          <a:graphicData uri="http://schemas.openxmlformats.org/drawingml/2006/table">
            <a:tbl>
              <a:tblPr/>
              <a:tblGrid>
                <a:gridCol w="2900000"/>
                <a:gridCol w="8000000"/>
              </a:tblGrid>
              <a:tr h="290000">
                <a:tc>
                  <a:txBody>
                    <a:bodyPr/>
                    <a:lstStyle/>
                    <a:p>
                      <a:r>
                        <a:rPr sz="1100" b="1">
                          <a:solidFill>
                            <a:srgbClr val="14213D"/>
                          </a:solidFill>
                          <a:latin typeface="Arial"/>
                        </a:rPr>
                        <a:t>Task order</a:t>
                      </a:r>
                    </a:p>
                  </a:txBody>
                  <a:tcPr marL="60000" marR="60000" marT="30000" marB="30000">
                    <a:solidFill>
                      <a:srgbClr val="EEF2F8"/>
                    </a:solidFill>
                  </a:tcPr>
                </a:tc>
                <a:tc>
                  <a:txBody>
                    <a:bodyPr/>
                    <a:lstStyle/>
                    <a:p>
                      <a:r>
                        <a:rPr sz="1100" b="1">
                          <a:solidFill>
                            <a:srgbClr val="14213D"/>
                          </a:solidFill>
                          <a:latin typeface="Arial"/>
                        </a:rPr>
                        <a:t>How the 101 tasks are arranged</a:t>
                      </a:r>
                    </a:p>
                  </a:txBody>
                  <a:tcPr marL="60000" marR="60000" marT="30000" marB="30000">
                    <a:solidFill>
                      <a:srgbClr val="EEF2F8"/>
                    </a:solidFill>
                  </a:tcPr>
                </a:tc>
              </a:tr>
              <a:tr h="290000">
                <a:tc>
                  <a:txBody>
                    <a:bodyPr/>
                    <a:lstStyle/>
                    <a:p>
                      <a:r>
                        <a:rPr sz="1100" b="1">
                          <a:solidFill>
                            <a:srgbClr val="14213D"/>
                          </a:solidFill>
                          <a:latin typeface="Arial"/>
                        </a:rPr>
                        <a:t>Original</a:t>
                      </a:r>
                    </a:p>
                  </a:txBody>
                  <a:tcPr marL="60000" marR="60000" marT="30000" marB="30000">
                    <a:solidFill>
                      <a:srgbClr val="FFFFFF"/>
                    </a:solidFill>
                  </a:tcPr>
                </a:tc>
                <a:tc>
                  <a:txBody>
                    <a:bodyPr/>
                    <a:lstStyle/>
                    <a:p>
                      <a:r>
                        <a:rPr sz="1100" b="0">
                          <a:solidFill>
                            <a:srgbClr val="14213D"/>
                          </a:solidFill>
                          <a:latin typeface="Arial"/>
                        </a:rPr>
                        <a:t>The benchmark list: tasks of the same domain (e.g. all e-commerce sites) come one after another</a:t>
                      </a:r>
                    </a:p>
                  </a:txBody>
                  <a:tcPr marL="60000" marR="60000" marT="30000" marB="30000">
                    <a:solidFill>
                      <a:srgbClr val="FFFFFF"/>
                    </a:solidFill>
                  </a:tcPr>
                </a:tc>
              </a:tr>
              <a:tr h="290000">
                <a:tc>
                  <a:txBody>
                    <a:bodyPr/>
                    <a:lstStyle/>
                    <a:p>
                      <a:r>
                        <a:rPr sz="1100" b="1">
                          <a:solidFill>
                            <a:srgbClr val="14213D"/>
                          </a:solidFill>
                          <a:latin typeface="Arial"/>
                        </a:rPr>
                        <a:t>Shuffled, domains grouped</a:t>
                      </a:r>
                    </a:p>
                  </a:txBody>
                  <a:tcPr marL="60000" marR="60000" marT="30000" marB="30000">
                    <a:solidFill>
                      <a:srgbClr val="FFFFFF"/>
                    </a:solidFill>
                  </a:tcPr>
                </a:tc>
                <a:tc>
                  <a:txBody>
                    <a:bodyPr/>
                    <a:lstStyle/>
                    <a:p>
                      <a:r>
                        <a:rPr sz="1100" b="0">
                          <a:solidFill>
                            <a:srgbClr val="14213D"/>
                          </a:solidFill>
                          <a:latin typeface="Arial"/>
                        </a:rPr>
                        <a:t>Domains in a random order, but each domain’s tasks still stay together</a:t>
                      </a:r>
                    </a:p>
                  </a:txBody>
                  <a:tcPr marL="60000" marR="60000" marT="30000" marB="30000">
                    <a:solidFill>
                      <a:srgbClr val="FFFFFF"/>
                    </a:solidFill>
                  </a:tcPr>
                </a:tc>
              </a:tr>
              <a:tr h="290000">
                <a:tc>
                  <a:txBody>
                    <a:bodyPr/>
                    <a:lstStyle/>
                    <a:p>
                      <a:r>
                        <a:rPr sz="1100" b="1">
                          <a:solidFill>
                            <a:srgbClr val="14213D"/>
                          </a:solidFill>
                          <a:latin typeface="Arial"/>
                        </a:rPr>
                        <a:t>Fully random</a:t>
                      </a:r>
                    </a:p>
                  </a:txBody>
                  <a:tcPr marL="60000" marR="60000" marT="30000" marB="30000">
                    <a:solidFill>
                      <a:srgbClr val="FFFFFF"/>
                    </a:solidFill>
                  </a:tcPr>
                </a:tc>
                <a:tc>
                  <a:txBody>
                    <a:bodyPr/>
                    <a:lstStyle/>
                    <a:p>
                      <a:r>
                        <a:rPr sz="1100" b="0">
                          <a:solidFill>
                            <a:srgbClr val="14213D"/>
                          </a:solidFill>
                          <a:latin typeface="Arial"/>
                        </a:rPr>
                        <a:t>All 101 tasks shuffled, so domains are mixed</a:t>
                      </a:r>
                    </a:p>
                  </a:txBody>
                  <a:tcPr marL="60000" marR="60000" marT="30000" marB="30000">
                    <a:solidFill>
                      <a:srgbClr val="FFFFFF"/>
                    </a:solidFill>
                  </a:tcPr>
                </a:tc>
              </a:tr>
              <a:tr h="290000">
                <a:tc>
                  <a:txBody>
                    <a:bodyPr/>
                    <a:lstStyle/>
                    <a:p>
                      <a:r>
                        <a:rPr sz="1100" b="1">
                          <a:solidFill>
                            <a:srgbClr val="14213D"/>
                          </a:solidFill>
                          <a:latin typeface="Arial"/>
                        </a:rPr>
                        <a:t>Alternating (running)</a:t>
                      </a:r>
                    </a:p>
                  </a:txBody>
                  <a:tcPr marL="60000" marR="60000" marT="30000" marB="30000">
                    <a:solidFill>
                      <a:srgbClr val="FFFFFF"/>
                    </a:solidFill>
                  </a:tcPr>
                </a:tc>
                <a:tc>
                  <a:txBody>
                    <a:bodyPr/>
                    <a:lstStyle/>
                    <a:p>
                      <a:r>
                        <a:rPr sz="1100" b="0">
                          <a:solidFill>
                            <a:srgbClr val="14213D"/>
                          </a:solidFill>
                          <a:latin typeface="Arial"/>
                        </a:rPr>
                        <a:t>Every next task comes from a different domain</a:t>
                      </a:r>
                    </a:p>
                  </a:txBody>
                  <a:tcPr marL="60000" marR="60000" marT="30000" marB="30000">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What the tester sees · task 000006, a solar dashboard</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missing package turns the whole site into an error page</a:t>
            </a:r>
            <a:endParaRPr lang="en-US" sz="3000" dirty="0"/>
          </a:p>
        </p:txBody>
      </p:sp>
      <p:pic>
        <p:nvPicPr>
          <p:cNvPr id="4" name="Picture 3" descr="006_nomem.png"/>
          <p:cNvPicPr>
            <a:picLocks noChangeAspect="1"/>
          </p:cNvPicPr>
          <p:nvPr/>
        </p:nvPicPr>
        <p:blipFill>
          <a:blip r:embed="rId3"/>
          <a:stretch>
            <a:fillRect/>
          </a:stretch>
        </p:blipFill>
        <p:spPr>
          <a:xfrm>
            <a:off x="609600" y="1827640"/>
            <a:ext cx="5242560" cy="3199805"/>
          </a:xfrm>
          <a:prstGeom prst="rect">
            <a:avLst/>
          </a:prstGeom>
        </p:spPr>
      </p:pic>
      <p:pic>
        <p:nvPicPr>
          <p:cNvPr id="5" name="Picture 4" descr="006_longmem_v9_1.png"/>
          <p:cNvPicPr>
            <a:picLocks noChangeAspect="1"/>
          </p:cNvPicPr>
          <p:nvPr/>
        </p:nvPicPr>
        <p:blipFill>
          <a:blip r:embed="rId4"/>
          <a:stretch>
            <a:fillRect/>
          </a:stretch>
        </p:blipFill>
        <p:spPr>
          <a:xfrm>
            <a:off x="6339840" y="1827640"/>
            <a:ext cx="5242560" cy="3199805"/>
          </a:xfrm>
          <a:prstGeom prst="rect">
            <a:avLst/>
          </a:prstGeom>
        </p:spPr>
      </p:pic>
      <p:sp>
        <p:nvSpPr>
          <p:cNvPr id="6" name="TextBox 5"/>
          <p:cNvSpPr txBox="1"/>
          <p:nvPr/>
        </p:nvSpPr>
        <p:spPr>
          <a:xfrm>
            <a:off x="609600" y="5087445"/>
            <a:ext cx="5242560" cy="400000"/>
          </a:xfrm>
          <a:prstGeom prst="rect">
            <a:avLst/>
          </a:prstGeom>
          <a:noFill/>
        </p:spPr>
        <p:txBody>
          <a:bodyPr wrap="square">
            <a:spAutoFit/>
          </a:bodyPr>
          <a:lstStyle/>
          <a:p>
            <a:r>
              <a:rPr sz="1200"/>
              <a:t>No Memory: imports vue-chartjs, which is not installed → score 0</a:t>
            </a:r>
          </a:p>
        </p:txBody>
      </p:sp>
      <p:sp>
        <p:nvSpPr>
          <p:cNvPr id="7" name="TextBox 6"/>
          <p:cNvSpPr txBox="1"/>
          <p:nvPr/>
        </p:nvSpPr>
        <p:spPr>
          <a:xfrm>
            <a:off x="6339840" y="5087445"/>
            <a:ext cx="5242560" cy="400000"/>
          </a:xfrm>
          <a:prstGeom prst="rect">
            <a:avLst/>
          </a:prstGeom>
          <a:noFill/>
        </p:spPr>
        <p:txBody>
          <a:bodyPr wrap="square">
            <a:spAutoFit/>
          </a:bodyPr>
          <a:lstStyle/>
          <a:p>
            <a:r>
              <a:rPr sz="1200"/>
              <a:t>Code memory (fragments): three working views → score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 code memory</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Three memory designs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memory → code memory (whole-file) → code memory (fragments)</a:t>
            </a:r>
            <a:endParaRPr lang="en-US" sz="3000" dirty="0"/>
          </a:p>
        </p:txBody>
      </p:sp>
      <p:graphicFrame>
        <p:nvGraphicFramePr>
          <p:cNvPr id="4" name="Table 3"/>
          <p:cNvGraphicFramePr>
            <a:graphicFrameLocks noGrp="1"/>
          </p:cNvGraphicFramePr>
          <p:nvPr>
            <p:extLst>
              <p:ext uri="{D42A27DB-BD31-4B8C-83A1-F6EECF244321}">
                <p14:modId xmlns:p14="http://schemas.microsoft.com/office/powerpoint/2010/main" val="2365470570"/>
              </p:ext>
            </p:extLst>
          </p:nvPr>
        </p:nvGraphicFramePr>
        <p:xfrm>
          <a:off x="689113" y="2332383"/>
          <a:ext cx="10690088" cy="2514671"/>
        </p:xfrm>
        <a:graphic>
          <a:graphicData uri="http://schemas.openxmlformats.org/drawingml/2006/table">
            <a:tbl>
              <a:tblPr/>
              <a:tblGrid>
                <a:gridCol w="2138018">
                  <a:extLst>
                    <a:ext uri="{9D8B030D-6E8A-4147-A177-3AD203B41FA5}">
                      <a16:colId xmlns:a16="http://schemas.microsoft.com/office/drawing/2014/main" val="20000"/>
                    </a:ext>
                  </a:extLst>
                </a:gridCol>
                <a:gridCol w="2886324">
                  <a:extLst>
                    <a:ext uri="{9D8B030D-6E8A-4147-A177-3AD203B41FA5}">
                      <a16:colId xmlns:a16="http://schemas.microsoft.com/office/drawing/2014/main" val="20001"/>
                    </a:ext>
                  </a:extLst>
                </a:gridCol>
                <a:gridCol w="3313927">
                  <a:extLst>
                    <a:ext uri="{9D8B030D-6E8A-4147-A177-3AD203B41FA5}">
                      <a16:colId xmlns:a16="http://schemas.microsoft.com/office/drawing/2014/main" val="20002"/>
                    </a:ext>
                  </a:extLst>
                </a:gridCol>
                <a:gridCol w="2351819">
                  <a:extLst>
                    <a:ext uri="{9D8B030D-6E8A-4147-A177-3AD203B41FA5}">
                      <a16:colId xmlns:a16="http://schemas.microsoft.com/office/drawing/2014/main" val="20003"/>
                    </a:ext>
                  </a:extLst>
                </a:gridCol>
              </a:tblGrid>
              <a:tr h="442738">
                <a:tc>
                  <a:txBody>
                    <a:bodyPr/>
                    <a:lstStyle/>
                    <a:p>
                      <a:r>
                        <a:rPr sz="1200" b="1">
                          <a:solidFill>
                            <a:srgbClr val="14213D"/>
                          </a:solidFill>
                          <a:latin typeface="Arial"/>
                        </a:rPr>
                        <a:t>Design</a:t>
                      </a:r>
                    </a:p>
                  </a:txBody>
                  <a:tcPr marL="60000" marR="60000" marT="40000" marB="40000">
                    <a:solidFill>
                      <a:srgbClr val="EEF2F8"/>
                    </a:solidFill>
                  </a:tcPr>
                </a:tc>
                <a:tc>
                  <a:txBody>
                    <a:bodyPr/>
                    <a:lstStyle/>
                    <a:p>
                      <a:r>
                        <a:rPr sz="1200" b="1">
                          <a:solidFill>
                            <a:srgbClr val="14213D"/>
                          </a:solidFill>
                          <a:latin typeface="Arial"/>
                        </a:rPr>
                        <a:t>What memory gives the model</a:t>
                      </a:r>
                    </a:p>
                  </a:txBody>
                  <a:tcPr marL="60000" marR="60000" marT="40000" marB="40000">
                    <a:solidFill>
                      <a:srgbClr val="EEF2F8"/>
                    </a:solidFill>
                  </a:tcPr>
                </a:tc>
                <a:tc>
                  <a:txBody>
                    <a:bodyPr/>
                    <a:lstStyle/>
                    <a:p>
                      <a:r>
                        <a:rPr sz="1200" b="1">
                          <a:solidFill>
                            <a:srgbClr val="14213D"/>
                          </a:solidFill>
                          <a:latin typeface="Arial"/>
                        </a:rPr>
                        <a:t>Why we moved on</a:t>
                      </a:r>
                    </a:p>
                  </a:txBody>
                  <a:tcPr marL="60000" marR="60000" marT="40000" marB="40000">
                    <a:solidFill>
                      <a:srgbClr val="EEF2F8"/>
                    </a:solidFill>
                  </a:tcPr>
                </a:tc>
                <a:tc>
                  <a:txBody>
                    <a:bodyPr/>
                    <a:lstStyle/>
                    <a:p>
                      <a:r>
                        <a:rPr sz="1200" b="1">
                          <a:solidFill>
                            <a:srgbClr val="14213D"/>
                          </a:solidFill>
                          <a:latin typeface="Arial"/>
                        </a:rPr>
                        <a:t>Result (101 tasks)</a:t>
                      </a:r>
                    </a:p>
                  </a:txBody>
                  <a:tcPr marL="60000" marR="60000" marT="40000" marB="40000">
                    <a:solidFill>
                      <a:srgbClr val="EEF2F8"/>
                    </a:solidFill>
                  </a:tcPr>
                </a:tc>
                <a:extLst>
                  <a:ext uri="{0D108BD9-81ED-4DB2-BD59-A6C34878D82A}">
                    <a16:rowId xmlns:a16="http://schemas.microsoft.com/office/drawing/2014/main" val="10000"/>
                  </a:ext>
                </a:extLst>
              </a:tr>
              <a:tr h="543065">
                <a:tc>
                  <a:txBody>
                    <a:bodyPr/>
                    <a:lstStyle/>
                    <a:p>
                      <a:r>
                        <a:rPr sz="1200" b="0">
                          <a:solidFill>
                            <a:srgbClr val="14213D"/>
                          </a:solidFill>
                          <a:latin typeface="Arial"/>
                        </a:rPr>
                        <a:t>Text memory</a:t>
                      </a:r>
                    </a:p>
                  </a:txBody>
                  <a:tcPr marL="60000" marR="60000" marT="40000" marB="40000">
                    <a:solidFill>
                      <a:srgbClr val="FFFFFF"/>
                    </a:solidFill>
                  </a:tcPr>
                </a:tc>
                <a:tc>
                  <a:txBody>
                    <a:bodyPr/>
                    <a:lstStyle/>
                    <a:p>
                      <a:r>
                        <a:rPr sz="1200" b="0">
                          <a:solidFill>
                            <a:srgbClr val="14213D"/>
                          </a:solidFill>
                          <a:latin typeface="Arial"/>
                        </a:rPr>
                        <a:t>Checklist + text lessons</a:t>
                      </a:r>
                    </a:p>
                  </a:txBody>
                  <a:tcPr marL="60000" marR="60000" marT="40000" marB="40000">
                    <a:solidFill>
                      <a:srgbClr val="FFFFFF"/>
                    </a:solidFill>
                  </a:tcPr>
                </a:tc>
                <a:tc>
                  <a:txBody>
                    <a:bodyPr/>
                    <a:lstStyle/>
                    <a:p>
                      <a:r>
                        <a:rPr sz="1200" b="0">
                          <a:solidFill>
                            <a:srgbClr val="14213D"/>
                          </a:solidFill>
                          <a:latin typeface="Arial"/>
                        </a:rPr>
                        <a:t>Vague text piles up; the 7B model ignores it</a:t>
                      </a:r>
                    </a:p>
                  </a:txBody>
                  <a:tcPr marL="60000" marR="60000" marT="40000" marB="40000">
                    <a:solidFill>
                      <a:srgbClr val="FFFFFF"/>
                    </a:solidFill>
                  </a:tcPr>
                </a:tc>
                <a:tc>
                  <a:txBody>
                    <a:bodyPr/>
                    <a:lstStyle/>
                    <a:p>
                      <a:r>
                        <a:rPr sz="1200" b="0">
                          <a:solidFill>
                            <a:srgbClr val="14213D"/>
                          </a:solidFill>
                          <a:latin typeface="Arial"/>
                        </a:rPr>
                        <a:t>30.9%; below NM after task 30</a:t>
                      </a:r>
                    </a:p>
                  </a:txBody>
                  <a:tcPr marL="60000" marR="60000" marT="40000" marB="40000">
                    <a:solidFill>
                      <a:srgbClr val="FFFFFF"/>
                    </a:solidFill>
                  </a:tcPr>
                </a:tc>
                <a:extLst>
                  <a:ext uri="{0D108BD9-81ED-4DB2-BD59-A6C34878D82A}">
                    <a16:rowId xmlns:a16="http://schemas.microsoft.com/office/drawing/2014/main" val="10001"/>
                  </a:ext>
                </a:extLst>
              </a:tr>
              <a:tr h="543065">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Checklist + code copied from our earlier working sites; some examples are a whole file (full App.vue)</a:t>
                      </a:r>
                    </a:p>
                  </a:txBody>
                  <a:tcPr marL="60000" marR="60000" marT="40000" marB="40000">
                    <a:solidFill>
                      <a:srgbClr val="FFFFFF"/>
                    </a:solidFill>
                  </a:tcPr>
                </a:tc>
                <a:tc>
                  <a:txBody>
                    <a:bodyPr/>
                    <a:lstStyle/>
                    <a:p>
                      <a:r>
                        <a:rPr sz="1200" b="0">
                          <a:solidFill>
                            <a:srgbClr val="14213D"/>
                          </a:solidFill>
                          <a:latin typeface="Arial"/>
                        </a:rPr>
                        <a:t>Whole-file examples caused blank sites in new orders</a:t>
                      </a:r>
                    </a:p>
                  </a:txBody>
                  <a:tcPr marL="60000" marR="60000" marT="40000" marB="40000">
                    <a:solidFill>
                      <a:srgbClr val="FFFFFF"/>
                    </a:solidFill>
                  </a:tcPr>
                </a:tc>
                <a:tc>
                  <a:txBody>
                    <a:bodyPr/>
                    <a:lstStyle/>
                    <a:p>
                      <a:r>
                        <a:rPr sz="1200" b="0">
                          <a:solidFill>
                            <a:srgbClr val="14213D"/>
                          </a:solidFill>
                          <a:latin typeface="Arial"/>
                        </a:rPr>
                        <a:t>40.0%, +11.5</a:t>
                      </a:r>
                    </a:p>
                  </a:txBody>
                  <a:tcPr marL="60000" marR="60000" marT="40000" marB="40000">
                    <a:solidFill>
                      <a:srgbClr val="FFFFFF"/>
                    </a:solidFill>
                  </a:tcPr>
                </a:tc>
                <a:extLst>
                  <a:ext uri="{0D108BD9-81ED-4DB2-BD59-A6C34878D82A}">
                    <a16:rowId xmlns:a16="http://schemas.microsoft.com/office/drawing/2014/main" val="10002"/>
                  </a:ext>
                </a:extLst>
              </a:tr>
              <a:tr h="543065">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Same, but each example is only the few key lines (at most 15), never a whole file</a:t>
                      </a:r>
                    </a:p>
                  </a:txBody>
                  <a:tcPr marL="60000" marR="60000" marT="40000" marB="40000">
                    <a:solidFill>
                      <a:srgbClr val="FFFFFF"/>
                    </a:solidFill>
                  </a:tcPr>
                </a:tc>
                <a:tc>
                  <a:txBody>
                    <a:bodyPr/>
                    <a:lstStyle/>
                    <a:p>
                      <a:r>
                        <a:rPr sz="1200" b="0">
                          <a:solidFill>
                            <a:srgbClr val="14213D"/>
                          </a:solidFill>
                          <a:latin typeface="Arial"/>
                        </a:rPr>
                        <a:t>—</a:t>
                      </a:r>
                    </a:p>
                  </a:txBody>
                  <a:tcPr marL="60000" marR="60000" marT="40000" marB="40000">
                    <a:solidFill>
                      <a:srgbClr val="FFFFFF"/>
                    </a:solidFill>
                  </a:tcPr>
                </a:tc>
                <a:tc>
                  <a:txBody>
                    <a:bodyPr/>
                    <a:lstStyle/>
                    <a:p>
                      <a:r>
                        <a:rPr sz="1200" b="1">
                          <a:solidFill>
                            <a:srgbClr val="14213D"/>
                          </a:solidFill>
                          <a:latin typeface="Arial"/>
                        </a:rPr>
                        <a:t>Domains grouped: +7.4; fully random: +5.5</a:t>
                      </a:r>
                    </a:p>
                  </a:txBody>
                  <a:tcPr marL="60000" marR="60000" marT="40000" marB="40000">
                    <a:solidFill>
                      <a:srgbClr val="FFFFFF"/>
                    </a:solidFill>
                  </a:tcPr>
                </a:tc>
                <a:extLst>
                  <a:ext uri="{0D108BD9-81ED-4DB2-BD59-A6C34878D82A}">
                    <a16:rowId xmlns:a16="http://schemas.microsoft.com/office/drawing/2014/main" val="10003"/>
                  </a:ext>
                </a:extLst>
              </a:tr>
              <a:tr h="442738">
                <a:tc>
                  <a:txBody>
                    <a:bodyPr/>
                    <a:lstStyle/>
                    <a:p>
                      <a:r>
                        <a:rPr sz="1200" b="0">
                          <a:solidFill>
                            <a:srgbClr val="14213D"/>
                          </a:solidFill>
                          <a:latin typeface="Arial"/>
                        </a:rPr>
                        <a:t>Ablation: checklist only</a:t>
                      </a:r>
                    </a:p>
                  </a:txBody>
                  <a:tcPr marL="60000" marR="60000" marT="40000" marB="40000">
                    <a:solidFill>
                      <a:srgbClr val="FFFFFF"/>
                    </a:solidFill>
                  </a:tcPr>
                </a:tc>
                <a:tc>
                  <a:txBody>
                    <a:bodyPr/>
                    <a:lstStyle/>
                    <a:p>
                      <a:r>
                        <a:rPr sz="1200" b="0" dirty="0">
                          <a:solidFill>
                            <a:srgbClr val="14213D"/>
                          </a:solidFill>
                          <a:latin typeface="Arial"/>
                        </a:rPr>
                        <a:t>Checklist, memory turned off</a:t>
                      </a:r>
                    </a:p>
                  </a:txBody>
                  <a:tcPr marL="60000" marR="60000" marT="40000" marB="40000">
                    <a:solidFill>
                      <a:srgbClr val="FFFFFF"/>
                    </a:solidFill>
                  </a:tcPr>
                </a:tc>
                <a:tc>
                  <a:txBody>
                    <a:bodyPr/>
                    <a:lstStyle/>
                    <a:p>
                      <a:r>
                        <a:rPr sz="1200" b="0">
                          <a:solidFill>
                            <a:srgbClr val="14213D"/>
                          </a:solidFill>
                          <a:latin typeface="Arial"/>
                        </a:rPr>
                        <a:t>—</a:t>
                      </a:r>
                    </a:p>
                  </a:txBody>
                  <a:tcPr marL="60000" marR="60000" marT="40000" marB="40000">
                    <a:solidFill>
                      <a:srgbClr val="FFFFFF"/>
                    </a:solidFill>
                  </a:tcPr>
                </a:tc>
                <a:tc>
                  <a:txBody>
                    <a:bodyPr/>
                    <a:lstStyle/>
                    <a:p>
                      <a:r>
                        <a:rPr sz="1200" b="0" dirty="0">
                          <a:solidFill>
                            <a:srgbClr val="14213D"/>
                          </a:solidFill>
                          <a:latin typeface="Arial"/>
                        </a:rPr>
                        <a:t>31.8% (+3.4, CI includes 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Repository labels: v4, v7, v9.1.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40.0%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Code memory (whole-file)</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+11.5 points (95% CI 6.0 to 16.9). Wins 54, losses 24, ties 23.</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CI includes 0; mainly fewer blank sites.</a:t>
            </a:r>
          </a:p>
          <a:p>
            <a:pPr>
              <a:spcAft>
                <a:spcPts val="400"/>
              </a:spcAft>
            </a:pPr>
            <a:r>
              <a:rPr sz="1400" b="0">
                <a:solidFill>
                  <a:srgbClr val="14213D"/>
                </a:solidFill>
                <a:latin typeface="Arial"/>
              </a:rPr>
              <a:t>Memory on top of the checklist: +8.1 points (95% CI 2.9 to 13.2).</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two new orders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Whole-file examples caused blank sites; fragments fixed it</a:t>
            </a:r>
            <a:endParaRPr lang="en-US" sz="3000" dirty="0"/>
          </a:p>
        </p:txBody>
      </p:sp>
      <p:graphicFrame>
        <p:nvGraphicFramePr>
          <p:cNvPr id="4" name="Table 3"/>
          <p:cNvGraphicFramePr>
            <a:graphicFrameLocks noGrp="1"/>
          </p:cNvGraphicFramePr>
          <p:nvPr/>
        </p:nvGraphicFramePr>
        <p:xfrm>
          <a:off x="825500" y="1900000"/>
          <a:ext cx="10553699" cy="2113040"/>
        </p:xfrm>
        <a:graphic>
          <a:graphicData uri="http://schemas.openxmlformats.org/drawingml/2006/table">
            <a:tbl>
              <a:tblPr/>
              <a:tblGrid>
                <a:gridCol w="2388468"/>
                <a:gridCol w="2277377"/>
                <a:gridCol w="3610476"/>
                <a:gridCol w="2277378"/>
              </a:tblGrid>
              <a:tr h="330000">
                <a:tc>
                  <a:txBody>
                    <a:bodyPr/>
                    <a:lstStyle/>
                    <a:p>
                      <a:r>
                        <a:rPr sz="1200" b="1">
                          <a:solidFill>
                            <a:srgbClr val="14213D"/>
                          </a:solidFill>
                          <a:latin typeface="Arial"/>
                        </a:rPr>
                        <a:t>Task order</a:t>
                      </a:r>
                    </a:p>
                  </a:txBody>
                  <a:tcPr marL="60000" marR="60000" marT="40000" marB="40000">
                    <a:solidFill>
                      <a:srgbClr val="EEF2F8"/>
                    </a:solidFill>
                  </a:tcPr>
                </a:tc>
                <a:tc>
                  <a:txBody>
                    <a:bodyPr/>
                    <a:lstStyle/>
                    <a:p>
                      <a:r>
                        <a:rPr sz="1200" b="1">
                          <a:solidFill>
                            <a:srgbClr val="14213D"/>
                          </a:solidFill>
                          <a:latin typeface="Arial"/>
                        </a:rPr>
                        <a:t>Version</a:t>
                      </a:r>
                    </a:p>
                  </a:txBody>
                  <a:tcPr marL="60000" marR="60000" marT="40000" marB="40000">
                    <a:solidFill>
                      <a:srgbClr val="EEF2F8"/>
                    </a:solidFill>
                  </a:tcPr>
                </a:tc>
                <a:tc>
                  <a:txBody>
                    <a:bodyPr/>
                    <a:lstStyle/>
                    <a:p>
                      <a:r>
                        <a:rPr sz="1200" b="1">
                          <a:solidFill>
                            <a:srgbClr val="14213D"/>
                          </a:solidFill>
                          <a:latin typeface="Arial"/>
                        </a:rPr>
                        <a:t>Code example in memory</a:t>
                      </a:r>
                    </a:p>
                  </a:txBody>
                  <a:tcPr marL="60000" marR="60000" marT="40000" marB="40000">
                    <a:solidFill>
                      <a:srgbClr val="EEF2F8"/>
                    </a:solidFill>
                  </a:tcPr>
                </a:tc>
                <a:tc>
                  <a:txBody>
                    <a:bodyPr/>
                    <a:lstStyle/>
                    <a:p>
                      <a:r>
                        <a:rPr sz="1200" b="1">
                          <a:solidFill>
                            <a:srgbClr val="14213D"/>
                          </a:solidFill>
                          <a:latin typeface="Arial"/>
                        </a:rPr>
                        <a:t>Blank scaffolds</a:t>
                      </a:r>
                    </a:p>
                  </a:txBody>
                  <a:tcPr marL="60000" marR="60000" marT="40000" marB="40000">
                    <a:solidFill>
                      <a:srgbClr val="EEF2F8"/>
                    </a:solidFill>
                  </a:tcPr>
                </a:tc>
                <a:extLst>
                  <a:ext uri="{0D108BD9-81ED-4DB2-BD59-A6C34878D82A}">
                    <a16:rowId xmlns:a16="http://schemas.microsoft.com/office/drawing/2014/main" val="10000"/>
                  </a:ext>
                </a:extLst>
              </a:tr>
              <a:tr h="330000">
                <a:tc>
                  <a:txBody>
                    <a:bodyPr/>
                    <a:lstStyle/>
                    <a:p>
                      <a:r>
                        <a:rPr sz="1200" b="0">
                          <a:solidFill>
                            <a:srgbClr val="14213D"/>
                          </a:solidFill>
                          <a:latin typeface="Arial"/>
                        </a:rPr>
                        <a:t>Shuffled, domains grouped</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19</a:t>
                      </a:r>
                    </a:p>
                  </a:txBody>
                  <a:tcPr marL="60000" marR="60000" marT="40000" marB="40000">
                    <a:solidFill>
                      <a:srgbClr val="FFFFFF"/>
                    </a:solidFill>
                  </a:tcPr>
                </a:tc>
                <a:extLst>
                  <a:ext uri="{0D108BD9-81ED-4DB2-BD59-A6C34878D82A}">
                    <a16:rowId xmlns:a16="http://schemas.microsoft.com/office/drawing/2014/main" val="10001"/>
                  </a:ext>
                </a:extLst>
              </a:tr>
              <a:tr h="330000">
                <a:tc>
                  <a:txBody>
                    <a:bodyPr/>
                    <a:lstStyle/>
                    <a:p>
                      <a:r>
                        <a:rPr sz="1200" b="0">
                          <a:solidFill>
                            <a:srgbClr val="14213D"/>
                          </a:solidFill>
                          <a:latin typeface="Arial"/>
                        </a:rPr>
                        <a:t>Shuffled, domains grouped</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2"/>
                  </a:ext>
                </a:extLst>
              </a:tr>
              <a:tr h="330000">
                <a:tc>
                  <a:txBody>
                    <a:bodyPr/>
                    <a:lstStyle/>
                    <a:p>
                      <a:r>
                        <a:rPr sz="1200" b="0">
                          <a:solidFill>
                            <a:srgbClr val="14213D"/>
                          </a:solidFill>
                          <a:latin typeface="Arial"/>
                        </a:rPr>
                        <a:t>Fully random</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16</a:t>
                      </a:r>
                    </a:p>
                  </a:txBody>
                  <a:tcPr marL="60000" marR="60000" marT="40000" marB="40000">
                    <a:solidFill>
                      <a:srgbClr val="FFFFFF"/>
                    </a:solidFill>
                  </a:tcPr>
                </a:tc>
                <a:extLst>
                  <a:ext uri="{0D108BD9-81ED-4DB2-BD59-A6C34878D82A}">
                    <a16:rowId xmlns:a16="http://schemas.microsoft.com/office/drawing/2014/main" val="10003"/>
                  </a:ext>
                </a:extLst>
              </a:tr>
              <a:tr h="330000">
                <a:tc>
                  <a:txBody>
                    <a:bodyPr/>
                    <a:lstStyle/>
                    <a:p>
                      <a:r>
                        <a:rPr sz="1200" b="0">
                          <a:solidFill>
                            <a:srgbClr val="14213D"/>
                          </a:solidFill>
                          <a:latin typeface="Arial"/>
                        </a:rPr>
                        <a:t>Fully random</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pic>
        <p:nvPicPr>
          <p:cNvPr id="5" name="Picture 4" descr="gap_order_seed11_v91.png"/>
          <p:cNvPicPr>
            <a:picLocks noChangeAspect="1"/>
          </p:cNvPicPr>
          <p:nvPr/>
        </p:nvPicPr>
        <p:blipFill>
          <a:blip r:embed="rId3"/>
          <a:stretch>
            <a:fillRect/>
          </a:stretch>
        </p:blipFill>
        <p:spPr>
          <a:xfrm>
            <a:off x="692978" y="4150000"/>
            <a:ext cx="5900000" cy="2467000"/>
          </a:xfrm>
          <a:prstGeom prst="rect">
            <a:avLst/>
          </a:prstGeom>
        </p:spPr>
      </p:pic>
      <p:sp>
        <p:nvSpPr>
          <p:cNvPr id="6" name="TextBox 5"/>
          <p:cNvSpPr txBox="1"/>
          <p:nvPr/>
        </p:nvSpPr>
        <p:spPr>
          <a:xfrm>
            <a:off x="7000000" y="415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whole-file examples, the model copied a whole file as a finished answer and returned the empty starter project.</a:t>
            </a:r>
          </a:p>
          <a:p>
            <a:pPr>
              <a:spcAft>
                <a:spcPts val="400"/>
              </a:spcAft>
            </a:pPr>
            <a:r>
              <a:rPr sz="1200" b="0">
                <a:solidFill>
                  <a:srgbClr val="14213D"/>
                </a:solidFill>
                <a:latin typeface="Arial"/>
              </a:rPr>
              <a:t>With fragments: zero blank sites in both orders.</a:t>
            </a:r>
          </a:p>
          <a:p>
            <a:pPr>
              <a:spcAft>
                <a:spcPts val="400"/>
              </a:spcAft>
            </a:pPr>
            <a:r>
              <a:rPr sz="1200" b="0">
                <a:solidFill>
                  <a:srgbClr val="14213D"/>
                </a:solidFill>
                <a:latin typeface="Arial"/>
              </a:rPr>
              <a:t>Chart: fragments version minus No Memory, averaged over the last 10 tasks; above 0 = memory scores higher.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was tuned on the same 101 tasks (checked on 2 new orders)</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Fragments in the original order: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Two more orders and fixed code prefix: by 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40.0%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  ·  Code and data: github.com/qiaopan/WebGen-Bench</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3015</Words>
  <Application>Microsoft Macintosh PowerPoint</Application>
  <PresentationFormat>宽屏</PresentationFormat>
  <Paragraphs>251</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A small model trained for this tool, on two H200 GPUs</vt:lpstr>
      <vt:lpstr>11 full runs × 101 tasks: about 1,100 websites and 7,000 checks</vt:lpstr>
      <vt:lpstr>Text lessons helped early, then fell below the baseline</vt:lpstr>
      <vt:lpstr>One missing package turns the whole site into an error page</vt:lpstr>
      <vt:lpstr>The small model follows code, not text</vt:lpstr>
      <vt:lpstr>Two parts: a checklist and a code pool</vt:lpstr>
      <vt:lpstr>Text memory → code memory (whole-file) → code memory (fragments)</vt:lpstr>
      <vt:lpstr>Accuracy rises from 28.5% to 40.0%</vt:lpstr>
      <vt:lpstr>Only the code-pool version keeps its lead</vt:lpstr>
      <vt:lpstr>Memory, not the checklist, drives the gain</vt:lpstr>
      <vt:lpstr>A whole-file example caused blank sites; checked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7</cp:revision>
  <dcterms:created xsi:type="dcterms:W3CDTF">2026-10-13T06:48:37Z</dcterms:created>
  <dcterms:modified xsi:type="dcterms:W3CDTF">2026-10-15T13:14:12Z</dcterms:modified>
</cp:coreProperties>
</file>