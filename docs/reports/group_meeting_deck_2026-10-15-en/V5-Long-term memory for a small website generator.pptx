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9" r:id="rId20"/>
    <p:sldId id="260" r:id="rId6"/>
    <p:sldId id="261" r:id="rId7"/>
    <p:sldId id="262" r:id="rId8"/>
    <p:sldId id="263" r:id="rId9"/>
    <p:sldId id="264" r:id="rId10"/>
    <p:sldId id="265" r:id="rId11"/>
    <p:sldId id="270" r:id="rId2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564"/>
  </p:normalViewPr>
  <p:slideViewPr>
    <p:cSldViewPr snapToGrid="0" snapToObjects="1">
      <p:cViewPr varScale="1">
        <p:scale>
          <a:sx n="87" d="100"/>
          <a:sy n="87" d="100"/>
        </p:scale>
        <p:origin x="172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5.xml"/><Relationship Id="rId21"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3925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I am Qiaopan. My question is: can long-term memory help a small model build better websites? And should the memory be text lessons, or code examples?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task. A 7B model builds 101 websites, one after another. The benchmark is WebGen-Bench. A GUI agent clicks through each site and checks the features. With long-term memory, after each task, the system writes down what went wrong, and later tasks can reuse it. So the question is: does the model get better with experience?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 picture. The top row is the official baseline: the request goes to the Bolt agent with WebGen-LM-7B. Then the WebVoyager agent with Qwen 32B clicks and checks the features, and the same model grades a screenshot for appearance. Long Memory adds the blue loop. After each task, Qwen 72B saves short fixes in a memory bank. Before the next task, it adds a checklist and code examples. Everything else stays the same.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setup, step by step. One: the Bolt agent with WebGen-LM-7B builds the website. It gets one try and no repair, like the official rules. Two: the WebVoyager agent with Qwen 32B opens the website and tests each feature. Three: Qwen 32B also looks at one screenshot and gives an appearance score. The paper used GPT-4o here. Four: our memory module uses Qwen 72B and the bge-m3 embedding. For the score, each check can pass, partly pass, or fail. A partial pass counts as one half. Our No Memory baseline is 28.5 percent, and the paper reports 28.4 percent, so our setup matches the paper.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attempt used text lessons. This is version four. Let me read the table. The rows are the early tasks and the late tasks. On tasks 1 to 30, text lessons scored 39.3 percent, much higher than 26 percent without memory. But on tasks 61 to 101, it fell to 22.9 percent. This is even lower than no memory, which is 24.8 percent. So the memory got worse over time. The reason: vague advice, like make sure the form works, filled the prompt, and the small model could not act on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led to our key finding. Many sites showed a blank page. This happens when the site uses a package that is not installed, so nothing is shown. We tried two fixes. A text tip fixed only 1 in 3. But a 10-line code example fixed 7 out of 9. So the small model follows code, not text.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our method, v7, has two parts. First, a requirement checklist: the request is split into a list, and each lesson sits under its item. Second, a code pool: when a code error appears in two tasks, we take a short fix from our own earlier site. It is at most 15 lines, and checked by a compiler.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main result, on all 101 tasks. On the left, without memory, accuracy is 28.5 percent. On the right, with our memory, it is 40 percent. Zero-score tasks, where every check fails, drop from 30 to 13. At the bottom, we compare the two groups task by task. The average gain is 11.5 points. The 95 percent confidence interval is from 6 to 16.9. It does not include zero, so the gain is not by chance. Memory wins 54 tasks, loses 24, and ties 23.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learning curve. The x-axis is the task position, from 1 to 101. The y-axis is accuracy. The left chart shows the average of all tasks so far. The right chart shows the average of the last 10 tasks. There are four lines. Grey is No Memory. Green, dashed, is checklist only. Orange is v4, with text memory. Blue is v7, with the code pool. Look at the left chart. Orange starts high, but slowly falls, and ends at 31.9 percent. Blue stays at about 40 percent to the end, and ends at 40.8 percent. On the right, blue is above grey most of the time after task 30. So only the code pool keeps its lead.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ablation. We add one part at a time. The left chart shows accuracy. Grey is no memory, 28.5 percent. Green is checklist only, 31.8 percent. The gain is 3.4 points, but the interval includes zero, so it is not significant. Blue adds memory, 40 percent. This adds 8.1 more points, and it is significant. The right chart shows zero-score tasks: 30, then 18, then 13. So the checklist mainly stops total failures, and memory, not the checklist, drives the accuracy gain.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some limits. Each task order has one run, the same as the original paper. The gain is in features, not in look. We used one model and one tool. And the method was developed while looking at results on this benchmark, so we report the shuffled orders as a check. Next: the v9.1 result in the original order comes tomorrow. Two more task orders, fixed code without memory, and a 32B generator should finish by about the twenty-second. Then I submit the thesis in November, and after that I would like to write a workshop paper.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main references.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for a small model, memory should give code, not advice. Accuracy goes from 28.5 to 40 percent, and most of the gain comes from memory. Thank you. Any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size of the study. Each run builds all 101 websites. In total we have eleven full runs, about one thousand one hundred websites and seven thousand feature checks. No Memory was run in three task orders, to measure how much the baseline itself varies. In the original order we ran text memory, code memory, and a checklist-only ablation. Then we ran code memory and the fixed version, v9.1, in two shuffled orders. The last main run, v9.1 in the original order, finishes on the sixteenth. Three more experiments are still running: two more task orders, fixed code without memory, and a stronger 32B generator. If they finish before the deadline, they go into the thesis; if not, they become future work.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Next, task order. With memory, the order matters, because each task can only use what came before it. We shuffled the 101 tasks in two ways. Seed 11 keeps tasks from the same area together; seed 29 mixes them completely. Each number is the gain over No Memory in the same order, paired by task. With v7, the gain dropped to about four and a half points, and it was not significant. The reason: one code memory was a whole file from another website, and the model copied it as a finished answer, so it returned the empty starter project, which we call a scaffold. v7 did this 19 and 16 times. In v9.1, every code example is a short checked fragment. The scaffolds went to zero, and the gain rose to 7.4 points on seed 11, which is significant, and 5.5 points on seed 29. No Memory stays at about 28 percent in every order, so the change comes from the memory side.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20701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Group meeting · WebGen-Bench</a:t>
            </a:r>
            <a:endParaRPr lang="en-US" sz="1400" dirty="0"/>
          </a:p>
        </p:txBody>
      </p:sp>
      <p:sp>
        <p:nvSpPr>
          <p:cNvPr id="3" name="Text 1"/>
          <p:cNvSpPr>
            <a:spLocks noGrp="1"/>
          </p:cNvSpPr>
          <p:nvPr>
            <p:ph type="title"/>
          </p:nvPr>
        </p:nvSpPr>
        <p:spPr>
          <a:xfrm>
            <a:off x="812800" y="2573040"/>
            <a:ext cx="10883392" cy="119886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4F1EA"/>
                </a:solidFill>
                <a:latin typeface="Georgia" pitchFamily="18" charset="0"/>
                <a:ea typeface="Georgia" pitchFamily="18" charset="-122"/>
                <a:cs typeface="Georgia" pitchFamily="18" charset="-120"/>
              </a:rPr>
              <a:t>Can long-term memory help a small model build better websites?</a:t>
            </a:r>
            <a:endParaRPr lang="en-US" sz="4200" dirty="0"/>
          </a:p>
        </p:txBody>
      </p:sp>
      <p:sp>
        <p:nvSpPr>
          <p:cNvPr id="4" name="Text 2"/>
          <p:cNvSpPr/>
          <p:nvPr/>
        </p:nvSpPr>
        <p:spPr>
          <a:xfrm>
            <a:off x="812800" y="40005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Arial" pitchFamily="34" charset="0"/>
                <a:ea typeface="Arial" pitchFamily="34" charset="-122"/>
                <a:cs typeface="Arial" pitchFamily="34" charset="-120"/>
              </a:rPr>
              <a:t>Text lessons vs code examples</a:t>
            </a:r>
            <a:endParaRPr lang="en-US" sz="1600" dirty="0"/>
          </a:p>
        </p:txBody>
      </p:sp>
      <p:sp>
        <p:nvSpPr>
          <p:cNvPr id="5" name="Text 3"/>
          <p:cNvSpPr/>
          <p:nvPr/>
        </p:nvSpPr>
        <p:spPr>
          <a:xfrm>
            <a:off x="812800" y="453896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Arial" pitchFamily="34" charset="0"/>
                <a:ea typeface="Arial" pitchFamily="34" charset="-122"/>
                <a:cs typeface="Arial" pitchFamily="34" charset="-120"/>
              </a:rPr>
              <a:t>Qiaopan Ma · Supervisor: Qian Liu · 16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task and the question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7B model builds 101 websites, one after another</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Benchmark</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WebGen-Bench: 101 website requests from 20 areas. A GUI agent clicks through each site and checks the features.</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Long-term memory</a:t>
            </a:r>
            <a:endParaRPr lang="en-US" sz="1800" dirty="0"/>
          </a:p>
        </p:txBody>
      </p:sp>
      <p:sp>
        <p:nvSpPr>
          <p:cNvPr id="9" name="Text 7"/>
          <p:cNvSpPr/>
          <p:nvPr/>
        </p:nvSpPr>
        <p:spPr>
          <a:xfrm>
            <a:off x="6451600" y="2536130"/>
            <a:ext cx="4813808"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After each task, the system writes down what went wrong. Later tasks can reuse it.</a:t>
            </a:r>
            <a:endParaRPr lang="en-US" sz="1500" dirty="0"/>
          </a:p>
        </p:txBody>
      </p:sp>
      <p:sp>
        <p:nvSpPr>
          <p:cNvPr id="10" name="Text 8"/>
          <p:cNvSpPr/>
          <p:nvPr/>
        </p:nvSpPr>
        <p:spPr>
          <a:xfrm>
            <a:off x="812800" y="390138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213D"/>
                </a:solidFill>
                <a:latin typeface="Arial" pitchFamily="34" charset="0"/>
                <a:ea typeface="Arial" pitchFamily="34" charset="-122"/>
                <a:cs typeface="Arial" pitchFamily="34" charset="-120"/>
              </a:rPr>
              <a:t>Question: does the model get better as it gains experience?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big picture</a:t>
            </a:r>
            <a:endParaRPr lang="en-US" sz="1400" dirty="0"/>
          </a:p>
        </p:txBody>
      </p:sp>
      <p:sp>
        <p:nvSpPr>
          <p:cNvPr id="3" name="Text 1"/>
          <p:cNvSpPr>
            <a:spLocks noGrp="1"/>
          </p:cNvSpPr>
          <p:nvPr>
            <p:ph type="title"/>
          </p:nvPr>
        </p:nvSpPr>
        <p:spPr>
          <a:xfrm>
            <a:off x="812800" y="106169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The official pipeline, and what Long Memory adds</a:t>
            </a:r>
            <a:endParaRPr lang="en-US" sz="2800" dirty="0"/>
          </a:p>
        </p:txBody>
      </p:sp>
      <p:sp>
        <p:nvSpPr>
          <p:cNvPr id="4" name="Text 2"/>
          <p:cNvSpPr/>
          <p:nvPr/>
        </p:nvSpPr>
        <p:spPr>
          <a:xfrm>
            <a:off x="812800" y="1727200"/>
            <a:ext cx="588645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6A7179"/>
                </a:solidFill>
                <a:latin typeface="Arial" pitchFamily="34" charset="0"/>
                <a:ea typeface="Arial" pitchFamily="34" charset="-122"/>
                <a:cs typeface="Arial" pitchFamily="34" charset="-120"/>
              </a:rPr>
              <a:t>WebGen-Bench baseline (No Memory)</a:t>
            </a:r>
            <a:endParaRPr lang="en-US" sz="1300" dirty="0"/>
          </a:p>
        </p:txBody>
      </p:sp>
      <p:sp>
        <p:nvSpPr>
          <p:cNvPr id="5" name="Shape 3"/>
          <p:cNvSpPr/>
          <p:nvPr/>
        </p:nvSpPr>
        <p:spPr>
          <a:xfrm>
            <a:off x="819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6" name="Text 4"/>
          <p:cNvSpPr/>
          <p:nvPr/>
        </p:nvSpPr>
        <p:spPr>
          <a:xfrm>
            <a:off x="952500" y="234062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Website request</a:t>
            </a:r>
            <a:endParaRPr lang="en-US" sz="1400" dirty="0"/>
          </a:p>
        </p:txBody>
      </p:sp>
      <p:sp>
        <p:nvSpPr>
          <p:cNvPr id="7" name="Text 5"/>
          <p:cNvSpPr/>
          <p:nvPr/>
        </p:nvSpPr>
        <p:spPr>
          <a:xfrm>
            <a:off x="952500" y="2589510"/>
            <a:ext cx="18051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text from the user</a:t>
            </a:r>
            <a:endParaRPr lang="en-US" sz="1200" dirty="0"/>
          </a:p>
        </p:txBody>
      </p:sp>
      <p:sp>
        <p:nvSpPr>
          <p:cNvPr id="8" name="Shape 6"/>
          <p:cNvSpPr/>
          <p:nvPr/>
        </p:nvSpPr>
        <p:spPr>
          <a:xfrm>
            <a:off x="3486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9" name="Text 7"/>
          <p:cNvSpPr/>
          <p:nvPr/>
        </p:nvSpPr>
        <p:spPr>
          <a:xfrm>
            <a:off x="3619500" y="23583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Generator</a:t>
            </a:r>
            <a:endParaRPr lang="en-US" sz="1400" dirty="0"/>
          </a:p>
        </p:txBody>
      </p:sp>
      <p:sp>
        <p:nvSpPr>
          <p:cNvPr id="10" name="Text 8"/>
          <p:cNvSpPr/>
          <p:nvPr/>
        </p:nvSpPr>
        <p:spPr>
          <a:xfrm>
            <a:off x="3619500" y="2607270"/>
            <a:ext cx="1805178"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Bolt agent + WebGen-LM-7B</a:t>
            </a:r>
            <a:endParaRPr lang="en-US" sz="1000" dirty="0"/>
          </a:p>
        </p:txBody>
      </p:sp>
      <p:sp>
        <p:nvSpPr>
          <p:cNvPr id="11" name="Shape 9"/>
          <p:cNvSpPr/>
          <p:nvPr/>
        </p:nvSpPr>
        <p:spPr>
          <a:xfrm>
            <a:off x="6153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2" name="Text 10"/>
          <p:cNvSpPr/>
          <p:nvPr/>
        </p:nvSpPr>
        <p:spPr>
          <a:xfrm>
            <a:off x="6286500" y="22694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Testers</a:t>
            </a:r>
            <a:endParaRPr lang="en-US" sz="1400" dirty="0"/>
          </a:p>
        </p:txBody>
      </p:sp>
      <p:sp>
        <p:nvSpPr>
          <p:cNvPr id="13" name="Text 11"/>
          <p:cNvSpPr/>
          <p:nvPr/>
        </p:nvSpPr>
        <p:spPr>
          <a:xfrm>
            <a:off x="6286500" y="2518370"/>
            <a:ext cx="1805178" cy="3810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WebVoyager + Qwen2.5-VL-32B; screenshot grader</a:t>
            </a:r>
            <a:endParaRPr lang="en-US" sz="1000" dirty="0"/>
          </a:p>
        </p:txBody>
      </p:sp>
      <p:sp>
        <p:nvSpPr>
          <p:cNvPr id="14" name="Shape 12"/>
          <p:cNvSpPr/>
          <p:nvPr/>
        </p:nvSpPr>
        <p:spPr>
          <a:xfrm>
            <a:off x="8820150" y="2101850"/>
            <a:ext cx="17399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5" name="Text 13"/>
          <p:cNvSpPr/>
          <p:nvPr/>
        </p:nvSpPr>
        <p:spPr>
          <a:xfrm>
            <a:off x="8953500" y="2340620"/>
            <a:ext cx="15240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Score</a:t>
            </a:r>
            <a:endParaRPr lang="en-US" sz="1400" dirty="0"/>
          </a:p>
        </p:txBody>
      </p:sp>
      <p:sp>
        <p:nvSpPr>
          <p:cNvPr id="16" name="Text 14"/>
          <p:cNvSpPr/>
          <p:nvPr/>
        </p:nvSpPr>
        <p:spPr>
          <a:xfrm>
            <a:off x="8953500" y="2589510"/>
            <a:ext cx="1524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pass / partial / fail</a:t>
            </a:r>
            <a:endParaRPr lang="en-US" sz="1200" dirty="0"/>
          </a:p>
        </p:txBody>
      </p:sp>
      <p:pic>
        <p:nvPicPr>
          <p:cNvPr id="17" name="Image 0" descr="connector"/>
          <p:cNvPicPr>
            <a:picLocks noChangeAspect="1"/>
          </p:cNvPicPr>
          <p:nvPr/>
        </p:nvPicPr>
        <p:blipFill>
          <a:blip r:embed="rId3"/>
          <a:srcRect/>
          <a:stretch/>
        </p:blipFill>
        <p:spPr>
          <a:xfrm>
            <a:off x="2794000" y="2520950"/>
            <a:ext cx="736600" cy="101600"/>
          </a:xfrm>
          <a:prstGeom prst="rect">
            <a:avLst/>
          </a:prstGeom>
        </p:spPr>
      </p:pic>
      <p:pic>
        <p:nvPicPr>
          <p:cNvPr id="18" name="Image 1" descr="connector"/>
          <p:cNvPicPr>
            <a:picLocks noChangeAspect="1"/>
          </p:cNvPicPr>
          <p:nvPr/>
        </p:nvPicPr>
        <p:blipFill>
          <a:blip r:embed="rId3"/>
          <a:srcRect/>
          <a:stretch/>
        </p:blipFill>
        <p:spPr>
          <a:xfrm>
            <a:off x="5461000" y="2520950"/>
            <a:ext cx="736600" cy="101600"/>
          </a:xfrm>
          <a:prstGeom prst="rect">
            <a:avLst/>
          </a:prstGeom>
        </p:spPr>
      </p:pic>
      <p:pic>
        <p:nvPicPr>
          <p:cNvPr id="19" name="Image 2" descr="connector"/>
          <p:cNvPicPr>
            <a:picLocks noChangeAspect="1"/>
          </p:cNvPicPr>
          <p:nvPr/>
        </p:nvPicPr>
        <p:blipFill>
          <a:blip r:embed="rId3"/>
          <a:srcRect/>
          <a:stretch/>
        </p:blipFill>
        <p:spPr>
          <a:xfrm>
            <a:off x="8128000" y="2520950"/>
            <a:ext cx="736600" cy="101600"/>
          </a:xfrm>
          <a:prstGeom prst="rect">
            <a:avLst/>
          </a:prstGeom>
        </p:spPr>
      </p:pic>
      <p:sp>
        <p:nvSpPr>
          <p:cNvPr id="20" name="Shape 15"/>
          <p:cNvSpPr/>
          <p:nvPr/>
        </p:nvSpPr>
        <p:spPr>
          <a:xfrm>
            <a:off x="4454525" y="4391025"/>
            <a:ext cx="2393950" cy="933450"/>
          </a:xfrm>
          <a:prstGeom prst="roundRect">
            <a:avLst>
              <a:gd name="adj" fmla="val 9864"/>
            </a:avLst>
          </a:prstGeom>
          <a:solidFill>
            <a:srgbClr val="DCE8F8"/>
          </a:solidFill>
          <a:ln w="19050">
            <a:solidFill>
              <a:srgbClr val="2A78D6"/>
            </a:solidFill>
            <a:prstDash val="solid"/>
          </a:ln>
        </p:spPr>
        <p:txBody>
          <a:bodyPr/>
          <a:lstStyle/>
          <a:p>
            <a:endParaRPr lang="zh-CN" altLang="en-US"/>
          </a:p>
        </p:txBody>
      </p:sp>
      <p:sp>
        <p:nvSpPr>
          <p:cNvPr id="21" name="Text 16"/>
          <p:cNvSpPr/>
          <p:nvPr/>
        </p:nvSpPr>
        <p:spPr>
          <a:xfrm>
            <a:off x="4591050" y="4635500"/>
            <a:ext cx="218452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5FAF"/>
                </a:solidFill>
                <a:latin typeface="Arial" pitchFamily="34" charset="0"/>
                <a:ea typeface="Arial" pitchFamily="34" charset="-122"/>
                <a:cs typeface="Arial" pitchFamily="34" charset="-120"/>
              </a:rPr>
              <a:t>Memory bank</a:t>
            </a:r>
            <a:endParaRPr lang="en-US" sz="1500" dirty="0"/>
          </a:p>
        </p:txBody>
      </p:sp>
      <p:sp>
        <p:nvSpPr>
          <p:cNvPr id="22" name="Text 17"/>
          <p:cNvSpPr/>
          <p:nvPr/>
        </p:nvSpPr>
        <p:spPr>
          <a:xfrm>
            <a:off x="4591050" y="4902200"/>
            <a:ext cx="2184527"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14213D"/>
                </a:solidFill>
                <a:latin typeface="Arial" pitchFamily="34" charset="0"/>
                <a:ea typeface="Arial" pitchFamily="34" charset="-122"/>
                <a:cs typeface="Arial" pitchFamily="34" charset="-120"/>
              </a:rPr>
              <a:t>Qwen2.5-VL-72B + bge-m3</a:t>
            </a:r>
            <a:endParaRPr lang="en-US" sz="1000" dirty="0"/>
          </a:p>
        </p:txBody>
      </p:sp>
      <p:pic>
        <p:nvPicPr>
          <p:cNvPr id="23" name="Image 3" descr="connector"/>
          <p:cNvPicPr>
            <a:picLocks noChangeAspect="1"/>
          </p:cNvPicPr>
          <p:nvPr/>
        </p:nvPicPr>
        <p:blipFill>
          <a:blip r:embed="rId4"/>
          <a:srcRect/>
          <a:stretch/>
        </p:blipFill>
        <p:spPr>
          <a:xfrm>
            <a:off x="6794500" y="2984500"/>
            <a:ext cx="431800" cy="1936750"/>
          </a:xfrm>
          <a:prstGeom prst="rect">
            <a:avLst/>
          </a:prstGeom>
        </p:spPr>
      </p:pic>
      <p:pic>
        <p:nvPicPr>
          <p:cNvPr id="24" name="Image 4" descr="connector"/>
          <p:cNvPicPr>
            <a:picLocks noChangeAspect="1"/>
          </p:cNvPicPr>
          <p:nvPr/>
        </p:nvPicPr>
        <p:blipFill>
          <a:blip r:embed="rId5"/>
          <a:srcRect/>
          <a:stretch/>
        </p:blipFill>
        <p:spPr>
          <a:xfrm>
            <a:off x="1765300" y="2984500"/>
            <a:ext cx="2743200" cy="1936750"/>
          </a:xfrm>
          <a:prstGeom prst="rect">
            <a:avLst/>
          </a:prstGeom>
        </p:spPr>
      </p:pic>
      <p:sp>
        <p:nvSpPr>
          <p:cNvPr id="25" name="Text 18"/>
          <p:cNvSpPr/>
          <p:nvPr/>
        </p:nvSpPr>
        <p:spPr>
          <a:xfrm>
            <a:off x="7366000" y="3556000"/>
            <a:ext cx="327025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After each task: reflect on the test, find code errors, save short fixes</a:t>
            </a:r>
            <a:endParaRPr lang="en-US" sz="1300" dirty="0"/>
          </a:p>
        </p:txBody>
      </p:sp>
      <p:sp>
        <p:nvSpPr>
          <p:cNvPr id="26" name="Text 19"/>
          <p:cNvSpPr/>
          <p:nvPr/>
        </p:nvSpPr>
        <p:spPr>
          <a:xfrm>
            <a:off x="2032000" y="3429000"/>
            <a:ext cx="235458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Before the next task: add a checklist and code examples</a:t>
            </a:r>
            <a:endParaRPr lang="en-US" sz="1300" dirty="0"/>
          </a:p>
        </p:txBody>
      </p:sp>
      <p:sp>
        <p:nvSpPr>
          <p:cNvPr id="27" name="Text 20"/>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Same generator, same tester, same rules. Long Memory (blue) only changes the text the generator reads.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Setup</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Official rules, and our baseline matches the paper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796605"/>
        </p:xfrm>
        <a:graphic>
          <a:graphicData uri="http://schemas.openxmlformats.org/drawingml/2006/table">
            <a:tbl>
              <a:tblPr/>
              <a:tblGrid>
                <a:gridCol w="633222">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gridCol w="4221480">
                  <a:extLst>
                    <a:ext uri="{9D8B030D-6E8A-4147-A177-3AD203B41FA5}">
                      <a16:colId xmlns:a16="http://schemas.microsoft.com/office/drawing/2014/main" val="20003"/>
                    </a:ext>
                  </a:extLst>
                </a:gridCol>
              </a:tblGrid>
              <a:tr h="359321">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Step</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Agent / tool</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Model (LLM)</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Build website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Bolt agent (coding)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WebGen-LM-7B, one try, no repair</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Test features</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WebVoyager (GUI agent)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Grade appearance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Screenshot grader (one call)</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 (paper: GPT-4o)</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Write and pick memory</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Our Long Memory module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Qwen2.5-VL-72B-AWQ + bge-m3 embedding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969544"/>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Score = (pass + 0.5 × partial) / checks · No Memory baseline 28.5% (paper: 28.4%)</a:t>
            </a:r>
            <a:endParaRPr lang="en-US" sz="1300" dirty="0"/>
          </a:p>
        </p:txBody>
      </p:sp>
      <p:sp>
        <p:nvSpPr>
          <p:cNvPr id="6" name="Shape 3"/>
          <p:cNvSpPr/>
          <p:nvPr/>
        </p:nvSpPr>
        <p:spPr>
          <a:xfrm>
            <a:off x="825500" y="4454674"/>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454674"/>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Check results: pass = the feature works; partial = it works only in part (counts 0.5); fail = 0. Accuracy is summed over all 647 checks.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Experiment scale</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11 full runs × 101 tasks: about 1,100 websites and 7,000 checks</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Done (in the thesis)</a:t>
            </a:r>
            <a:endParaRPr lang="en-US" sz="1800" dirty="0"/>
          </a:p>
        </p:txBody>
      </p:sp>
      <p:sp>
        <p:nvSpPr>
          <p:cNvPr id="5" name="Text 3"/>
          <p:cNvSpPr/>
          <p:nvPr/>
        </p:nvSpPr>
        <p:spPr>
          <a:xfrm>
            <a:off x="896620" y="2282130"/>
            <a:ext cx="5245608" cy="939800"/>
          </a:xfrm>
          <a:prstGeom prst="rect">
            <a:avLst/>
          </a:prstGeom>
          <a:noFill/>
          <a:ln/>
        </p:spPr>
        <p:txBody>
          <a:bodyPr wrap="square" lIns="0" tIns="0" rIns="0" bIns="0" rtlCol="0" anchor="t">
            <a:norm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No Memory in 3 task orders (original, seed 11, seed 29)</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Text memory (v4), code memory (v7), checklist only: original order</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v7 and the fixed v9.1 in 2 shuffled orders</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v9.1 in the original order (ready 16 Oct)</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Still running (added if done before 16 Nov)</a:t>
            </a:r>
            <a:endParaRPr lang="en-US" sz="1800" dirty="0"/>
          </a:p>
        </p:txBody>
      </p:sp>
      <p:sp>
        <p:nvSpPr>
          <p:cNvPr id="7" name="Text 5"/>
          <p:cNvSpPr/>
          <p:nvPr/>
        </p:nvSpPr>
        <p:spPr>
          <a:xfrm>
            <a:off x="6281420" y="2282130"/>
            <a:ext cx="5245608" cy="939800"/>
          </a:xfrm>
          <a:prstGeom prst="rect">
            <a:avLst/>
          </a:prstGeom>
          <a:noFill/>
          <a:ln/>
        </p:spPr>
        <p:txBody>
          <a:bodyPr wrap="square" lIns="0" tIns="0" rIns="0" bIns="0" rtlCol="0" anchor="t">
            <a:norm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Seed 47 and interleaved orders (about 17–19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Fixed code from task 1, no memory (about 20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Stronger 32B generator (about 22 Oct)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First attempt: text lessons</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lessons helped early, then fell below the baseline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318023"/>
        </p:xfrm>
        <a:graphic>
          <a:graphicData uri="http://schemas.openxmlformats.org/drawingml/2006/table">
            <a:tbl>
              <a:tblPr/>
              <a:tblGrid>
                <a:gridCol w="4221480">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14213D"/>
                          </a:solidFill>
                          <a:latin typeface="Arial" pitchFamily="34" charset="0"/>
                          <a:ea typeface="Arial" pitchFamily="34" charset="-122"/>
                          <a:cs typeface="Arial" pitchFamily="34" charset="-120"/>
                        </a:rPr>
                        <a:t>Tasks</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No Memory</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Text lessons (v4)</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1–30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26.0%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39.3%</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61–101</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24.8%</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22.9%</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812800" y="3490962"/>
            <a:ext cx="10883392"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Over time, more and more vague advice filled the prompt, such as "make sure the form works". The small model could not act on it.</a:t>
            </a:r>
            <a:endParaRPr lang="en-US" sz="1500" dirty="0"/>
          </a:p>
        </p:txBody>
      </p:sp>
      <p:sp>
        <p:nvSpPr>
          <p:cNvPr id="6" name="Shape 3"/>
          <p:cNvSpPr/>
          <p:nvPr/>
        </p:nvSpPr>
        <p:spPr>
          <a:xfrm>
            <a:off x="825500" y="4316462"/>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316462"/>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Each number is the accuracy on that group of tasks, in execution order. Tasks 31–60 are left out to show the start and the end clearly.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74883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Key finding</a:t>
            </a:r>
            <a:endParaRPr lang="en-US" sz="1400" dirty="0"/>
          </a:p>
        </p:txBody>
      </p:sp>
      <p:sp>
        <p:nvSpPr>
          <p:cNvPr id="3" name="Text 1"/>
          <p:cNvSpPr>
            <a:spLocks noGrp="1"/>
          </p:cNvSpPr>
          <p:nvPr>
            <p:ph type="title"/>
          </p:nvPr>
        </p:nvSpPr>
        <p:spPr>
          <a:xfrm>
            <a:off x="812800" y="2302520"/>
            <a:ext cx="10883392" cy="6096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The small model follows code, not text</a:t>
            </a:r>
            <a:endParaRPr lang="en-US" sz="4000" dirty="0"/>
          </a:p>
        </p:txBody>
      </p:sp>
      <p:sp>
        <p:nvSpPr>
          <p:cNvPr id="4" name="Text 2"/>
          <p:cNvSpPr/>
          <p:nvPr/>
        </p:nvSpPr>
        <p:spPr>
          <a:xfrm>
            <a:off x="8128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F2A97F"/>
                </a:solidFill>
                <a:latin typeface="Arial" pitchFamily="34" charset="0"/>
                <a:ea typeface="Arial" pitchFamily="34" charset="-122"/>
                <a:cs typeface="Arial" pitchFamily="34" charset="-120"/>
              </a:rPr>
              <a:t>1 / 3</a:t>
            </a:r>
            <a:endParaRPr lang="en-US" sz="4800" dirty="0"/>
          </a:p>
        </p:txBody>
      </p:sp>
      <p:sp>
        <p:nvSpPr>
          <p:cNvPr id="5" name="Text 3"/>
          <p:cNvSpPr/>
          <p:nvPr/>
        </p:nvSpPr>
        <p:spPr>
          <a:xfrm>
            <a:off x="8128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blank-page sites fixed by a text tip</a:t>
            </a:r>
            <a:endParaRPr lang="en-US" sz="1500" dirty="0"/>
          </a:p>
        </p:txBody>
      </p:sp>
      <p:sp>
        <p:nvSpPr>
          <p:cNvPr id="6" name="Text 4"/>
          <p:cNvSpPr/>
          <p:nvPr/>
        </p:nvSpPr>
        <p:spPr>
          <a:xfrm>
            <a:off x="62484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8FB8EE"/>
                </a:solidFill>
                <a:latin typeface="Arial" pitchFamily="34" charset="0"/>
                <a:ea typeface="Arial" pitchFamily="34" charset="-122"/>
                <a:cs typeface="Arial" pitchFamily="34" charset="-120"/>
              </a:rPr>
              <a:t>7 / 9</a:t>
            </a:r>
            <a:endParaRPr lang="en-US" sz="4800" dirty="0"/>
          </a:p>
        </p:txBody>
      </p:sp>
      <p:sp>
        <p:nvSpPr>
          <p:cNvPr id="7" name="Text 5"/>
          <p:cNvSpPr/>
          <p:nvPr/>
        </p:nvSpPr>
        <p:spPr>
          <a:xfrm>
            <a:off x="62484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fixed by a 10-line code example</a:t>
            </a:r>
            <a:endParaRPr lang="en-US" sz="1500" dirty="0"/>
          </a:p>
        </p:txBody>
      </p:sp>
      <p:sp>
        <p:nvSpPr>
          <p:cNvPr id="8" name="Shape 6"/>
          <p:cNvSpPr/>
          <p:nvPr/>
        </p:nvSpPr>
        <p:spPr>
          <a:xfrm>
            <a:off x="825500" y="4667250"/>
            <a:ext cx="0" cy="441920"/>
          </a:xfrm>
          <a:prstGeom prst="line">
            <a:avLst/>
          </a:prstGeom>
          <a:noFill/>
          <a:ln w="25400">
            <a:solidFill>
              <a:srgbClr val="2A78D6"/>
            </a:solidFill>
            <a:prstDash val="solid"/>
          </a:ln>
        </p:spPr>
        <p:txBody>
          <a:bodyPr/>
          <a:lstStyle/>
          <a:p>
            <a:endParaRPr lang="zh-CN" altLang="en-US"/>
          </a:p>
        </p:txBody>
      </p:sp>
      <p:sp>
        <p:nvSpPr>
          <p:cNvPr id="9" name="Text 7"/>
          <p:cNvSpPr/>
          <p:nvPr/>
        </p:nvSpPr>
        <p:spPr>
          <a:xfrm>
            <a:off x="939800" y="4667250"/>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Blank page: the site imports a package that is not installed (for example vue-router), so nothing is shown. Test: generate only, same prompts, check the code.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Method (v7)</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Two parts: a checklist and a code pool</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1. Requirement checklist</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The memory model splits the request into a list. Each lesson sits under the item it belongs to. The request always comes first.</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2. Code pool</a:t>
            </a:r>
            <a:endParaRPr lang="en-US" sz="1800" dirty="0"/>
          </a:p>
        </p:txBody>
      </p:sp>
      <p:sp>
        <p:nvSpPr>
          <p:cNvPr id="9" name="Text 7"/>
          <p:cNvSpPr/>
          <p:nvPr/>
        </p:nvSpPr>
        <p:spPr>
          <a:xfrm>
            <a:off x="64516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When a code error appears in 2 tasks, take a short fix from our own earlier site that worked. At most 15 lines, checked by a compiler.</a:t>
            </a:r>
            <a:endParaRPr lang="en-US" sz="1500" dirty="0"/>
          </a:p>
        </p:txBody>
      </p:sp>
      <p:sp>
        <p:nvSpPr>
          <p:cNvPr id="10" name="Text 8"/>
          <p:cNvSpPr/>
          <p:nvPr/>
        </p:nvSpPr>
        <p:spPr>
          <a:xfrm>
            <a:off x="812800" y="390138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Example: import { ref } from 'vue' · const bookingId = ref('')</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Main result · 101 tasks, one run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Accuracy rises from 28.5% to 40.0%</a:t>
            </a:r>
            <a:endParaRPr lang="en-US" sz="3000" dirty="0"/>
          </a:p>
        </p:txBody>
      </p:sp>
      <p:sp>
        <p:nvSpPr>
          <p:cNvPr id="4" name="Shape 2"/>
          <p:cNvSpPr/>
          <p:nvPr/>
        </p:nvSpPr>
        <p:spPr>
          <a:xfrm>
            <a:off x="812800" y="1906240"/>
            <a:ext cx="5181600" cy="1978620"/>
          </a:xfrm>
          <a:prstGeom prst="roundRect">
            <a:avLst>
              <a:gd name="adj" fmla="val 5135"/>
            </a:avLst>
          </a:prstGeom>
          <a:solidFill>
            <a:srgbClr val="EEF3FA"/>
          </a:solidFill>
          <a:ln/>
        </p:spPr>
        <p:txBody>
          <a:bodyPr/>
          <a:lstStyle/>
          <a:p>
            <a:endParaRPr lang="zh-CN" altLang="en-US"/>
          </a:p>
        </p:txBody>
      </p:sp>
      <p:sp>
        <p:nvSpPr>
          <p:cNvPr id="5" name="Text 3"/>
          <p:cNvSpPr/>
          <p:nvPr/>
        </p:nvSpPr>
        <p:spPr>
          <a:xfrm>
            <a:off x="10668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No Memory</a:t>
            </a:r>
            <a:endParaRPr lang="en-US" sz="1500" dirty="0"/>
          </a:p>
        </p:txBody>
      </p:sp>
      <p:sp>
        <p:nvSpPr>
          <p:cNvPr id="6" name="Text 4"/>
          <p:cNvSpPr/>
          <p:nvPr/>
        </p:nvSpPr>
        <p:spPr>
          <a:xfrm>
            <a:off x="10668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4213D"/>
                </a:solidFill>
                <a:latin typeface="Arial" pitchFamily="34" charset="0"/>
                <a:ea typeface="Arial" pitchFamily="34" charset="-122"/>
                <a:cs typeface="Arial" pitchFamily="34" charset="-120"/>
              </a:rPr>
              <a:t>28.5%</a:t>
            </a:r>
            <a:endParaRPr lang="en-US" sz="4800" dirty="0"/>
          </a:p>
        </p:txBody>
      </p:sp>
      <p:sp>
        <p:nvSpPr>
          <p:cNvPr id="7" name="Text 5"/>
          <p:cNvSpPr/>
          <p:nvPr/>
        </p:nvSpPr>
        <p:spPr>
          <a:xfrm>
            <a:off x="10668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30 zero-score tasks</a:t>
            </a:r>
            <a:endParaRPr lang="en-US" sz="1400" dirty="0"/>
          </a:p>
        </p:txBody>
      </p:sp>
      <p:sp>
        <p:nvSpPr>
          <p:cNvPr id="8" name="Shape 6"/>
          <p:cNvSpPr/>
          <p:nvPr/>
        </p:nvSpPr>
        <p:spPr>
          <a:xfrm>
            <a:off x="6197600" y="1906240"/>
            <a:ext cx="5181600" cy="1978620"/>
          </a:xfrm>
          <a:prstGeom prst="roundRect">
            <a:avLst>
              <a:gd name="adj" fmla="val 5135"/>
            </a:avLst>
          </a:prstGeom>
          <a:solidFill>
            <a:srgbClr val="DCE8F8"/>
          </a:solidFill>
          <a:ln/>
        </p:spPr>
        <p:txBody>
          <a:bodyPr/>
          <a:lstStyle/>
          <a:p>
            <a:endParaRPr lang="zh-CN" altLang="en-US"/>
          </a:p>
        </p:txBody>
      </p:sp>
      <p:sp>
        <p:nvSpPr>
          <p:cNvPr id="9" name="Text 7"/>
          <p:cNvSpPr/>
          <p:nvPr/>
        </p:nvSpPr>
        <p:spPr>
          <a:xfrm>
            <a:off x="64516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Long Memory (v7)</a:t>
            </a:r>
            <a:endParaRPr lang="en-US" sz="1500" dirty="0"/>
          </a:p>
        </p:txBody>
      </p:sp>
      <p:sp>
        <p:nvSpPr>
          <p:cNvPr id="10" name="Text 8"/>
          <p:cNvSpPr/>
          <p:nvPr/>
        </p:nvSpPr>
        <p:spPr>
          <a:xfrm>
            <a:off x="64516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F5FAF"/>
                </a:solidFill>
                <a:latin typeface="Arial" pitchFamily="34" charset="0"/>
                <a:ea typeface="Arial" pitchFamily="34" charset="-122"/>
                <a:cs typeface="Arial" pitchFamily="34" charset="-120"/>
              </a:rPr>
              <a:t>40.0%</a:t>
            </a:r>
            <a:endParaRPr lang="en-US" sz="4800" dirty="0"/>
          </a:p>
        </p:txBody>
      </p:sp>
      <p:sp>
        <p:nvSpPr>
          <p:cNvPr id="11" name="Text 9"/>
          <p:cNvSpPr/>
          <p:nvPr/>
        </p:nvSpPr>
        <p:spPr>
          <a:xfrm>
            <a:off x="64516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13 zero-score tasks</a:t>
            </a:r>
            <a:endParaRPr lang="en-US" sz="1400" dirty="0"/>
          </a:p>
        </p:txBody>
      </p:sp>
      <p:sp>
        <p:nvSpPr>
          <p:cNvPr id="12" name="Text 10"/>
          <p:cNvSpPr/>
          <p:nvPr/>
        </p:nvSpPr>
        <p:spPr>
          <a:xfrm>
            <a:off x="812800" y="413886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Arial" pitchFamily="34" charset="0"/>
                <a:ea typeface="Arial" pitchFamily="34" charset="-122"/>
                <a:cs typeface="Arial" pitchFamily="34" charset="-120"/>
              </a:rPr>
              <a:t>Paired by task: +11.5 points (95% CI 6.0 to 16.9). Wins 54, losses 24, ties 23.</a:t>
            </a:r>
            <a:endParaRPr lang="en-US" sz="1500" dirty="0"/>
          </a:p>
        </p:txBody>
      </p:sp>
      <p:sp>
        <p:nvSpPr>
          <p:cNvPr id="13" name="Shape 11"/>
          <p:cNvSpPr/>
          <p:nvPr/>
        </p:nvSpPr>
        <p:spPr>
          <a:xfrm>
            <a:off x="825500" y="4659561"/>
            <a:ext cx="0" cy="441920"/>
          </a:xfrm>
          <a:prstGeom prst="line">
            <a:avLst/>
          </a:prstGeom>
          <a:noFill/>
          <a:ln w="25400">
            <a:solidFill>
              <a:srgbClr val="2A78D6"/>
            </a:solidFill>
            <a:prstDash val="solid"/>
          </a:ln>
        </p:spPr>
        <p:txBody>
          <a:bodyPr/>
          <a:lstStyle/>
          <a:p>
            <a:endParaRPr lang="zh-CN" altLang="en-US"/>
          </a:p>
        </p:txBody>
      </p:sp>
      <p:sp>
        <p:nvSpPr>
          <p:cNvPr id="14" name="Text 12"/>
          <p:cNvSpPr/>
          <p:nvPr/>
        </p:nvSpPr>
        <p:spPr>
          <a:xfrm>
            <a:off x="939800" y="4659561"/>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Zero-score task: every check fails, usually a blank page. 95% CI: the likely range of the gain, from resampling tasks; it does not include 0, so the gain is not chance.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Learning curve · 101 tasks, execution order</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Only the code-pool version keeps its lead</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Cumulative and rolling accuracy for No Memory, checklist only, v4 and v7 over 101 tasks"/>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Left: cumulative = average of all tasks so far. Right: rolling = average of the last 10 tasks, so it shows short-term ups and downs. Dotted line: task 30.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Ablation study · checklist vs. memory</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Memory, not the checklist, drives the gain</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Accuracy and zero-score tasks for No Memory, checklist only and v7"/>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n.s. = not significant (the CI includes 0). Zero-score tasks: sites where every check fails.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Task order · shuffled runs</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One bad memory caused blank sites; short fragments fixed it</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v7 (whole-file example)</a:t>
            </a:r>
            <a:endParaRPr lang="en-US" sz="1800" dirty="0"/>
          </a:p>
        </p:txBody>
      </p:sp>
      <p:sp>
        <p:nvSpPr>
          <p:cNvPr id="5" name="Text 3"/>
          <p:cNvSpPr/>
          <p:nvPr/>
        </p:nvSpPr>
        <p:spPr>
          <a:xfrm>
            <a:off x="896620" y="2282130"/>
            <a:ext cx="5245608" cy="939800"/>
          </a:xfrm>
          <a:prstGeom prst="rect">
            <a:avLst/>
          </a:prstGeom>
          <a:noFill/>
          <a:ln/>
        </p:spPr>
        <p:txBody>
          <a:bodyPr wrap="square" lIns="0" tIns="0" rIns="0" bIns="0" rtlCol="0" anchor="t">
            <a:norm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Seed 11: +4.4 points (CI −1.9 to 10.6), 19 blank scaffolds</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Seed 29: +4.5 points (CI −2.2 to 11.3), 16 blank scaffolds</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v9.1 (checked fragments only)</a:t>
            </a:r>
            <a:endParaRPr lang="en-US" sz="1800" dirty="0"/>
          </a:p>
        </p:txBody>
      </p:sp>
      <p:sp>
        <p:nvSpPr>
          <p:cNvPr id="7" name="Text 5"/>
          <p:cNvSpPr/>
          <p:nvPr/>
        </p:nvSpPr>
        <p:spPr>
          <a:xfrm>
            <a:off x="6281420" y="2282130"/>
            <a:ext cx="5245608" cy="939800"/>
          </a:xfrm>
          <a:prstGeom prst="rect">
            <a:avLst/>
          </a:prstGeom>
          <a:noFill/>
          <a:ln/>
        </p:spPr>
        <p:txBody>
          <a:bodyPr wrap="square" lIns="0" tIns="0" rIns="0" bIns="0" rtlCol="0" anchor="t">
            <a:norm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Seed 11: +7.4 points (CI 1.6 to 13.1), 0 scaffolds</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Seed 29: +5.5 points (CI −0.5 to 11.6), 0 scaffolds</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No Memory is stable: 27.9% to 28.6%</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Limits and next steps</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What we still need to check</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Limits</a:t>
            </a:r>
            <a:endParaRPr lang="en-US" sz="1800" dirty="0"/>
          </a:p>
        </p:txBody>
      </p:sp>
      <p:sp>
        <p:nvSpPr>
          <p:cNvPr id="5" name="Text 3"/>
          <p:cNvSpPr/>
          <p:nvPr/>
        </p:nvSpPr>
        <p:spPr>
          <a:xfrm>
            <a:off x="896620" y="2282130"/>
            <a:ext cx="5245608" cy="939800"/>
          </a:xfrm>
          <a:prstGeom prst="rect">
            <a:avLst/>
          </a:prstGeom>
          <a:noFill/>
          <a:ln/>
        </p:spPr>
        <p:txBody>
          <a:bodyPr wrap="square" lIns="0" tIns="0" rIns="0" bIns="0" rtlCol="0" anchor="t">
            <a:norm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run per task order (the paper also uses one run)</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Gain is in features, not in look (3.25 vs 3.22)</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model and one tool (Bolt + Vue)</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Method was developed on the same benchmark</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Next steps</a:t>
            </a:r>
            <a:endParaRPr lang="en-US" sz="1800" dirty="0"/>
          </a:p>
        </p:txBody>
      </p:sp>
      <p:sp>
        <p:nvSpPr>
          <p:cNvPr id="7" name="Text 5"/>
          <p:cNvSpPr/>
          <p:nvPr/>
        </p:nvSpPr>
        <p:spPr>
          <a:xfrm>
            <a:off x="6281420" y="2282130"/>
            <a:ext cx="5245608" cy="939800"/>
          </a:xfrm>
          <a:prstGeom prst="rect">
            <a:avLst/>
          </a:prstGeom>
          <a:noFill/>
          <a:ln/>
        </p:spPr>
        <p:txBody>
          <a:bodyPr wrap="square" lIns="0" tIns="0" rIns="0" bIns="0" rtlCol="0" anchor="t">
            <a:norm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v9.1 in the original order (16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Two more orders, fixed code prefix, 32B generator (by about 22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Submit the thesis (16 Nov), then a workshop paper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508000"/>
            <a:ext cx="11092688"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4213D"/>
                </a:solidFill>
                <a:latin typeface="Georgia" pitchFamily="18" charset="0"/>
                <a:ea typeface="Georgia" pitchFamily="18" charset="-122"/>
                <a:cs typeface="Georgia" pitchFamily="18" charset="-120"/>
              </a:rPr>
              <a:t>References</a:t>
            </a:r>
            <a:endParaRPr lang="en-US" sz="2600" dirty="0"/>
          </a:p>
        </p:txBody>
      </p:sp>
      <p:sp>
        <p:nvSpPr>
          <p:cNvPr id="4" name="Text 1">
            <a:extLst>
              <a:ext uri="{FF2B5EF4-FFF2-40B4-BE49-F238E27FC236}">
                <a16:creationId xmlns:a16="http://schemas.microsoft.com/office/drawing/2014/main" id="{59E0F296-53D6-3D06-3E9B-A9B9DDE745A5}"/>
              </a:ext>
            </a:extLst>
          </p:cNvPr>
          <p:cNvSpPr/>
          <p:nvPr/>
        </p:nvSpPr>
        <p:spPr>
          <a:xfrm>
            <a:off x="629920" y="1040110"/>
            <a:ext cx="11092688" cy="5309890"/>
          </a:xfrm>
          <a:prstGeom prst="rect">
            <a:avLst/>
          </a:prstGeom>
          <a:noFill/>
          <a:ln/>
        </p:spPr>
        <p:txBody>
          <a:bodyPr wrap="square" lIns="0" tIns="0" rIns="0" bIns="0" rtlCol="0" anchor="t">
            <a:noAutofit/>
          </a:bodyPr>
          <a:lstStyle/>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Lu et al., 2025. WebGen-Bench: Evaluating LLMs on generating interactive and functional websites from scratch. arXiv:2505.03733.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He et al., 2024. WebVoyager: Building an end-to-end web agent with large multimodal models. ACL.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StackBlitz Labs, 2024. bolt.diy: open-source AI coding agent. github.com/stackblitz-labs/bolt.diy.</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Zhao et al., 2024. ExpeL: LLM agents are experiential learners. AAAI.</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Ouyang et al., 2026. ReasoningBank: Scaling agent self-evolving with reasoning memory. ICLR. arXiv:2509.25140.</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Chhikara et al., 2025. Mem0: Building production-ready AI agents with scalable long-term memory. arXiv:2504.19413.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Mao, Fried &amp; Neubig, 2025. Agent Workflow Memory. ICML. arXiv:2409.07429.</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Zheng et al., 2024. Synapse: Trajectory-as-exemplar prompting with memory. ICLR. arXiv:2306.07863.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et al., 2023. Voyager: An open-ended embodied agent with large language models. arXiv:2305.16291.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Suzgun et al., 2026. Dynamic Cheatsheet: Test-time learning with adaptive memory. EACL. arXiv:2504.07952.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Zhang et al., 2026. Agentic Context Engineering: Evolving contexts for self-improving language models. ICLR. arXiv:2510.04618.</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Dai et al., 2026. Metis: Bridging text and code memory for self-evolving agents. arXiv:2606.24151.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Kim et al., 2026. Memory Transfer Learning: How memories are transferred across domains in coding agents. arXiv:2604.14004.</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Shi et al., 2023. LLMs can be easily distracted by irrelevant context. ICML.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Liu et al., 2024. Lost in the middle: How language models use long contexts. TACL 12.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Du et al., 2025. Context length alone hurts LLM performance despite perfect retrieval. Findings of EMNLP. arXiv:2510.05381.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Madaan et al., 2023. Self-Refine: Iterative refinement with self-feedback. NeurIPS.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261890"/>
            <a:ext cx="10883392" cy="11938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For a small model, memory should give code, not advice</a:t>
            </a:r>
            <a:endParaRPr lang="en-US" sz="4000" dirty="0"/>
          </a:p>
        </p:txBody>
      </p:sp>
      <p:sp>
        <p:nvSpPr>
          <p:cNvPr id="3" name="Text 1"/>
          <p:cNvSpPr/>
          <p:nvPr/>
        </p:nvSpPr>
        <p:spPr>
          <a:xfrm>
            <a:off x="812800" y="368429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3E3"/>
                </a:solidFill>
                <a:latin typeface="Arial" pitchFamily="34" charset="0"/>
                <a:ea typeface="Arial" pitchFamily="34" charset="-122"/>
                <a:cs typeface="Arial" pitchFamily="34" charset="-120"/>
              </a:rPr>
              <a:t>28.5% → 40.0% · most of the gain comes from memory</a:t>
            </a:r>
            <a:endParaRPr lang="en-US" sz="1700" dirty="0"/>
          </a:p>
        </p:txBody>
      </p:sp>
      <p:sp>
        <p:nvSpPr>
          <p:cNvPr id="4" name="Text 2"/>
          <p:cNvSpPr/>
          <p:nvPr/>
        </p:nvSpPr>
        <p:spPr>
          <a:xfrm>
            <a:off x="812800" y="424051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8FB8EE"/>
                </a:solidFill>
                <a:latin typeface="Arial" pitchFamily="34" charset="0"/>
                <a:ea typeface="Arial" pitchFamily="34" charset="-122"/>
                <a:cs typeface="Arial" pitchFamily="34" charset="-120"/>
              </a:rPr>
              <a:t>Thank you. Questions?</a:t>
            </a:r>
            <a:endParaRPr lang="en-US" sz="2000" dirty="0"/>
          </a:p>
        </p:txBody>
      </p:sp>
    </p:spTree>
  </p:cSld>
  <p:clrMapOvr>
    <a:masterClrMapping/>
  </p:clrMapOvr>
</p:sld>
</file>

<file path=ppt/theme/theme1.xml><?xml version="1.0" encoding="utf-8"?>
<a:theme xmlns:a="http://schemas.openxmlformats.org/drawingml/2006/main" name="Long-term memory for a small website generator">
  <a:themeElements>
    <a:clrScheme name="Long-term memory for a small website generator">
      <a:dk1>
        <a:srgbClr val="14213D"/>
      </a:dk1>
      <a:lt1>
        <a:srgbClr val="FBFBF8"/>
      </a:lt1>
      <a:dk2>
        <a:srgbClr val="4E586C"/>
      </a:dk2>
      <a:lt2>
        <a:srgbClr val="E4E5E5"/>
      </a:lt2>
      <a:accent1>
        <a:srgbClr val="2A78D6"/>
      </a:accent1>
      <a:accent2>
        <a:srgbClr val="8FB8EE"/>
      </a:accent2>
      <a:accent3>
        <a:srgbClr val="1F5FAF"/>
      </a:accent3>
      <a:accent4>
        <a:srgbClr val="F2A97F"/>
      </a:accent4>
      <a:accent5>
        <a:srgbClr val="4A5568"/>
      </a:accent5>
      <a:accent6>
        <a:srgbClr val="C9D3E3"/>
      </a:accent6>
      <a:hlink>
        <a:srgbClr val="0563C1"/>
      </a:hlink>
      <a:folHlink>
        <a:srgbClr val="954F72"/>
      </a:folHlink>
    </a:clrScheme>
    <a:fontScheme name="Long-term memory for a small website generato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2258</Words>
  <Application>Microsoft Macintosh PowerPoint</Application>
  <PresentationFormat>宽屏</PresentationFormat>
  <Paragraphs>151</Paragraphs>
  <Slides>13</Slides>
  <Notes>13</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13</vt:i4>
      </vt:variant>
    </vt:vector>
  </HeadingPairs>
  <TitlesOfParts>
    <vt:vector size="16" baseType="lpstr">
      <vt:lpstr>Arial</vt:lpstr>
      <vt:lpstr>Georgia</vt:lpstr>
      <vt:lpstr>Long-term memory for a small website generator</vt:lpstr>
      <vt:lpstr>Can long-term memory help a small model build better websites?</vt:lpstr>
      <vt:lpstr>A 7B model builds 101 websites, one after another</vt:lpstr>
      <vt:lpstr>The official pipeline, and what Long Memory adds</vt:lpstr>
      <vt:lpstr>Official rules, and our baseline matches the paper</vt:lpstr>
      <vt:lpstr>Text lessons helped early, then fell below the baseline</vt:lpstr>
      <vt:lpstr>The small model follows code, not text</vt:lpstr>
      <vt:lpstr>Two parts: a checklist and a code pool</vt:lpstr>
      <vt:lpstr>Accuracy rises from 28.5% to 40.0%</vt:lpstr>
      <vt:lpstr>Only the code-pool version keeps its lead</vt:lpstr>
      <vt:lpstr>Memory, not the checklist, drives the gain</vt:lpstr>
      <vt:lpstr>What we still need to check</vt:lpstr>
      <vt:lpstr>References</vt:lpstr>
      <vt:lpstr>For a small model, memory should give code, not advice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Long-term memory for a small website generator</dc:title>
  <dc:subject/>
  <dc:creator/>
  <cp:lastModifiedBy>Qiaopan Ma</cp:lastModifiedBy>
  <cp:revision>2</cp:revision>
  <dcterms:created xsi:type="dcterms:W3CDTF">2026-10-13T06:48:37Z</dcterms:created>
  <dcterms:modified xsi:type="dcterms:W3CDTF">2026-10-13T07:00:15Z</dcterms:modified>
</cp:coreProperties>
</file>