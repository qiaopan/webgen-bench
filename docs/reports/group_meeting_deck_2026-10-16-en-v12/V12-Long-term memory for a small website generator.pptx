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9" r:id="rId7"/>
    <p:sldId id="260" r:id="rId8"/>
    <p:sldId id="273" r:id="rId9"/>
    <p:sldId id="261" r:id="rId10"/>
    <p:sldId id="262" r:id="rId11"/>
    <p:sldId id="271" r:id="rId12"/>
    <p:sldId id="263" r:id="rId13"/>
    <p:sldId id="264" r:id="rId14"/>
    <p:sldId id="265" r:id="rId15"/>
    <p:sldId id="270"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generator is WebGen-LM-7B: Qwen2.5-Coder-7B fine-tuned by the benchmark authors on Bolt trajectories, so it already knows Bolt's format. Everything is self-hosted on two H200 GPUs on the school cluster, with no paid API. One task takes about twelve minutes with memory.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task, a solar dashboard. Without memory, the model imports a chart library that is not installed, so the page shows only an error and every test fails. This is the most common way the 7B model scores zero. With memory, the prompt carried a short working code example, and every test passed.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versions fall into three families. Text memory gives lessons as text; the small model mostly ignores them: 30.9 percent. Code memory adds short code examples from our own working sites: 40 percent. The final version uses only checked fragments, never whole files. And the checklist alone, without memory,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result. Without memory: 28.5 percent and 30 zero-score tasks. With whole-file code memory: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its interval includes zero. Adding memory on top adds 8.1 points, and its interval excludes zero.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With memory, order matters, because each task only sees earlier ones. In two new orders, one keeping same-domain tasks together and one fully random, whole-file code memory gained only about 4.5 points: one whole-file example was copied as a finished answer, giving the empty starter project. With fragments only, the gain is 7.4 points in the grouped order, where the interval excludes zero, and 5.5 in the random 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shuffled with domains grouped; fully random)</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code memory (whole-file),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Code memory, whole-file and fragments, in the same 2 new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more grouped order, and one alternating domains every task: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3"/>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4"/>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2365470570"/>
              </p:ext>
            </p:extLst>
          </p:nvPr>
        </p:nvGraphicFramePr>
        <p:xfrm>
          <a:off x="689113" y="2332383"/>
          <a:ext cx="10690088" cy="2514671"/>
        </p:xfrm>
        <a:graphic>
          <a:graphicData uri="http://schemas.openxmlformats.org/drawingml/2006/table">
            <a:tbl>
              <a:tblPr/>
              <a:tblGrid>
                <a:gridCol w="2138018">
                  <a:extLst>
                    <a:ext uri="{9D8B030D-6E8A-4147-A177-3AD203B41FA5}">
                      <a16:colId xmlns:a16="http://schemas.microsoft.com/office/drawing/2014/main" val="20000"/>
                    </a:ext>
                  </a:extLst>
                </a:gridCol>
                <a:gridCol w="2886324">
                  <a:extLst>
                    <a:ext uri="{9D8B030D-6E8A-4147-A177-3AD203B41FA5}">
                      <a16:colId xmlns:a16="http://schemas.microsoft.com/office/drawing/2014/main" val="20001"/>
                    </a:ext>
                  </a:extLst>
                </a:gridCol>
                <a:gridCol w="3313927">
                  <a:extLst>
                    <a:ext uri="{9D8B030D-6E8A-4147-A177-3AD203B41FA5}">
                      <a16:colId xmlns:a16="http://schemas.microsoft.com/office/drawing/2014/main" val="20002"/>
                    </a:ext>
                  </a:extLst>
                </a:gridCol>
                <a:gridCol w="2351819">
                  <a:extLst>
                    <a:ext uri="{9D8B030D-6E8A-4147-A177-3AD203B41FA5}">
                      <a16:colId xmlns:a16="http://schemas.microsoft.com/office/drawing/2014/main" val="20003"/>
                    </a:ext>
                  </a:extLst>
                </a:gridCol>
              </a:tblGrid>
              <a:tr h="442738">
                <a:tc>
                  <a:txBody>
                    <a:bodyPr/>
                    <a:lstStyle/>
                    <a:p>
                      <a:r>
                        <a:rPr sz="1200" b="1">
                          <a:solidFill>
                            <a:srgbClr val="14213D"/>
                          </a:solidFill>
                          <a:latin typeface="Arial"/>
                        </a:rPr>
                        <a:t>Design</a:t>
                      </a:r>
                    </a:p>
                  </a:txBody>
                  <a:tcPr marL="60000" marR="60000" marT="40000" marB="40000">
                    <a:solidFill>
                      <a:srgbClr val="EEF2F8"/>
                    </a:solidFill>
                  </a:tcPr>
                </a:tc>
                <a:tc>
                  <a:txBody>
                    <a:bodyPr/>
                    <a:lstStyle/>
                    <a:p>
                      <a:r>
                        <a:rPr sz="1200" b="1">
                          <a:solidFill>
                            <a:srgbClr val="14213D"/>
                          </a:solidFill>
                          <a:latin typeface="Arial"/>
                        </a:rPr>
                        <a:t>What memory gives the model</a:t>
                      </a:r>
                    </a:p>
                  </a:txBody>
                  <a:tcPr marL="60000" marR="60000" marT="40000" marB="40000">
                    <a:solidFill>
                      <a:srgbClr val="EEF2F8"/>
                    </a:solidFill>
                  </a:tcPr>
                </a:tc>
                <a:tc>
                  <a:txBody>
                    <a:bodyPr/>
                    <a:lstStyle/>
                    <a:p>
                      <a:r>
                        <a:rPr sz="1200" b="1">
                          <a:solidFill>
                            <a:srgbClr val="14213D"/>
                          </a:solidFill>
                          <a:latin typeface="Arial"/>
                        </a:rPr>
                        <a:t>Why we moved on</a:t>
                      </a:r>
                    </a:p>
                  </a:txBody>
                  <a:tcPr marL="60000" marR="60000" marT="40000" marB="40000">
                    <a:solidFill>
                      <a:srgbClr val="EEF2F8"/>
                    </a:solidFill>
                  </a:tcPr>
                </a:tc>
                <a:tc>
                  <a:txBody>
                    <a:bodyPr/>
                    <a:lstStyle/>
                    <a:p>
                      <a:r>
                        <a:rPr sz="1200" b="1">
                          <a:solidFill>
                            <a:srgbClr val="14213D"/>
                          </a:solidFill>
                          <a:latin typeface="Arial"/>
                        </a:rPr>
                        <a:t>Result (101 tasks)</a:t>
                      </a:r>
                    </a:p>
                  </a:txBody>
                  <a:tcPr marL="60000" marR="60000" marT="40000" marB="40000">
                    <a:solidFill>
                      <a:srgbClr val="EEF2F8"/>
                    </a:solidFill>
                  </a:tcPr>
                </a:tc>
                <a:extLst>
                  <a:ext uri="{0D108BD9-81ED-4DB2-BD59-A6C34878D82A}">
                    <a16:rowId xmlns:a16="http://schemas.microsoft.com/office/drawing/2014/main" val="10000"/>
                  </a:ext>
                </a:extLst>
              </a:tr>
              <a:tr h="543065">
                <a:tc>
                  <a:txBody>
                    <a:bodyPr/>
                    <a:lstStyle/>
                    <a:p>
                      <a:r>
                        <a:rPr sz="1200" b="0">
                          <a:solidFill>
                            <a:srgbClr val="14213D"/>
                          </a:solidFill>
                          <a:latin typeface="Arial"/>
                        </a:rPr>
                        <a:t>Text memory</a:t>
                      </a:r>
                    </a:p>
                  </a:txBody>
                  <a:tcPr marL="60000" marR="60000" marT="40000" marB="40000">
                    <a:solidFill>
                      <a:srgbClr val="FFFFFF"/>
                    </a:solidFill>
                  </a:tcPr>
                </a:tc>
                <a:tc>
                  <a:txBody>
                    <a:bodyPr/>
                    <a:lstStyle/>
                    <a:p>
                      <a:r>
                        <a:rPr sz="1200" b="0">
                          <a:solidFill>
                            <a:srgbClr val="14213D"/>
                          </a:solidFill>
                          <a:latin typeface="Arial"/>
                        </a:rPr>
                        <a:t>Checklist + text lessons</a:t>
                      </a:r>
                    </a:p>
                  </a:txBody>
                  <a:tcPr marL="60000" marR="60000" marT="40000" marB="40000">
                    <a:solidFill>
                      <a:srgbClr val="FFFFFF"/>
                    </a:solidFill>
                  </a:tcPr>
                </a:tc>
                <a:tc>
                  <a:txBody>
                    <a:bodyPr/>
                    <a:lstStyle/>
                    <a:p>
                      <a:r>
                        <a:rPr sz="1200" b="0">
                          <a:solidFill>
                            <a:srgbClr val="14213D"/>
                          </a:solidFill>
                          <a:latin typeface="Arial"/>
                        </a:rPr>
                        <a:t>Vague text piles up; the 7B model ignores it</a:t>
                      </a:r>
                    </a:p>
                  </a:txBody>
                  <a:tcPr marL="60000" marR="60000" marT="40000" marB="40000">
                    <a:solidFill>
                      <a:srgbClr val="FFFFFF"/>
                    </a:solidFill>
                  </a:tcPr>
                </a:tc>
                <a:tc>
                  <a:txBody>
                    <a:bodyPr/>
                    <a:lstStyle/>
                    <a:p>
                      <a:r>
                        <a:rPr sz="1200" b="0">
                          <a:solidFill>
                            <a:srgbClr val="14213D"/>
                          </a:solidFill>
                          <a:latin typeface="Arial"/>
                        </a:rPr>
                        <a:t>30.9%; below NM after task 30</a:t>
                      </a:r>
                    </a:p>
                  </a:txBody>
                  <a:tcPr marL="60000" marR="60000" marT="40000" marB="40000">
                    <a:solidFill>
                      <a:srgbClr val="FFFFFF"/>
                    </a:solidFill>
                  </a:tcPr>
                </a:tc>
                <a:extLst>
                  <a:ext uri="{0D108BD9-81ED-4DB2-BD59-A6C34878D82A}">
                    <a16:rowId xmlns:a16="http://schemas.microsoft.com/office/drawing/2014/main" val="10001"/>
                  </a:ext>
                </a:extLst>
              </a:tr>
              <a:tr h="543065">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Checklist + code examples, some whole files</a:t>
                      </a:r>
                    </a:p>
                  </a:txBody>
                  <a:tcPr marL="60000" marR="60000" marT="40000" marB="40000">
                    <a:solidFill>
                      <a:srgbClr val="FFFFFF"/>
                    </a:solidFill>
                  </a:tcPr>
                </a:tc>
                <a:tc>
                  <a:txBody>
                    <a:bodyPr/>
                    <a:lstStyle/>
                    <a:p>
                      <a:r>
                        <a:rPr sz="1200" b="0">
                          <a:solidFill>
                            <a:srgbClr val="14213D"/>
                          </a:solidFill>
                          <a:latin typeface="Arial"/>
                        </a:rPr>
                        <a:t>Whole-file examples caused blank sites in new orders</a:t>
                      </a:r>
                    </a:p>
                  </a:txBody>
                  <a:tcPr marL="60000" marR="60000" marT="40000" marB="40000">
                    <a:solidFill>
                      <a:srgbClr val="FFFFFF"/>
                    </a:solidFill>
                  </a:tcPr>
                </a:tc>
                <a:tc>
                  <a:txBody>
                    <a:bodyPr/>
                    <a:lstStyle/>
                    <a:p>
                      <a:r>
                        <a:rPr sz="1200" b="0">
                          <a:solidFill>
                            <a:srgbClr val="14213D"/>
                          </a:solidFill>
                          <a:latin typeface="Arial"/>
                        </a:rPr>
                        <a:t>40.0%, +11.5</a:t>
                      </a:r>
                    </a:p>
                  </a:txBody>
                  <a:tcPr marL="60000" marR="60000" marT="40000" marB="40000">
                    <a:solidFill>
                      <a:srgbClr val="FFFFFF"/>
                    </a:solidFill>
                  </a:tcPr>
                </a:tc>
                <a:extLst>
                  <a:ext uri="{0D108BD9-81ED-4DB2-BD59-A6C34878D82A}">
                    <a16:rowId xmlns:a16="http://schemas.microsoft.com/office/drawing/2014/main" val="10002"/>
                  </a:ext>
                </a:extLst>
              </a:tr>
              <a:tr h="543065">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Final method: only checked fragments</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1">
                          <a:solidFill>
                            <a:srgbClr val="14213D"/>
                          </a:solidFill>
                          <a:latin typeface="Arial"/>
                        </a:rPr>
                        <a:t>Domains grouped: +7.4; fully random: +5.5</a:t>
                      </a:r>
                    </a:p>
                  </a:txBody>
                  <a:tcPr marL="60000" marR="60000" marT="40000" marB="40000">
                    <a:solidFill>
                      <a:srgbClr val="FFFFFF"/>
                    </a:solidFill>
                  </a:tcPr>
                </a:tc>
                <a:extLst>
                  <a:ext uri="{0D108BD9-81ED-4DB2-BD59-A6C34878D82A}">
                    <a16:rowId xmlns:a16="http://schemas.microsoft.com/office/drawing/2014/main" val="10003"/>
                  </a:ext>
                </a:extLst>
              </a:tr>
              <a:tr h="442738">
                <a:tc>
                  <a:txBody>
                    <a:bodyPr/>
                    <a:lstStyle/>
                    <a:p>
                      <a:r>
                        <a:rPr sz="1200" b="0">
                          <a:solidFill>
                            <a:srgbClr val="14213D"/>
                          </a:solidFill>
                          <a:latin typeface="Arial"/>
                        </a:rPr>
                        <a:t>Ablation: checklist only</a:t>
                      </a:r>
                    </a:p>
                  </a:txBody>
                  <a:tcPr marL="60000" marR="60000" marT="40000" marB="40000">
                    <a:solidFill>
                      <a:srgbClr val="FFFFFF"/>
                    </a:solidFill>
                  </a:tcPr>
                </a:tc>
                <a:tc>
                  <a:txBody>
                    <a:bodyPr/>
                    <a:lstStyle/>
                    <a:p>
                      <a:r>
                        <a:rPr sz="1200" b="0" dirty="0">
                          <a:solidFill>
                            <a:srgbClr val="14213D"/>
                          </a:solidFill>
                          <a:latin typeface="Arial"/>
                        </a:rPr>
                        <a:t>Checklist, memory turned off</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0" dirty="0">
                          <a:solidFill>
                            <a:srgbClr val="14213D"/>
                          </a:solidFill>
                          <a:latin typeface="Arial"/>
                        </a:rPr>
                        <a:t>31.8% (+3.4, CI includes 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(whole-file)</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two new orders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2113040"/>
        </p:xfrm>
        <a:graphic>
          <a:graphicData uri="http://schemas.openxmlformats.org/drawingml/2006/table">
            <a:tbl>
              <a:tblPr/>
              <a:tblGrid>
                <a:gridCol w="1666373">
                  <a:extLst>
                    <a:ext uri="{9D8B030D-6E8A-4147-A177-3AD203B41FA5}">
                      <a16:colId xmlns:a16="http://schemas.microsoft.com/office/drawing/2014/main" val="20000"/>
                    </a:ext>
                  </a:extLst>
                </a:gridCol>
                <a:gridCol w="1555282">
                  <a:extLst>
                    <a:ext uri="{9D8B030D-6E8A-4147-A177-3AD203B41FA5}">
                      <a16:colId xmlns:a16="http://schemas.microsoft.com/office/drawing/2014/main" val="20001"/>
                    </a:ext>
                  </a:extLst>
                </a:gridCol>
                <a:gridCol w="2888381">
                  <a:extLst>
                    <a:ext uri="{9D8B030D-6E8A-4147-A177-3AD203B41FA5}">
                      <a16:colId xmlns:a16="http://schemas.microsoft.com/office/drawing/2014/main" val="20002"/>
                    </a:ext>
                  </a:extLst>
                </a:gridCol>
                <a:gridCol w="2888381">
                  <a:extLst>
                    <a:ext uri="{9D8B030D-6E8A-4147-A177-3AD203B41FA5}">
                      <a16:colId xmlns:a16="http://schemas.microsoft.com/office/drawing/2014/main" val="20003"/>
                    </a:ext>
                  </a:extLst>
                </a:gridCol>
                <a:gridCol w="1555282">
                  <a:extLst>
                    <a:ext uri="{9D8B030D-6E8A-4147-A177-3AD203B41FA5}">
                      <a16:colId xmlns:a16="http://schemas.microsoft.com/office/drawing/2014/main" val="20004"/>
                    </a:ext>
                  </a:extLst>
                </a:gridCol>
              </a:tblGrid>
              <a:tr h="330000">
                <a:tc>
                  <a:txBody>
                    <a:bodyPr/>
                    <a:lstStyle/>
                    <a:p>
                      <a:r>
                        <a:rPr sz="1200" b="1">
                          <a:solidFill>
                            <a:srgbClr val="14213D"/>
                          </a:solidFill>
                          <a:latin typeface="Arial"/>
                        </a:rPr>
                        <a:t>Task order</a:t>
                      </a:r>
                    </a:p>
                  </a:txBody>
                  <a:tcPr marL="60000" marR="60000" marT="40000" marB="40000">
                    <a:solidFill>
                      <a:srgbClr val="EEF2F8"/>
                    </a:solidFill>
                  </a:tcPr>
                </a:tc>
                <a:tc>
                  <a:txBody>
                    <a:bodyPr/>
                    <a:lstStyle/>
                    <a:p>
                      <a:r>
                        <a:rPr sz="1200" b="1">
                          <a:solidFill>
                            <a:srgbClr val="14213D"/>
                          </a:solidFill>
                          <a:latin typeface="Arial"/>
                        </a:rPr>
                        <a:t>Version</a:t>
                      </a:r>
                    </a:p>
                  </a:txBody>
                  <a:tcPr marL="60000" marR="60000" marT="40000" marB="40000">
                    <a:solidFill>
                      <a:srgbClr val="EEF2F8"/>
                    </a:solidFill>
                  </a:tcPr>
                </a:tc>
                <a:tc>
                  <a:txBody>
                    <a:bodyPr/>
                    <a:lstStyle/>
                    <a:p>
                      <a:r>
                        <a:rPr sz="1200" b="1">
                          <a:solidFill>
                            <a:srgbClr val="14213D"/>
                          </a:solidFill>
                          <a:latin typeface="Arial"/>
                        </a:rPr>
                        <a:t>Code example in memory</a:t>
                      </a:r>
                    </a:p>
                  </a:txBody>
                  <a:tcPr marL="60000" marR="60000" marT="40000" marB="40000">
                    <a:solidFill>
                      <a:srgbClr val="EEF2F8"/>
                    </a:solidFill>
                  </a:tcPr>
                </a:tc>
                <a:tc>
                  <a:txBody>
                    <a:bodyPr/>
                    <a:lstStyle/>
                    <a:p>
                      <a:r>
                        <a:rPr sz="1200" b="1">
                          <a:solidFill>
                            <a:srgbClr val="14213D"/>
                          </a:solidFill>
                          <a:latin typeface="Arial"/>
                        </a:rPr>
                        <a:t>Gain vs No Memory (95% CI)</a:t>
                      </a:r>
                    </a:p>
                  </a:txBody>
                  <a:tcPr marL="60000" marR="60000" marT="40000" marB="40000">
                    <a:solidFill>
                      <a:srgbClr val="EEF2F8"/>
                    </a:solidFill>
                  </a:tcPr>
                </a:tc>
                <a:tc>
                  <a:txBody>
                    <a:bodyPr/>
                    <a:lstStyle/>
                    <a:p>
                      <a:r>
                        <a:rPr sz="1200" b="1">
                          <a:solidFill>
                            <a:srgbClr val="14213D"/>
                          </a:solidFill>
                          <a:latin typeface="Arial"/>
                        </a:rPr>
                        <a:t>Blank scaffolds</a:t>
                      </a:r>
                    </a:p>
                  </a:txBody>
                  <a:tcPr marL="60000" marR="60000" marT="40000" marB="40000">
                    <a:solidFill>
                      <a:srgbClr val="EEF2F8"/>
                    </a:solidFill>
                  </a:tcPr>
                </a:tc>
                <a:extLst>
                  <a:ext uri="{0D108BD9-81ED-4DB2-BD59-A6C34878D82A}">
                    <a16:rowId xmlns:a16="http://schemas.microsoft.com/office/drawing/2014/main" val="10000"/>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+4.4 (−1.9 to 10.6)</a:t>
                      </a:r>
                    </a:p>
                  </a:txBody>
                  <a:tcPr marL="60000" marR="60000" marT="40000" marB="40000">
                    <a:solidFill>
                      <a:srgbClr val="FFFFFF"/>
                    </a:solidFill>
                  </a:tcPr>
                </a:tc>
                <a:tc>
                  <a:txBody>
                    <a:bodyPr/>
                    <a:lstStyle/>
                    <a:p>
                      <a:r>
                        <a:rPr sz="1200" b="0">
                          <a:solidFill>
                            <a:srgbClr val="14213D"/>
                          </a:solidFill>
                          <a:latin typeface="Arial"/>
                        </a:rPr>
                        <a:t>19</a:t>
                      </a:r>
                    </a:p>
                  </a:txBody>
                  <a:tcPr marL="60000" marR="60000" marT="40000" marB="40000">
                    <a:solidFill>
                      <a:srgbClr val="FFFFFF"/>
                    </a:solidFill>
                  </a:tcPr>
                </a:tc>
                <a:extLst>
                  <a:ext uri="{0D108BD9-81ED-4DB2-BD59-A6C34878D82A}">
                    <a16:rowId xmlns:a16="http://schemas.microsoft.com/office/drawing/2014/main" val="10001"/>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+7.4 (1.6 to 13.1)</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2"/>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+4.5 (−2.2 to 11.3)</a:t>
                      </a:r>
                    </a:p>
                  </a:txBody>
                  <a:tcPr marL="60000" marR="60000" marT="40000" marB="40000">
                    <a:solidFill>
                      <a:srgbClr val="FFFFFF"/>
                    </a:solidFill>
                  </a:tcPr>
                </a:tc>
                <a:tc>
                  <a:txBody>
                    <a:bodyPr/>
                    <a:lstStyle/>
                    <a:p>
                      <a:r>
                        <a:rPr sz="1200" b="0">
                          <a:solidFill>
                            <a:srgbClr val="14213D"/>
                          </a:solidFill>
                          <a:latin typeface="Arial"/>
                        </a:rPr>
                        <a:t>16</a:t>
                      </a:r>
                    </a:p>
                  </a:txBody>
                  <a:tcPr marL="60000" marR="60000" marT="40000" marB="40000">
                    <a:solidFill>
                      <a:srgbClr val="FFFFFF"/>
                    </a:solidFill>
                  </a:tcPr>
                </a:tc>
                <a:extLst>
                  <a:ext uri="{0D108BD9-81ED-4DB2-BD59-A6C34878D82A}">
                    <a16:rowId xmlns:a16="http://schemas.microsoft.com/office/drawing/2014/main" val="10003"/>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0">
                          <a:solidFill>
                            <a:srgbClr val="14213D"/>
                          </a:solidFill>
                          <a:latin typeface="Arial"/>
                        </a:rPr>
                        <a:t>+5.5 (−0.5 to 11.6)</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pic>
        <p:nvPicPr>
          <p:cNvPr id="5" name="Picture 4" descr="gap_order_seed11_v91.png"/>
          <p:cNvPicPr>
            <a:picLocks noChangeAspect="1"/>
          </p:cNvPicPr>
          <p:nvPr/>
        </p:nvPicPr>
        <p:blipFill>
          <a:blip r:embed="rId3"/>
          <a:stretch>
            <a:fillRect/>
          </a:stretch>
        </p:blipFill>
        <p:spPr>
          <a:xfrm>
            <a:off x="692978" y="39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tuned on the same 101 tasks (checked on 2 new orders)</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3015</Words>
  <Application>Microsoft Macintosh PowerPoint</Application>
  <PresentationFormat>宽屏</PresentationFormat>
  <Paragraphs>251</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A small model trained for this tool, on two H200 GPUs</vt:lpstr>
      <vt:lpstr>11 full runs × 101 tasks: about 1,100 websites and 7,000 checks</vt:lpstr>
      <vt:lpstr>Text lessons helped early, then fell below the baseline</vt:lpstr>
      <vt:lpstr>One missing package turns the whole site into an error page</vt:lpstr>
      <vt:lpstr>The small model follows code, not text</vt:lpstr>
      <vt:lpstr>Two parts: a checklist and a code pool</vt:lpstr>
      <vt:lpstr>Text memory → code memory (whole-file) → code memory (fragments)</vt:lpstr>
      <vt:lpstr>Accuracy rises from 28.5% to 40.0%</vt:lpstr>
      <vt:lpstr>Only the code-pool version keeps its lead</vt:lpstr>
      <vt:lpstr>Memory, not the checklist, drives the gain</vt:lpstr>
      <vt:lpstr>A whole-file example caused blank sites; checked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7</cp:revision>
  <dcterms:created xsi:type="dcterms:W3CDTF">2026-10-13T06:48:37Z</dcterms:created>
  <dcterms:modified xsi:type="dcterms:W3CDTF">2026-10-15T13:14:12Z</dcterms:modified>
</cp:coreProperties>
</file>