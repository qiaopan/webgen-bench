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2" r:id="rId6"/>
    <p:sldId id="269" r:id="rId7"/>
    <p:sldId id="260" r:id="rId8"/>
    <p:sldId id="273" r:id="rId9"/>
    <p:sldId id="261" r:id="rId10"/>
    <p:sldId id="262" r:id="rId11"/>
    <p:sldId id="271" r:id="rId12"/>
    <p:sldId id="263" r:id="rId13"/>
    <p:sldId id="264" r:id="rId14"/>
    <p:sldId id="265" r:id="rId15"/>
    <p:sldId id="270" r:id="rId16"/>
    <p:sldId id="266" r:id="rId17"/>
    <p:sldId id="267" r:id="rId18"/>
    <p:sldId id="268"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0588"/>
  </p:normalViewPr>
  <p:slideViewPr>
    <p:cSldViewPr snapToGrid="0" snapToObjects="1">
      <p:cViewPr varScale="1">
        <p:scale>
          <a:sx n="97" d="100"/>
          <a:sy n="97" d="100"/>
        </p:scale>
        <p:origin x="13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39251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everyone. I am Qiaopan. My question: can long-term memory help a small model build better websites, and should that memory be text or code?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7B model builds 101 websites, one after another, on WebGen-Bench. A GUI agent tests each site. With long-term memory, the system writes down what went wrong after each task, and later tasks reuse it. Does the model get better with experience?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top row is the official pipeline: request, generator, testers, score. Our memory, in blue, reflects after each task and adds a checklist and code examples before the next one. Everything else stays the same.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models run on our own cluster. The generator gets one try with no repair. Accuracy counts pass as one and partial as half. Our No Memory baseline gives 28.5 percent; the paper reports 28.4, so the pipeline is faithful.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generator is WebGen-LM-7B: Qwen2.5-Coder-7B fine-tuned by the benchmark authors on Bolt trajectories, so it already knows Bolt's format. Everything is self-hosted on two H200 GPUs on the school cluster, with no paid API. One task takes about twelve minutes with memory.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the size of the study. Each run builds all 101 websites. We have eleven full runs: about one thousand one hundred websites and seven thousand checks. No Memory was run in three task orders, to measure how much the baseline itself varies. The remaining runs now use two lanes in parallel, so they finish this weekend; a stronger 32B generator follows.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first attempt, text memory, used text lessons. They helped on the first 30 tasks, but by the end text memory fell below No Memory, because vague advice filled the prompt and the small model could not act on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 task, a solar dashboard. Without memory, the model imports a chart library that is not installed, so the page shows only an error and every test fails. This is the most common way the 7B model scores zero. With memory, the prompt carried a short working code example, and every test passed.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led to our key finding. Many sites were blank because they used a package that was not installed. A text tip fixed one in three. A ten-line code example fixed seven in nine. The small model follows code, not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whole-file code memory has two parts. A checklist that splits the request, and a code pool: when an error appears in two tasks, we take a short working fragment from our own earlier sites, checked by a compiler.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versions fall into three families. Text memory gives lessons as text; the small model mostly ignores them: 30.9 percent. Code memory adds short code examples from our own working sites: 40 percent. The final version uses only checked fragments, never whole files. And the checklist alone, without memory, helps only a little.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main result. Without memory: 28.5 percent and 30 zero-score tasks. With whole-file code memory: 40 percent and 13. Paired by task, the gain is 11.5 points, and the 95 percent confidence interval, 6 to 16.9, does not include zero.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learning curve, in execution order. Text memory, in orange, starts high and then falls below No Memory. Code memory, in blue, keeps its lead to the end. So the gain grows with experience, it is not only an early boost.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ablation adds one part at a time. The checklist alone adds 3.4 points, and its interval includes zero. Adding memory on top adds 8.1 points, and its interval excludes zero. So most of the gain comes from memory.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With memory, order matters, because each task only sees earlier ones. In two shuffled orders, whole-file code memory gained only about 4.5 points: one whole-file example was copied as a finished answer, giving the empty starter project. With fragments only, the gain is 7.4 points on seed 11, where the interval excludes zero, and 5.5 on seed 29.</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limits. Each order has one run, as in the original paper. The gain is in features, not in look. We used one model and one tool, and the method was developed on this benchmark. Next: the last runs finish this weekend, the 32B generator after that, and the thesis draft goes to my supervisor on Monday.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main references.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for a small model, memory should give code, not advice. Accuracy rises from 28.5 to 40 percent, and most of the gain comes from memory. Thank you.</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14090"/>
            <a:ext cx="10566400" cy="438150"/>
          </a:xfrm>
          <a:prstGeom prst="rect">
            <a:avLst/>
          </a:prstGeom>
          <a:noFill/>
          <a:ln/>
        </p:spPr>
        <p:txBody>
          <a:bodyPr wrap="square" lIns="0" tIns="0" rIns="0" bIns="0" rtlCol="0" anchor="t"/>
          <a:lstStyle>
            <a:lvl1pPr marL="0" indent="0" algn="l">
              <a:lnSpc>
                <a:spcPct val="115000"/>
              </a:lnSpc>
              <a:buNone/>
              <a:defRPr lang="en-US" sz="3000" dirty="0">
                <a:solidFill>
                  <a:srgbClr val="14213D"/>
                </a:solidFill>
                <a:latin typeface="Georgia" pitchFamily="34" charset="0"/>
                <a:ea typeface="Georgia" pitchFamily="34" charset="-122"/>
                <a:cs typeface="Georgia" pitchFamily="34" charset="-120"/>
              </a:defRPr>
            </a:lvl1pPr>
          </a:lstStyle>
          <a:p>
            <a:pPr marL="0" indent="0" algn="l">
              <a:lnSpc>
                <a:spcPct val="115000"/>
              </a:lnSpc>
              <a:buNone/>
            </a:pPr>
            <a:endParaRPr lang="en-US" sz="3000" dirty="0"/>
          </a:p>
        </p:txBody>
      </p:sp>
      <p:sp>
        <p:nvSpPr>
          <p:cNvPr id="3" name="Text Placeholder 2"/>
          <p:cNvSpPr>
            <a:spLocks noGrp="1"/>
          </p:cNvSpPr>
          <p:nvPr>
            <p:ph type="body" idx="101"/>
          </p:nvPr>
        </p:nvSpPr>
        <p:spPr>
          <a:xfrm>
            <a:off x="812800" y="1957040"/>
            <a:ext cx="10566400" cy="408816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14090"/>
            <a:ext cx="10566400" cy="438150"/>
          </a:xfrm>
          <a:prstGeom prst="rect">
            <a:avLst/>
          </a:prstGeom>
          <a:noFill/>
          <a:ln/>
        </p:spPr>
        <p:txBody>
          <a:bodyPr wrap="square" lIns="0" tIns="0" rIns="0" bIns="0" rtlCol="0" anchor="t"/>
          <a:lstStyle>
            <a:lvl1pPr marL="0" indent="0" algn="l">
              <a:lnSpc>
                <a:spcPct val="115000"/>
              </a:lnSpc>
              <a:buNone/>
              <a:defRPr lang="en-US" sz="3000" dirty="0">
                <a:solidFill>
                  <a:srgbClr val="14213D"/>
                </a:solidFill>
                <a:latin typeface="Georgia" pitchFamily="34" charset="0"/>
                <a:ea typeface="Georgia" pitchFamily="34" charset="-122"/>
                <a:cs typeface="Georgia" pitchFamily="34" charset="-120"/>
              </a:defRPr>
            </a:lvl1pPr>
          </a:lstStyle>
          <a:p>
            <a:pPr marL="0" indent="0" algn="l">
              <a:lnSpc>
                <a:spcPct val="115000"/>
              </a:lnSpc>
              <a:buNone/>
            </a:pPr>
            <a:endParaRPr lang="en-US" sz="3000" dirty="0"/>
          </a:p>
        </p:txBody>
      </p:sp>
      <p:sp>
        <p:nvSpPr>
          <p:cNvPr id="3" name="Text Placeholder 2"/>
          <p:cNvSpPr>
            <a:spLocks noGrp="1"/>
          </p:cNvSpPr>
          <p:nvPr>
            <p:ph type="body" idx="101"/>
          </p:nvPr>
        </p:nvSpPr>
        <p:spPr>
          <a:xfrm>
            <a:off x="812800" y="1957040"/>
            <a:ext cx="10566400" cy="408816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207015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FB8EE"/>
                </a:solidFill>
                <a:latin typeface="Arial" pitchFamily="34" charset="0"/>
                <a:ea typeface="Arial" pitchFamily="34" charset="-122"/>
                <a:cs typeface="Arial" pitchFamily="34" charset="-120"/>
              </a:rPr>
              <a:t>Group meeting · WebGen-Bench</a:t>
            </a:r>
            <a:endParaRPr lang="en-US" sz="1400" dirty="0"/>
          </a:p>
        </p:txBody>
      </p:sp>
      <p:sp>
        <p:nvSpPr>
          <p:cNvPr id="3" name="Text 1"/>
          <p:cNvSpPr>
            <a:spLocks noGrp="1"/>
          </p:cNvSpPr>
          <p:nvPr>
            <p:ph type="title"/>
          </p:nvPr>
        </p:nvSpPr>
        <p:spPr>
          <a:xfrm>
            <a:off x="812800" y="2573040"/>
            <a:ext cx="10883392" cy="1198860"/>
          </a:xfrm>
          <a:prstGeom prst="rect">
            <a:avLst/>
          </a:prstGeom>
          <a:noFill/>
          <a:ln/>
        </p:spPr>
        <p:txBody>
          <a:bodyPr wrap="square" lIns="0" tIns="0" rIns="0" bIns="0" rtlCol="0" anchor="t">
            <a:normAutofit/>
          </a:bodyPr>
          <a:lstStyle/>
          <a:p>
            <a:pPr marL="0" indent="0" algn="l">
              <a:lnSpc>
                <a:spcPts val="4620"/>
              </a:lnSpc>
              <a:buNone/>
            </a:pPr>
            <a:r>
              <a:rPr lang="en-US" sz="4200" b="1" i="0" dirty="0">
                <a:solidFill>
                  <a:srgbClr val="F4F1EA"/>
                </a:solidFill>
                <a:latin typeface="Georgia" pitchFamily="18" charset="0"/>
                <a:ea typeface="Georgia" pitchFamily="18" charset="-122"/>
                <a:cs typeface="Georgia" pitchFamily="18" charset="-120"/>
              </a:rPr>
              <a:t>Can long-term memory help a small model build better websites?</a:t>
            </a:r>
            <a:endParaRPr lang="en-US" sz="4200" dirty="0"/>
          </a:p>
        </p:txBody>
      </p:sp>
      <p:sp>
        <p:nvSpPr>
          <p:cNvPr id="4" name="Text 2"/>
          <p:cNvSpPr/>
          <p:nvPr/>
        </p:nvSpPr>
        <p:spPr>
          <a:xfrm>
            <a:off x="812800" y="400050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3E3"/>
                </a:solidFill>
                <a:latin typeface="Arial" pitchFamily="34" charset="0"/>
                <a:ea typeface="Arial" pitchFamily="34" charset="-122"/>
                <a:cs typeface="Arial" pitchFamily="34" charset="-120"/>
              </a:rPr>
              <a:t>Text lessons vs code examples</a:t>
            </a:r>
            <a:endParaRPr lang="en-US" sz="1600" dirty="0"/>
          </a:p>
        </p:txBody>
      </p:sp>
      <p:sp>
        <p:nvSpPr>
          <p:cNvPr id="5" name="Text 3"/>
          <p:cNvSpPr/>
          <p:nvPr/>
        </p:nvSpPr>
        <p:spPr>
          <a:xfrm>
            <a:off x="812800" y="453896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3E3"/>
                </a:solidFill>
                <a:latin typeface="Arial" pitchFamily="34" charset="0"/>
                <a:ea typeface="Arial" pitchFamily="34" charset="-122"/>
                <a:cs typeface="Arial" pitchFamily="34" charset="-120"/>
              </a:rPr>
              <a:t>Qiaopan Ma · Supervisor: Qian Liu · 16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The task and the question</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A 7B model builds 101 websites, one after another</a:t>
            </a:r>
            <a:endParaRPr lang="en-US" sz="3000" dirty="0"/>
          </a:p>
        </p:txBody>
      </p:sp>
      <p:sp>
        <p:nvSpPr>
          <p:cNvPr id="4" name="Shape 2"/>
          <p:cNvSpPr/>
          <p:nvPr/>
        </p:nvSpPr>
        <p:spPr>
          <a:xfrm>
            <a:off x="812800" y="1906240"/>
            <a:ext cx="5181600" cy="1741140"/>
          </a:xfrm>
          <a:prstGeom prst="roundRect">
            <a:avLst>
              <a:gd name="adj" fmla="val 5835"/>
            </a:avLst>
          </a:prstGeom>
          <a:solidFill>
            <a:srgbClr val="EEF3FA"/>
          </a:solidFill>
          <a:ln/>
        </p:spPr>
        <p:txBody>
          <a:bodyPr/>
          <a:lstStyle/>
          <a:p>
            <a:endParaRPr lang="zh-CN" altLang="en-US"/>
          </a:p>
        </p:txBody>
      </p:sp>
      <p:sp>
        <p:nvSpPr>
          <p:cNvPr id="5" name="Text 3"/>
          <p:cNvSpPr/>
          <p:nvPr/>
        </p:nvSpPr>
        <p:spPr>
          <a:xfrm>
            <a:off x="10668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Benchmark</a:t>
            </a:r>
            <a:endParaRPr lang="en-US" sz="1800" dirty="0"/>
          </a:p>
        </p:txBody>
      </p:sp>
      <p:sp>
        <p:nvSpPr>
          <p:cNvPr id="6" name="Text 4"/>
          <p:cNvSpPr/>
          <p:nvPr/>
        </p:nvSpPr>
        <p:spPr>
          <a:xfrm>
            <a:off x="1066800" y="2536130"/>
            <a:ext cx="4813808" cy="8826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WebGen-Bench: 101 website requests from 20 areas. A GUI agent clicks through each site and checks the features.</a:t>
            </a:r>
            <a:endParaRPr lang="en-US" sz="1500" dirty="0"/>
          </a:p>
        </p:txBody>
      </p:sp>
      <p:sp>
        <p:nvSpPr>
          <p:cNvPr id="7" name="Shape 5"/>
          <p:cNvSpPr/>
          <p:nvPr/>
        </p:nvSpPr>
        <p:spPr>
          <a:xfrm>
            <a:off x="6197600" y="1906240"/>
            <a:ext cx="5181600" cy="1741140"/>
          </a:xfrm>
          <a:prstGeom prst="roundRect">
            <a:avLst>
              <a:gd name="adj" fmla="val 5835"/>
            </a:avLst>
          </a:prstGeom>
          <a:solidFill>
            <a:srgbClr val="EEF3FA"/>
          </a:solidFill>
          <a:ln/>
        </p:spPr>
        <p:txBody>
          <a:bodyPr/>
          <a:lstStyle/>
          <a:p>
            <a:endParaRPr lang="zh-CN" altLang="en-US"/>
          </a:p>
        </p:txBody>
      </p:sp>
      <p:sp>
        <p:nvSpPr>
          <p:cNvPr id="8" name="Text 6"/>
          <p:cNvSpPr/>
          <p:nvPr/>
        </p:nvSpPr>
        <p:spPr>
          <a:xfrm>
            <a:off x="64516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Long-term memory</a:t>
            </a:r>
            <a:endParaRPr lang="en-US" sz="1800" dirty="0"/>
          </a:p>
        </p:txBody>
      </p:sp>
      <p:sp>
        <p:nvSpPr>
          <p:cNvPr id="9" name="Text 7"/>
          <p:cNvSpPr/>
          <p:nvPr/>
        </p:nvSpPr>
        <p:spPr>
          <a:xfrm>
            <a:off x="6451600" y="2536130"/>
            <a:ext cx="4813808" cy="59690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After each task, the system writes down what went wrong. Later tasks can reuse it.</a:t>
            </a:r>
            <a:endParaRPr lang="en-US" sz="1500" dirty="0"/>
          </a:p>
        </p:txBody>
      </p:sp>
      <p:sp>
        <p:nvSpPr>
          <p:cNvPr id="10" name="Text 8"/>
          <p:cNvSpPr/>
          <p:nvPr/>
        </p:nvSpPr>
        <p:spPr>
          <a:xfrm>
            <a:off x="812800" y="3901380"/>
            <a:ext cx="10883392" cy="32762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213D"/>
                </a:solidFill>
                <a:latin typeface="Arial" pitchFamily="34" charset="0"/>
                <a:ea typeface="Arial" pitchFamily="34" charset="-122"/>
                <a:cs typeface="Arial" pitchFamily="34" charset="-120"/>
              </a:rPr>
              <a:t>Question: does the model get better as it gains experience?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The big picture</a:t>
            </a:r>
            <a:endParaRPr lang="en-US" sz="1400" dirty="0"/>
          </a:p>
        </p:txBody>
      </p:sp>
      <p:sp>
        <p:nvSpPr>
          <p:cNvPr id="3" name="Text 1"/>
          <p:cNvSpPr>
            <a:spLocks noGrp="1"/>
          </p:cNvSpPr>
          <p:nvPr>
            <p:ph type="title"/>
          </p:nvPr>
        </p:nvSpPr>
        <p:spPr>
          <a:xfrm>
            <a:off x="812800" y="1061690"/>
            <a:ext cx="10883392" cy="43433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14213D"/>
                </a:solidFill>
                <a:latin typeface="Georgia" pitchFamily="18" charset="0"/>
                <a:ea typeface="Georgia" pitchFamily="18" charset="-122"/>
                <a:cs typeface="Georgia" pitchFamily="18" charset="-120"/>
              </a:rPr>
              <a:t>The official pipeline, and what Long Memory adds</a:t>
            </a:r>
            <a:endParaRPr lang="en-US" sz="2800" dirty="0"/>
          </a:p>
        </p:txBody>
      </p:sp>
      <p:sp>
        <p:nvSpPr>
          <p:cNvPr id="4" name="Text 2"/>
          <p:cNvSpPr/>
          <p:nvPr/>
        </p:nvSpPr>
        <p:spPr>
          <a:xfrm>
            <a:off x="812800" y="1727200"/>
            <a:ext cx="588645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6A7179"/>
                </a:solidFill>
                <a:latin typeface="Arial" pitchFamily="34" charset="0"/>
                <a:ea typeface="Arial" pitchFamily="34" charset="-122"/>
                <a:cs typeface="Arial" pitchFamily="34" charset="-120"/>
              </a:rPr>
              <a:t>WebGen-Bench baseline (No Memory)</a:t>
            </a:r>
            <a:endParaRPr lang="en-US" sz="1300" dirty="0"/>
          </a:p>
        </p:txBody>
      </p:sp>
      <p:sp>
        <p:nvSpPr>
          <p:cNvPr id="5" name="Shape 3"/>
          <p:cNvSpPr/>
          <p:nvPr/>
        </p:nvSpPr>
        <p:spPr>
          <a:xfrm>
            <a:off x="819150" y="2101850"/>
            <a:ext cx="20193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6" name="Text 4"/>
          <p:cNvSpPr/>
          <p:nvPr/>
        </p:nvSpPr>
        <p:spPr>
          <a:xfrm>
            <a:off x="952500" y="2340620"/>
            <a:ext cx="180517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Website request</a:t>
            </a:r>
            <a:endParaRPr lang="en-US" sz="1400" dirty="0"/>
          </a:p>
        </p:txBody>
      </p:sp>
      <p:sp>
        <p:nvSpPr>
          <p:cNvPr id="7" name="Text 5"/>
          <p:cNvSpPr/>
          <p:nvPr/>
        </p:nvSpPr>
        <p:spPr>
          <a:xfrm>
            <a:off x="952500" y="2589510"/>
            <a:ext cx="180517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Arial" pitchFamily="34" charset="0"/>
                <a:ea typeface="Arial" pitchFamily="34" charset="-122"/>
                <a:cs typeface="Arial" pitchFamily="34" charset="-120"/>
              </a:rPr>
              <a:t>text from the user</a:t>
            </a:r>
            <a:endParaRPr lang="en-US" sz="1200" dirty="0"/>
          </a:p>
        </p:txBody>
      </p:sp>
      <p:sp>
        <p:nvSpPr>
          <p:cNvPr id="8" name="Shape 6"/>
          <p:cNvSpPr/>
          <p:nvPr/>
        </p:nvSpPr>
        <p:spPr>
          <a:xfrm>
            <a:off x="3486150" y="2101850"/>
            <a:ext cx="20193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9" name="Text 7"/>
          <p:cNvSpPr/>
          <p:nvPr/>
        </p:nvSpPr>
        <p:spPr>
          <a:xfrm>
            <a:off x="3619500" y="2358380"/>
            <a:ext cx="180517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Generator</a:t>
            </a:r>
            <a:endParaRPr lang="en-US" sz="1400" dirty="0"/>
          </a:p>
        </p:txBody>
      </p:sp>
      <p:sp>
        <p:nvSpPr>
          <p:cNvPr id="10" name="Text 8"/>
          <p:cNvSpPr/>
          <p:nvPr/>
        </p:nvSpPr>
        <p:spPr>
          <a:xfrm>
            <a:off x="3619500" y="2607270"/>
            <a:ext cx="1805178" cy="20320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4A5568"/>
                </a:solidFill>
                <a:latin typeface="Arial" pitchFamily="34" charset="0"/>
                <a:ea typeface="Arial" pitchFamily="34" charset="-122"/>
                <a:cs typeface="Arial" pitchFamily="34" charset="-120"/>
              </a:rPr>
              <a:t>Bolt agent + WebGen-LM-7B</a:t>
            </a:r>
            <a:endParaRPr lang="en-US" sz="1000" dirty="0"/>
          </a:p>
        </p:txBody>
      </p:sp>
      <p:sp>
        <p:nvSpPr>
          <p:cNvPr id="11" name="Shape 9"/>
          <p:cNvSpPr/>
          <p:nvPr/>
        </p:nvSpPr>
        <p:spPr>
          <a:xfrm>
            <a:off x="6153150" y="2101850"/>
            <a:ext cx="20193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12" name="Text 10"/>
          <p:cNvSpPr/>
          <p:nvPr/>
        </p:nvSpPr>
        <p:spPr>
          <a:xfrm>
            <a:off x="6286500" y="2269480"/>
            <a:ext cx="180517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Testers</a:t>
            </a:r>
            <a:endParaRPr lang="en-US" sz="1400" dirty="0"/>
          </a:p>
        </p:txBody>
      </p:sp>
      <p:sp>
        <p:nvSpPr>
          <p:cNvPr id="13" name="Text 11"/>
          <p:cNvSpPr/>
          <p:nvPr/>
        </p:nvSpPr>
        <p:spPr>
          <a:xfrm>
            <a:off x="6286500" y="2518370"/>
            <a:ext cx="1805178" cy="38100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4A5568"/>
                </a:solidFill>
                <a:latin typeface="Arial" pitchFamily="34" charset="0"/>
                <a:ea typeface="Arial" pitchFamily="34" charset="-122"/>
                <a:cs typeface="Arial" pitchFamily="34" charset="-120"/>
              </a:rPr>
              <a:t>WebVoyager + Qwen2.5-VL-32B; screenshot grader</a:t>
            </a:r>
            <a:endParaRPr lang="en-US" sz="1000" dirty="0"/>
          </a:p>
        </p:txBody>
      </p:sp>
      <p:sp>
        <p:nvSpPr>
          <p:cNvPr id="14" name="Shape 12"/>
          <p:cNvSpPr/>
          <p:nvPr/>
        </p:nvSpPr>
        <p:spPr>
          <a:xfrm>
            <a:off x="8820150" y="2101850"/>
            <a:ext cx="17399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15" name="Text 13"/>
          <p:cNvSpPr/>
          <p:nvPr/>
        </p:nvSpPr>
        <p:spPr>
          <a:xfrm>
            <a:off x="8953500" y="2340620"/>
            <a:ext cx="1524000"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Score</a:t>
            </a:r>
            <a:endParaRPr lang="en-US" sz="1400" dirty="0"/>
          </a:p>
        </p:txBody>
      </p:sp>
      <p:sp>
        <p:nvSpPr>
          <p:cNvPr id="16" name="Text 14"/>
          <p:cNvSpPr/>
          <p:nvPr/>
        </p:nvSpPr>
        <p:spPr>
          <a:xfrm>
            <a:off x="8953500" y="2589510"/>
            <a:ext cx="1524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Arial" pitchFamily="34" charset="0"/>
                <a:ea typeface="Arial" pitchFamily="34" charset="-122"/>
                <a:cs typeface="Arial" pitchFamily="34" charset="-120"/>
              </a:rPr>
              <a:t>pass / partial / fail</a:t>
            </a:r>
            <a:endParaRPr lang="en-US" sz="1200" dirty="0"/>
          </a:p>
        </p:txBody>
      </p:sp>
      <p:pic>
        <p:nvPicPr>
          <p:cNvPr id="17" name="Image 0" descr="connector"/>
          <p:cNvPicPr>
            <a:picLocks noChangeAspect="1"/>
          </p:cNvPicPr>
          <p:nvPr/>
        </p:nvPicPr>
        <p:blipFill>
          <a:blip r:embed="rId3"/>
          <a:srcRect/>
          <a:stretch/>
        </p:blipFill>
        <p:spPr>
          <a:xfrm>
            <a:off x="2794000" y="2520950"/>
            <a:ext cx="736600" cy="101600"/>
          </a:xfrm>
          <a:prstGeom prst="rect">
            <a:avLst/>
          </a:prstGeom>
        </p:spPr>
      </p:pic>
      <p:pic>
        <p:nvPicPr>
          <p:cNvPr id="18" name="Image 1" descr="connector"/>
          <p:cNvPicPr>
            <a:picLocks noChangeAspect="1"/>
          </p:cNvPicPr>
          <p:nvPr/>
        </p:nvPicPr>
        <p:blipFill>
          <a:blip r:embed="rId3"/>
          <a:srcRect/>
          <a:stretch/>
        </p:blipFill>
        <p:spPr>
          <a:xfrm>
            <a:off x="5461000" y="2520950"/>
            <a:ext cx="736600" cy="101600"/>
          </a:xfrm>
          <a:prstGeom prst="rect">
            <a:avLst/>
          </a:prstGeom>
        </p:spPr>
      </p:pic>
      <p:pic>
        <p:nvPicPr>
          <p:cNvPr id="19" name="Image 2" descr="connector"/>
          <p:cNvPicPr>
            <a:picLocks noChangeAspect="1"/>
          </p:cNvPicPr>
          <p:nvPr/>
        </p:nvPicPr>
        <p:blipFill>
          <a:blip r:embed="rId3"/>
          <a:srcRect/>
          <a:stretch/>
        </p:blipFill>
        <p:spPr>
          <a:xfrm>
            <a:off x="8128000" y="2520950"/>
            <a:ext cx="736600" cy="101600"/>
          </a:xfrm>
          <a:prstGeom prst="rect">
            <a:avLst/>
          </a:prstGeom>
        </p:spPr>
      </p:pic>
      <p:sp>
        <p:nvSpPr>
          <p:cNvPr id="20" name="Shape 15"/>
          <p:cNvSpPr/>
          <p:nvPr/>
        </p:nvSpPr>
        <p:spPr>
          <a:xfrm>
            <a:off x="4454525" y="4391025"/>
            <a:ext cx="2393950" cy="933450"/>
          </a:xfrm>
          <a:prstGeom prst="roundRect">
            <a:avLst>
              <a:gd name="adj" fmla="val 9864"/>
            </a:avLst>
          </a:prstGeom>
          <a:solidFill>
            <a:srgbClr val="DCE8F8"/>
          </a:solidFill>
          <a:ln w="19050">
            <a:solidFill>
              <a:srgbClr val="2A78D6"/>
            </a:solidFill>
            <a:prstDash val="solid"/>
          </a:ln>
        </p:spPr>
        <p:txBody>
          <a:bodyPr/>
          <a:lstStyle/>
          <a:p>
            <a:endParaRPr lang="zh-CN" altLang="en-US"/>
          </a:p>
        </p:txBody>
      </p:sp>
      <p:sp>
        <p:nvSpPr>
          <p:cNvPr id="21" name="Text 16"/>
          <p:cNvSpPr/>
          <p:nvPr/>
        </p:nvSpPr>
        <p:spPr>
          <a:xfrm>
            <a:off x="4591050" y="4635500"/>
            <a:ext cx="2184527"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5FAF"/>
                </a:solidFill>
                <a:latin typeface="Arial" pitchFamily="34" charset="0"/>
                <a:ea typeface="Arial" pitchFamily="34" charset="-122"/>
                <a:cs typeface="Arial" pitchFamily="34" charset="-120"/>
              </a:rPr>
              <a:t>Memory bank</a:t>
            </a:r>
            <a:endParaRPr lang="en-US" sz="1500" dirty="0"/>
          </a:p>
        </p:txBody>
      </p:sp>
      <p:sp>
        <p:nvSpPr>
          <p:cNvPr id="22" name="Text 17"/>
          <p:cNvSpPr/>
          <p:nvPr/>
        </p:nvSpPr>
        <p:spPr>
          <a:xfrm>
            <a:off x="4591050" y="4902200"/>
            <a:ext cx="2184527" cy="20320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14213D"/>
                </a:solidFill>
                <a:latin typeface="Arial" pitchFamily="34" charset="0"/>
                <a:ea typeface="Arial" pitchFamily="34" charset="-122"/>
                <a:cs typeface="Arial" pitchFamily="34" charset="-120"/>
              </a:rPr>
              <a:t>Qwen2.5-VL-72B + bge-m3</a:t>
            </a:r>
            <a:endParaRPr lang="en-US" sz="1000" dirty="0"/>
          </a:p>
        </p:txBody>
      </p:sp>
      <p:pic>
        <p:nvPicPr>
          <p:cNvPr id="23" name="Image 3" descr="connector"/>
          <p:cNvPicPr>
            <a:picLocks noChangeAspect="1"/>
          </p:cNvPicPr>
          <p:nvPr/>
        </p:nvPicPr>
        <p:blipFill>
          <a:blip r:embed="rId4"/>
          <a:srcRect/>
          <a:stretch/>
        </p:blipFill>
        <p:spPr>
          <a:xfrm>
            <a:off x="6794500" y="2984500"/>
            <a:ext cx="431800" cy="1936750"/>
          </a:xfrm>
          <a:prstGeom prst="rect">
            <a:avLst/>
          </a:prstGeom>
        </p:spPr>
      </p:pic>
      <p:pic>
        <p:nvPicPr>
          <p:cNvPr id="24" name="Image 4" descr="connector"/>
          <p:cNvPicPr>
            <a:picLocks noChangeAspect="1"/>
          </p:cNvPicPr>
          <p:nvPr/>
        </p:nvPicPr>
        <p:blipFill>
          <a:blip r:embed="rId5"/>
          <a:srcRect/>
          <a:stretch/>
        </p:blipFill>
        <p:spPr>
          <a:xfrm>
            <a:off x="1765300" y="2984500"/>
            <a:ext cx="2743200" cy="1936750"/>
          </a:xfrm>
          <a:prstGeom prst="rect">
            <a:avLst/>
          </a:prstGeom>
        </p:spPr>
      </p:pic>
      <p:sp>
        <p:nvSpPr>
          <p:cNvPr id="25" name="Text 18"/>
          <p:cNvSpPr/>
          <p:nvPr/>
        </p:nvSpPr>
        <p:spPr>
          <a:xfrm>
            <a:off x="7366000" y="3556000"/>
            <a:ext cx="327025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5FAF"/>
                </a:solidFill>
                <a:latin typeface="Arial" pitchFamily="34" charset="0"/>
                <a:ea typeface="Arial" pitchFamily="34" charset="-122"/>
                <a:cs typeface="Arial" pitchFamily="34" charset="-120"/>
              </a:rPr>
              <a:t>After each task: reflect on the test, find code errors, save short fixes</a:t>
            </a:r>
            <a:endParaRPr lang="en-US" sz="1300" dirty="0"/>
          </a:p>
        </p:txBody>
      </p:sp>
      <p:sp>
        <p:nvSpPr>
          <p:cNvPr id="26" name="Text 19"/>
          <p:cNvSpPr/>
          <p:nvPr/>
        </p:nvSpPr>
        <p:spPr>
          <a:xfrm>
            <a:off x="2032000" y="3429000"/>
            <a:ext cx="235458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5FAF"/>
                </a:solidFill>
                <a:latin typeface="Arial" pitchFamily="34" charset="0"/>
                <a:ea typeface="Arial" pitchFamily="34" charset="-122"/>
                <a:cs typeface="Arial" pitchFamily="34" charset="-120"/>
              </a:rPr>
              <a:t>Before the next task: add a checklist and code examples</a:t>
            </a:r>
            <a:endParaRPr lang="en-US" sz="1300" dirty="0"/>
          </a:p>
        </p:txBody>
      </p:sp>
      <p:sp>
        <p:nvSpPr>
          <p:cNvPr id="27" name="Text 20"/>
          <p:cNvSpPr/>
          <p:nvPr/>
        </p:nvSpPr>
        <p:spPr>
          <a:xfrm>
            <a:off x="812800" y="622047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Arial" pitchFamily="34" charset="0"/>
                <a:ea typeface="Arial" pitchFamily="34" charset="-122"/>
                <a:cs typeface="Arial" pitchFamily="34" charset="-120"/>
              </a:rPr>
              <a:t>Same generator, same tester, same rules. Long Memory (blue) only changes the text the generator reads.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Setup</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Official rules, and our baseline matches the paper</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18940"/>
          <a:ext cx="10553700" cy="1796605"/>
        </p:xfrm>
        <a:graphic>
          <a:graphicData uri="http://schemas.openxmlformats.org/drawingml/2006/table">
            <a:tbl>
              <a:tblPr/>
              <a:tblGrid>
                <a:gridCol w="633222">
                  <a:extLst>
                    <a:ext uri="{9D8B030D-6E8A-4147-A177-3AD203B41FA5}">
                      <a16:colId xmlns:a16="http://schemas.microsoft.com/office/drawing/2014/main" val="20000"/>
                    </a:ext>
                  </a:extLst>
                </a:gridCol>
                <a:gridCol w="2532888">
                  <a:extLst>
                    <a:ext uri="{9D8B030D-6E8A-4147-A177-3AD203B41FA5}">
                      <a16:colId xmlns:a16="http://schemas.microsoft.com/office/drawing/2014/main" val="20001"/>
                    </a:ext>
                  </a:extLst>
                </a:gridCol>
                <a:gridCol w="3166110">
                  <a:extLst>
                    <a:ext uri="{9D8B030D-6E8A-4147-A177-3AD203B41FA5}">
                      <a16:colId xmlns:a16="http://schemas.microsoft.com/office/drawing/2014/main" val="20002"/>
                    </a:ext>
                  </a:extLst>
                </a:gridCol>
                <a:gridCol w="4221480">
                  <a:extLst>
                    <a:ext uri="{9D8B030D-6E8A-4147-A177-3AD203B41FA5}">
                      <a16:colId xmlns:a16="http://schemas.microsoft.com/office/drawing/2014/main" val="20003"/>
                    </a:ext>
                  </a:extLst>
                </a:gridCol>
              </a:tblGrid>
              <a:tr h="359321">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Step</a:t>
                      </a:r>
                      <a:endParaRPr lang="en-US" sz="1300" dirty="0">
                        <a:latin typeface="Arial" charset="0"/>
                        <a:ea typeface="Arial" charset="0"/>
                        <a:cs typeface="Arial" charset="0"/>
                      </a:endParaRPr>
                    </a:p>
                  </a:txBody>
                  <a:tcPr marL="57785" marR="57785" marT="57785" marB="5778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Agent / tool</a:t>
                      </a:r>
                      <a:endParaRPr lang="en-US" sz="1300" dirty="0">
                        <a:latin typeface="Arial" charset="0"/>
                        <a:ea typeface="Arial" charset="0"/>
                        <a:cs typeface="Arial" charset="0"/>
                      </a:endParaRPr>
                    </a:p>
                  </a:txBody>
                  <a:tcPr marL="57785" marR="57785" marT="57785" marB="5778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Model (LLM)</a:t>
                      </a:r>
                      <a:endParaRPr lang="en-US" sz="1300" dirty="0">
                        <a:latin typeface="Arial" charset="0"/>
                        <a:ea typeface="Arial" charset="0"/>
                        <a:cs typeface="Arial" charset="0"/>
                      </a:endParaRPr>
                    </a:p>
                  </a:txBody>
                  <a:tcPr marL="57785" marR="57785" marT="57785" marB="5778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extLst>
                  <a:ext uri="{0D108BD9-81ED-4DB2-BD59-A6C34878D82A}">
                    <a16:rowId xmlns:a16="http://schemas.microsoft.com/office/drawing/2014/main" val="10000"/>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Build website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Bolt agent (coding)</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WebGen-LM-7B, one try, no repair</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Test features</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WebVoyager (GUI agent)</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Qwen2.5-VL-32B</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Grade appearance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Screenshot grader (one call)</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Qwen2.5-VL-32B (paper: GPT-4o)</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Write and pick memory</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Our Long Memory module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Qwen2.5-VL-72B-AWQ + bge-m3 embedding</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p:nvPr/>
        </p:nvSpPr>
        <p:spPr>
          <a:xfrm>
            <a:off x="812800" y="3969544"/>
            <a:ext cx="10883392"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Arial" pitchFamily="34" charset="0"/>
                <a:ea typeface="Arial" pitchFamily="34" charset="-122"/>
                <a:cs typeface="Arial" pitchFamily="34" charset="-120"/>
              </a:rPr>
              <a:t>Score = (pass + 0.5 × partial) / checks · No Memory baseline 28.5% (paper: 28.4%)</a:t>
            </a:r>
            <a:endParaRPr lang="en-US" sz="1300" dirty="0"/>
          </a:p>
        </p:txBody>
      </p:sp>
      <p:sp>
        <p:nvSpPr>
          <p:cNvPr id="6" name="Shape 3"/>
          <p:cNvSpPr/>
          <p:nvPr/>
        </p:nvSpPr>
        <p:spPr>
          <a:xfrm>
            <a:off x="825500" y="4454674"/>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939800" y="4454674"/>
            <a:ext cx="10752582"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Check results: pass = the feature works; partial = it works only in part (counts 0.5); fail = 0. Accuracy is summed over all 647 checks.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Models and compute</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A small model trained for this tool, on two H200 GPUs</a:t>
            </a:r>
            <a:endParaRPr lang="en-US" sz="3000" dirty="0"/>
          </a:p>
        </p:txBody>
      </p:sp>
      <p:sp>
        <p:nvSpPr>
          <p:cNvPr id="4" name="Shape 2"/>
          <p:cNvSpPr/>
          <p:nvPr/>
        </p:nvSpPr>
        <p:spPr>
          <a:xfrm>
            <a:off x="812800" y="1906240"/>
            <a:ext cx="5181600" cy="4004621"/>
          </a:xfrm>
          <a:prstGeom prst="roundRect">
            <a:avLst>
              <a:gd name="adj" fmla="val 5835"/>
            </a:avLst>
          </a:prstGeom>
          <a:solidFill>
            <a:srgbClr val="EEF3FA"/>
          </a:solidFill>
          <a:ln/>
        </p:spPr>
        <p:txBody>
          <a:bodyPr/>
          <a:lstStyle/>
          <a:p>
            <a:endParaRPr lang="zh-CN" altLang="en-US"/>
          </a:p>
        </p:txBody>
      </p:sp>
      <p:sp>
        <p:nvSpPr>
          <p:cNvPr id="5" name="Text 3"/>
          <p:cNvSpPr/>
          <p:nvPr/>
        </p:nvSpPr>
        <p:spPr>
          <a:xfrm>
            <a:off x="10668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WebGen-LM-7B (the generator)</a:t>
            </a:r>
            <a:endParaRPr lang="en-US" sz="1800" dirty="0"/>
          </a:p>
        </p:txBody>
      </p:sp>
      <p:sp>
        <p:nvSpPr>
          <p:cNvPr id="6" name="Text 4"/>
          <p:cNvSpPr/>
          <p:nvPr/>
        </p:nvSpPr>
        <p:spPr>
          <a:xfrm>
            <a:off x="1066800" y="2536130"/>
            <a:ext cx="4813808" cy="2294890"/>
          </a:xfrm>
          <a:prstGeom prst="rect">
            <a:avLst/>
          </a:prstGeom>
          <a:noFill/>
          <a:ln/>
        </p:spPr>
        <p:txBody>
          <a:bodyPr wrap="square" lIns="0" tIns="0" rIns="0" bIns="0" rtlCol="0" anchor="t">
            <a:noAutofit/>
          </a:bodyPr>
          <a:lstStyle/>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Built by the WebGen-Bench authors</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Base: Qwen2.5-Coder-7B-Instruct</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Fine-tuning only (SFT), no RL</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Data: DeepSeek-V3 built sites in Bolt for 2,000 requests; kept the 600 best (look ≥ 3/5)</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So it already knows Bolt’s output format</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Paper baseline: 28.4%</a:t>
            </a:r>
            <a:endParaRPr lang="en-US" sz="1500" dirty="0"/>
          </a:p>
        </p:txBody>
      </p:sp>
      <p:sp>
        <p:nvSpPr>
          <p:cNvPr id="7" name="Shape 5"/>
          <p:cNvSpPr/>
          <p:nvPr/>
        </p:nvSpPr>
        <p:spPr>
          <a:xfrm>
            <a:off x="6197600" y="1906240"/>
            <a:ext cx="5181600" cy="4004621"/>
          </a:xfrm>
          <a:prstGeom prst="roundRect">
            <a:avLst>
              <a:gd name="adj" fmla="val 5835"/>
            </a:avLst>
          </a:prstGeom>
          <a:solidFill>
            <a:srgbClr val="EEF3FA"/>
          </a:solidFill>
          <a:ln/>
        </p:spPr>
        <p:txBody>
          <a:bodyPr/>
          <a:lstStyle/>
          <a:p>
            <a:endParaRPr lang="zh-CN" altLang="en-US"/>
          </a:p>
        </p:txBody>
      </p:sp>
      <p:sp>
        <p:nvSpPr>
          <p:cNvPr id="8" name="Text 6"/>
          <p:cNvSpPr/>
          <p:nvPr/>
        </p:nvSpPr>
        <p:spPr>
          <a:xfrm>
            <a:off x="64516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Hardware: 2 × NVIDIA H200 (141 GB each)</a:t>
            </a:r>
            <a:endParaRPr lang="en-US" sz="1800" dirty="0"/>
          </a:p>
        </p:txBody>
      </p:sp>
      <p:sp>
        <p:nvSpPr>
          <p:cNvPr id="9" name="Text 7"/>
          <p:cNvSpPr/>
          <p:nvPr/>
        </p:nvSpPr>
        <p:spPr>
          <a:xfrm>
            <a:off x="6451600" y="2536130"/>
            <a:ext cx="4813808" cy="2294890"/>
          </a:xfrm>
          <a:prstGeom prst="rect">
            <a:avLst/>
          </a:prstGeom>
          <a:noFill/>
          <a:ln/>
        </p:spPr>
        <p:txBody>
          <a:bodyPr wrap="square" lIns="0" tIns="0" rIns="0" bIns="0" rtlCol="0" anchor="t">
            <a:noAutofit/>
          </a:bodyPr>
          <a:lstStyle/>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GPU 0: 32B tester (83 GB) + 7B generator (26 GB)</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GPU 1: 72B memory model (113 GB) + bge-m3 (2 GB)</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All self-hosted with vLLM; no paid API</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Two tasks in parallel, about 12 min each</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About 470 GPU-hours since 5 Oct</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All runs finished in about 2 weeks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Experiment scale</a:t>
            </a:r>
            <a:endParaRPr lang="en-US" sz="1400" dirty="0"/>
          </a:p>
        </p:txBody>
      </p:sp>
      <p:sp>
        <p:nvSpPr>
          <p:cNvPr id="3" name="Text 1"/>
          <p:cNvSpPr>
            <a:spLocks noGrp="1"/>
          </p:cNvSpPr>
          <p:nvPr>
            <p:ph type="title"/>
          </p:nvPr>
        </p:nvSpPr>
        <p:spPr>
          <a:xfrm>
            <a:off x="812800" y="982315"/>
            <a:ext cx="10883392" cy="463550"/>
          </a:xfrm>
          <a:prstGeom prst="rect">
            <a:avLst/>
          </a:prstGeom>
          <a:noFill/>
          <a:ln/>
        </p:spPr>
        <p:txBody>
          <a:bodyPr wrap="square" lIns="0" tIns="0" rIns="0" bIns="0" rtlCol="0" anchor="t">
            <a:normAutofit fontScale="90000"/>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11 full runs × 101 tasks: about 1,100 websites and 7,000 checks</a:t>
            </a:r>
            <a:endParaRPr lang="en-US" sz="3000" dirty="0"/>
          </a:p>
        </p:txBody>
      </p:sp>
      <p:sp>
        <p:nvSpPr>
          <p:cNvPr id="4" name="Text 2"/>
          <p:cNvSpPr/>
          <p:nvPr/>
        </p:nvSpPr>
        <p:spPr>
          <a:xfrm>
            <a:off x="8128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Done (in the thesis)</a:t>
            </a:r>
            <a:endParaRPr lang="en-US" sz="1800" dirty="0"/>
          </a:p>
        </p:txBody>
      </p:sp>
      <p:sp>
        <p:nvSpPr>
          <p:cNvPr id="5" name="Text 3"/>
          <p:cNvSpPr/>
          <p:nvPr/>
        </p:nvSpPr>
        <p:spPr>
          <a:xfrm>
            <a:off x="8966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No Memory in 3 task orders (original, seed 11, seed 29)</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Text memory, code memory (whole-file), checklist only: original order</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Code memory, whole-file and fragments, in 2 shuffled orders</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Fragments in the original order (ready 16 Oct)</a:t>
            </a:r>
            <a:endParaRPr lang="en-US" sz="1500" dirty="0"/>
          </a:p>
        </p:txBody>
      </p:sp>
      <p:sp>
        <p:nvSpPr>
          <p:cNvPr id="6" name="Text 4"/>
          <p:cNvSpPr/>
          <p:nvPr/>
        </p:nvSpPr>
        <p:spPr>
          <a:xfrm>
            <a:off x="61976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Still running (two lanes in parallel)</a:t>
            </a:r>
            <a:endParaRPr lang="en-US" sz="1800" dirty="0"/>
          </a:p>
        </p:txBody>
      </p:sp>
      <p:sp>
        <p:nvSpPr>
          <p:cNvPr id="7" name="Text 5"/>
          <p:cNvSpPr/>
          <p:nvPr/>
        </p:nvSpPr>
        <p:spPr>
          <a:xfrm>
            <a:off x="62814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Fragments, original order: 16 Oct morning</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Seed 47 and interleaved orders: 17 Oct</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Fixed code from task 1, no memory: 17–18 Oct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First attempt: text lessons</a:t>
            </a:r>
            <a:endParaRPr lang="en-US" sz="1400" dirty="0"/>
          </a:p>
        </p:txBody>
      </p:sp>
      <p:sp>
        <p:nvSpPr>
          <p:cNvPr id="3" name="Text 1"/>
          <p:cNvSpPr>
            <a:spLocks noGrp="1"/>
          </p:cNvSpPr>
          <p:nvPr>
            <p:ph type="title"/>
          </p:nvPr>
        </p:nvSpPr>
        <p:spPr>
          <a:xfrm>
            <a:off x="812800" y="1214090"/>
            <a:ext cx="11379200"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Text lessons helped early, then fell below the baseline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18940"/>
          <a:ext cx="10553700" cy="1318023"/>
        </p:xfrm>
        <a:graphic>
          <a:graphicData uri="http://schemas.openxmlformats.org/drawingml/2006/table">
            <a:tbl>
              <a:tblPr/>
              <a:tblGrid>
                <a:gridCol w="4221480">
                  <a:extLst>
                    <a:ext uri="{9D8B030D-6E8A-4147-A177-3AD203B41FA5}">
                      <a16:colId xmlns:a16="http://schemas.microsoft.com/office/drawing/2014/main" val="20000"/>
                    </a:ext>
                  </a:extLst>
                </a:gridCol>
                <a:gridCol w="3166110">
                  <a:extLst>
                    <a:ext uri="{9D8B030D-6E8A-4147-A177-3AD203B41FA5}">
                      <a16:colId xmlns:a16="http://schemas.microsoft.com/office/drawing/2014/main" val="20001"/>
                    </a:ext>
                  </a:extLst>
                </a:gridCol>
                <a:gridCol w="3166110">
                  <a:extLst>
                    <a:ext uri="{9D8B030D-6E8A-4147-A177-3AD203B41FA5}">
                      <a16:colId xmlns:a16="http://schemas.microsoft.com/office/drawing/2014/main" val="20002"/>
                    </a:ext>
                  </a:extLst>
                </a:gridCol>
              </a:tblGrid>
              <a:tr h="439341">
                <a:tc>
                  <a:txBody>
                    <a:bodyPr/>
                    <a:lstStyle/>
                    <a:p>
                      <a:pPr marL="0" indent="0">
                        <a:lnSpc>
                          <a:spcPts val="2240"/>
                        </a:lnSpc>
                        <a:buNone/>
                      </a:pPr>
                      <a:r>
                        <a:rPr lang="en-US" sz="1600" b="1" dirty="0">
                          <a:solidFill>
                            <a:srgbClr val="14213D"/>
                          </a:solidFill>
                          <a:latin typeface="Arial" pitchFamily="34" charset="0"/>
                          <a:ea typeface="Arial" pitchFamily="34" charset="-122"/>
                          <a:cs typeface="Arial" pitchFamily="34" charset="-120"/>
                        </a:rPr>
                        <a:t>Tasks</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gn="r">
                        <a:lnSpc>
                          <a:spcPts val="2240"/>
                        </a:lnSpc>
                        <a:buNone/>
                      </a:pPr>
                      <a:r>
                        <a:rPr lang="en-US" sz="1600" b="1" dirty="0">
                          <a:solidFill>
                            <a:srgbClr val="14213D"/>
                          </a:solidFill>
                          <a:latin typeface="Arial" pitchFamily="34" charset="0"/>
                          <a:ea typeface="Arial" pitchFamily="34" charset="-122"/>
                          <a:cs typeface="Arial" pitchFamily="34" charset="-120"/>
                        </a:rPr>
                        <a:t>No Memory</a:t>
                      </a:r>
                      <a:endParaRPr lang="en-US" sz="1600" dirty="0">
                        <a:latin typeface="Arial" charset="0"/>
                        <a:ea typeface="Arial" charset="0"/>
                        <a:cs typeface="Arial" charset="0"/>
                      </a:endParaRPr>
                    </a:p>
                  </a:txBody>
                  <a:tcPr marL="71120" marR="71120" marT="71120" marB="7112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gn="r">
                        <a:lnSpc>
                          <a:spcPts val="2240"/>
                        </a:lnSpc>
                        <a:buNone/>
                      </a:pPr>
                      <a:r>
                        <a:rPr lang="en-US" sz="1600" b="1" dirty="0">
                          <a:solidFill>
                            <a:srgbClr val="14213D"/>
                          </a:solidFill>
                          <a:latin typeface="Arial" pitchFamily="34" charset="0"/>
                          <a:ea typeface="Arial" pitchFamily="34" charset="-122"/>
                          <a:cs typeface="Arial" pitchFamily="34" charset="-120"/>
                        </a:rPr>
                        <a:t>Text memory</a:t>
                      </a:r>
                      <a:endParaRPr lang="en-US" sz="1600" dirty="0">
                        <a:latin typeface="Arial" charset="0"/>
                        <a:ea typeface="Arial" charset="0"/>
                        <a:cs typeface="Arial" charset="0"/>
                      </a:endParaRPr>
                    </a:p>
                  </a:txBody>
                  <a:tcPr marL="71120" marR="71120" marT="71120" marB="7112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4213D"/>
                          </a:solidFill>
                          <a:latin typeface="Arial" pitchFamily="34" charset="0"/>
                          <a:ea typeface="Arial" pitchFamily="34" charset="-122"/>
                          <a:cs typeface="Arial" pitchFamily="34" charset="-120"/>
                        </a:rPr>
                        <a:t>Tasks 1–30</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26.0%</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39.3%</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4213D"/>
                          </a:solidFill>
                          <a:latin typeface="Arial" pitchFamily="34" charset="0"/>
                          <a:ea typeface="Arial" pitchFamily="34" charset="-122"/>
                          <a:cs typeface="Arial" pitchFamily="34" charset="-120"/>
                        </a:rPr>
                        <a:t>Tasks 61–101</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24.8%</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22.9%</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 2"/>
          <p:cNvSpPr/>
          <p:nvPr/>
        </p:nvSpPr>
        <p:spPr>
          <a:xfrm>
            <a:off x="812800" y="3490962"/>
            <a:ext cx="10883392" cy="59690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Over time, more and more vague advice filled the prompt, such as "make sure the form works". The small model could not act on it.</a:t>
            </a:r>
            <a:endParaRPr lang="en-US" sz="1500" dirty="0"/>
          </a:p>
        </p:txBody>
      </p:sp>
      <p:sp>
        <p:nvSpPr>
          <p:cNvPr id="6" name="Shape 3"/>
          <p:cNvSpPr/>
          <p:nvPr/>
        </p:nvSpPr>
        <p:spPr>
          <a:xfrm>
            <a:off x="825500" y="4316462"/>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939800" y="4316462"/>
            <a:ext cx="10752582"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Each number is the accuracy on that group of tasks, in execution order. Tasks 31–60 are left out to show the start and the end clearly.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What the tester sees · task 000006, a solar dashboard</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One missing package turns the whole site into an error page</a:t>
            </a:r>
            <a:endParaRPr lang="en-US" sz="3000" dirty="0"/>
          </a:p>
        </p:txBody>
      </p:sp>
      <p:pic>
        <p:nvPicPr>
          <p:cNvPr id="4" name="Picture 3" descr="006_nomem.png"/>
          <p:cNvPicPr>
            <a:picLocks noChangeAspect="1"/>
          </p:cNvPicPr>
          <p:nvPr/>
        </p:nvPicPr>
        <p:blipFill>
          <a:blip r:embed="rId3"/>
          <a:stretch>
            <a:fillRect/>
          </a:stretch>
        </p:blipFill>
        <p:spPr>
          <a:xfrm>
            <a:off x="609600" y="1827640"/>
            <a:ext cx="5242560" cy="3199805"/>
          </a:xfrm>
          <a:prstGeom prst="rect">
            <a:avLst/>
          </a:prstGeom>
        </p:spPr>
      </p:pic>
      <p:pic>
        <p:nvPicPr>
          <p:cNvPr id="5" name="Picture 4" descr="006_longmem_v9_1.png"/>
          <p:cNvPicPr>
            <a:picLocks noChangeAspect="1"/>
          </p:cNvPicPr>
          <p:nvPr/>
        </p:nvPicPr>
        <p:blipFill>
          <a:blip r:embed="rId4"/>
          <a:stretch>
            <a:fillRect/>
          </a:stretch>
        </p:blipFill>
        <p:spPr>
          <a:xfrm>
            <a:off x="6339840" y="1827640"/>
            <a:ext cx="5242560" cy="3199805"/>
          </a:xfrm>
          <a:prstGeom prst="rect">
            <a:avLst/>
          </a:prstGeom>
        </p:spPr>
      </p:pic>
      <p:sp>
        <p:nvSpPr>
          <p:cNvPr id="6" name="TextBox 5"/>
          <p:cNvSpPr txBox="1"/>
          <p:nvPr/>
        </p:nvSpPr>
        <p:spPr>
          <a:xfrm>
            <a:off x="609600" y="5087445"/>
            <a:ext cx="5242560" cy="400000"/>
          </a:xfrm>
          <a:prstGeom prst="rect">
            <a:avLst/>
          </a:prstGeom>
          <a:noFill/>
        </p:spPr>
        <p:txBody>
          <a:bodyPr wrap="square">
            <a:spAutoFit/>
          </a:bodyPr>
          <a:lstStyle/>
          <a:p>
            <a:r>
              <a:rPr sz="1200"/>
              <a:t>No Memory: imports vue-chartjs, which is not installed → score 0</a:t>
            </a:r>
          </a:p>
        </p:txBody>
      </p:sp>
      <p:sp>
        <p:nvSpPr>
          <p:cNvPr id="7" name="TextBox 6"/>
          <p:cNvSpPr txBox="1"/>
          <p:nvPr/>
        </p:nvSpPr>
        <p:spPr>
          <a:xfrm>
            <a:off x="6339840" y="5087445"/>
            <a:ext cx="5242560" cy="400000"/>
          </a:xfrm>
          <a:prstGeom prst="rect">
            <a:avLst/>
          </a:prstGeom>
          <a:noFill/>
        </p:spPr>
        <p:txBody>
          <a:bodyPr wrap="square">
            <a:spAutoFit/>
          </a:bodyPr>
          <a:lstStyle/>
          <a:p>
            <a:r>
              <a:rPr sz="1200"/>
              <a:t>Code memory (fragments): three working views → score 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174883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FB8EE"/>
                </a:solidFill>
                <a:latin typeface="Arial" pitchFamily="34" charset="0"/>
                <a:ea typeface="Arial" pitchFamily="34" charset="-122"/>
                <a:cs typeface="Arial" pitchFamily="34" charset="-120"/>
              </a:rPr>
              <a:t>Key finding</a:t>
            </a:r>
            <a:endParaRPr lang="en-US" sz="1400" dirty="0"/>
          </a:p>
        </p:txBody>
      </p:sp>
      <p:sp>
        <p:nvSpPr>
          <p:cNvPr id="3" name="Text 1"/>
          <p:cNvSpPr>
            <a:spLocks noGrp="1"/>
          </p:cNvSpPr>
          <p:nvPr>
            <p:ph type="title"/>
          </p:nvPr>
        </p:nvSpPr>
        <p:spPr>
          <a:xfrm>
            <a:off x="812800" y="2302520"/>
            <a:ext cx="10883392" cy="609600"/>
          </a:xfrm>
          <a:prstGeom prst="rect">
            <a:avLst/>
          </a:prstGeom>
          <a:noFill/>
          <a:ln/>
        </p:spPr>
        <p:txBody>
          <a:bodyPr wrap="square" lIns="0" tIns="0" rIns="0" bIns="0" rtlCol="0" anchor="t">
            <a:normAutofit/>
          </a:bodyPr>
          <a:lstStyle/>
          <a:p>
            <a:pPr marL="0" indent="0" algn="l">
              <a:lnSpc>
                <a:spcPts val="4600"/>
              </a:lnSpc>
              <a:buNone/>
            </a:pPr>
            <a:r>
              <a:rPr lang="en-US" sz="4000" b="1" i="0" dirty="0">
                <a:solidFill>
                  <a:srgbClr val="F4F1EA"/>
                </a:solidFill>
                <a:latin typeface="Georgia" pitchFamily="18" charset="0"/>
                <a:ea typeface="Georgia" pitchFamily="18" charset="-122"/>
                <a:cs typeface="Georgia" pitchFamily="18" charset="-120"/>
              </a:rPr>
              <a:t>The small model follows code, not text</a:t>
            </a:r>
            <a:endParaRPr lang="en-US" sz="4000" dirty="0"/>
          </a:p>
        </p:txBody>
      </p:sp>
      <p:sp>
        <p:nvSpPr>
          <p:cNvPr id="4" name="Text 2"/>
          <p:cNvSpPr/>
          <p:nvPr/>
        </p:nvSpPr>
        <p:spPr>
          <a:xfrm>
            <a:off x="812800" y="3191520"/>
            <a:ext cx="5284724"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F2A97F"/>
                </a:solidFill>
                <a:latin typeface="Arial" pitchFamily="34" charset="0"/>
                <a:ea typeface="Arial" pitchFamily="34" charset="-122"/>
                <a:cs typeface="Arial" pitchFamily="34" charset="-120"/>
              </a:rPr>
              <a:t>1 / 3</a:t>
            </a:r>
            <a:endParaRPr lang="en-US" sz="4800" dirty="0"/>
          </a:p>
        </p:txBody>
      </p:sp>
      <p:sp>
        <p:nvSpPr>
          <p:cNvPr id="5" name="Text 3"/>
          <p:cNvSpPr/>
          <p:nvPr/>
        </p:nvSpPr>
        <p:spPr>
          <a:xfrm>
            <a:off x="812800" y="4095750"/>
            <a:ext cx="5284724"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C9D3E3"/>
                </a:solidFill>
                <a:latin typeface="Arial" pitchFamily="34" charset="0"/>
                <a:ea typeface="Arial" pitchFamily="34" charset="-122"/>
                <a:cs typeface="Arial" pitchFamily="34" charset="-120"/>
              </a:rPr>
              <a:t>blank-page sites fixed by a text tip</a:t>
            </a:r>
            <a:endParaRPr lang="en-US" sz="1500" dirty="0"/>
          </a:p>
        </p:txBody>
      </p:sp>
      <p:sp>
        <p:nvSpPr>
          <p:cNvPr id="6" name="Text 4"/>
          <p:cNvSpPr/>
          <p:nvPr/>
        </p:nvSpPr>
        <p:spPr>
          <a:xfrm>
            <a:off x="6248400" y="3191520"/>
            <a:ext cx="5284724"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8FB8EE"/>
                </a:solidFill>
                <a:latin typeface="Arial" pitchFamily="34" charset="0"/>
                <a:ea typeface="Arial" pitchFamily="34" charset="-122"/>
                <a:cs typeface="Arial" pitchFamily="34" charset="-120"/>
              </a:rPr>
              <a:t>7 / 9</a:t>
            </a:r>
            <a:endParaRPr lang="en-US" sz="4800" dirty="0"/>
          </a:p>
        </p:txBody>
      </p:sp>
      <p:sp>
        <p:nvSpPr>
          <p:cNvPr id="7" name="Text 5"/>
          <p:cNvSpPr/>
          <p:nvPr/>
        </p:nvSpPr>
        <p:spPr>
          <a:xfrm>
            <a:off x="6248400" y="4095750"/>
            <a:ext cx="5284724"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C9D3E3"/>
                </a:solidFill>
                <a:latin typeface="Arial" pitchFamily="34" charset="0"/>
                <a:ea typeface="Arial" pitchFamily="34" charset="-122"/>
                <a:cs typeface="Arial" pitchFamily="34" charset="-120"/>
              </a:rPr>
              <a:t>fixed by a 10-line code example</a:t>
            </a:r>
            <a:endParaRPr lang="en-US" sz="1500" dirty="0"/>
          </a:p>
        </p:txBody>
      </p:sp>
      <p:sp>
        <p:nvSpPr>
          <p:cNvPr id="8" name="Shape 6"/>
          <p:cNvSpPr/>
          <p:nvPr/>
        </p:nvSpPr>
        <p:spPr>
          <a:xfrm>
            <a:off x="825500" y="4667250"/>
            <a:ext cx="0" cy="441920"/>
          </a:xfrm>
          <a:prstGeom prst="line">
            <a:avLst/>
          </a:prstGeom>
          <a:noFill/>
          <a:ln w="25400">
            <a:solidFill>
              <a:srgbClr val="2A78D6"/>
            </a:solidFill>
            <a:prstDash val="solid"/>
          </a:ln>
        </p:spPr>
        <p:txBody>
          <a:bodyPr/>
          <a:lstStyle/>
          <a:p>
            <a:endParaRPr lang="zh-CN" altLang="en-US"/>
          </a:p>
        </p:txBody>
      </p:sp>
      <p:sp>
        <p:nvSpPr>
          <p:cNvPr id="9" name="Text 7"/>
          <p:cNvSpPr/>
          <p:nvPr/>
        </p:nvSpPr>
        <p:spPr>
          <a:xfrm>
            <a:off x="939800" y="4667250"/>
            <a:ext cx="10752582" cy="46732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Blank page: the site imports a package that is not installed (for example vue-router), so nothing is shown. Test: generate only, same prompts, check the code.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Method · code memory</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Two parts: a checklist and a code pool</a:t>
            </a:r>
            <a:endParaRPr lang="en-US" sz="3000" dirty="0"/>
          </a:p>
        </p:txBody>
      </p:sp>
      <p:sp>
        <p:nvSpPr>
          <p:cNvPr id="4" name="Shape 2"/>
          <p:cNvSpPr/>
          <p:nvPr/>
        </p:nvSpPr>
        <p:spPr>
          <a:xfrm>
            <a:off x="812800" y="1906240"/>
            <a:ext cx="5181600" cy="1741140"/>
          </a:xfrm>
          <a:prstGeom prst="roundRect">
            <a:avLst>
              <a:gd name="adj" fmla="val 5835"/>
            </a:avLst>
          </a:prstGeom>
          <a:solidFill>
            <a:srgbClr val="EEF3FA"/>
          </a:solidFill>
          <a:ln/>
        </p:spPr>
        <p:txBody>
          <a:bodyPr/>
          <a:lstStyle/>
          <a:p>
            <a:endParaRPr lang="zh-CN" altLang="en-US"/>
          </a:p>
        </p:txBody>
      </p:sp>
      <p:sp>
        <p:nvSpPr>
          <p:cNvPr id="5" name="Text 3"/>
          <p:cNvSpPr/>
          <p:nvPr/>
        </p:nvSpPr>
        <p:spPr>
          <a:xfrm>
            <a:off x="10668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1. Requirement checklist</a:t>
            </a:r>
            <a:endParaRPr lang="en-US" sz="1800" dirty="0"/>
          </a:p>
        </p:txBody>
      </p:sp>
      <p:sp>
        <p:nvSpPr>
          <p:cNvPr id="6" name="Text 4"/>
          <p:cNvSpPr/>
          <p:nvPr/>
        </p:nvSpPr>
        <p:spPr>
          <a:xfrm>
            <a:off x="1066800" y="2536130"/>
            <a:ext cx="4813808" cy="8826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The memory model splits the request into a list. Each lesson sits under the item it belongs to. The request always comes first.</a:t>
            </a:r>
            <a:endParaRPr lang="en-US" sz="1500" dirty="0"/>
          </a:p>
        </p:txBody>
      </p:sp>
      <p:sp>
        <p:nvSpPr>
          <p:cNvPr id="7" name="Shape 5"/>
          <p:cNvSpPr/>
          <p:nvPr/>
        </p:nvSpPr>
        <p:spPr>
          <a:xfrm>
            <a:off x="6197600" y="1906240"/>
            <a:ext cx="5181600" cy="1741140"/>
          </a:xfrm>
          <a:prstGeom prst="roundRect">
            <a:avLst>
              <a:gd name="adj" fmla="val 5835"/>
            </a:avLst>
          </a:prstGeom>
          <a:solidFill>
            <a:srgbClr val="EEF3FA"/>
          </a:solidFill>
          <a:ln/>
        </p:spPr>
        <p:txBody>
          <a:bodyPr/>
          <a:lstStyle/>
          <a:p>
            <a:endParaRPr lang="zh-CN" altLang="en-US"/>
          </a:p>
        </p:txBody>
      </p:sp>
      <p:sp>
        <p:nvSpPr>
          <p:cNvPr id="8" name="Text 6"/>
          <p:cNvSpPr/>
          <p:nvPr/>
        </p:nvSpPr>
        <p:spPr>
          <a:xfrm>
            <a:off x="64516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2. Code pool</a:t>
            </a:r>
            <a:endParaRPr lang="en-US" sz="1800" dirty="0"/>
          </a:p>
        </p:txBody>
      </p:sp>
      <p:sp>
        <p:nvSpPr>
          <p:cNvPr id="9" name="Text 7"/>
          <p:cNvSpPr/>
          <p:nvPr/>
        </p:nvSpPr>
        <p:spPr>
          <a:xfrm>
            <a:off x="6451600" y="2536130"/>
            <a:ext cx="4813808" cy="8826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When a code error appears in 2 tasks, take a short fix from our own earlier site that worked. At most 15 lines, checked by a compiler.</a:t>
            </a:r>
            <a:endParaRPr lang="en-US" sz="1500" dirty="0"/>
          </a:p>
        </p:txBody>
      </p:sp>
      <p:sp>
        <p:nvSpPr>
          <p:cNvPr id="10" name="Text 8"/>
          <p:cNvSpPr/>
          <p:nvPr/>
        </p:nvSpPr>
        <p:spPr>
          <a:xfrm>
            <a:off x="812800" y="390138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Example: import { ref } from 'vue' · const bookingId = ref('')</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Three memory designs</a:t>
            </a:r>
            <a:endParaRPr lang="en-US" sz="1400" dirty="0"/>
          </a:p>
        </p:txBody>
      </p:sp>
      <p:sp>
        <p:nvSpPr>
          <p:cNvPr id="3" name="Text 1"/>
          <p:cNvSpPr>
            <a:spLocks noGrp="1"/>
          </p:cNvSpPr>
          <p:nvPr>
            <p:ph type="title"/>
          </p:nvPr>
        </p:nvSpPr>
        <p:spPr>
          <a:xfrm>
            <a:off x="812800" y="1214090"/>
            <a:ext cx="11379200"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Text memory → code memory (whole-file) → code memory (fragments)</a:t>
            </a:r>
            <a:endParaRPr lang="en-US" sz="3000" dirty="0"/>
          </a:p>
        </p:txBody>
      </p:sp>
      <p:graphicFrame>
        <p:nvGraphicFramePr>
          <p:cNvPr id="4" name="Table 3"/>
          <p:cNvGraphicFramePr>
            <a:graphicFrameLocks noGrp="1"/>
          </p:cNvGraphicFramePr>
          <p:nvPr>
            <p:extLst>
              <p:ext uri="{D42A27DB-BD31-4B8C-83A1-F6EECF244321}">
                <p14:modId xmlns:p14="http://schemas.microsoft.com/office/powerpoint/2010/main" val="2365470570"/>
              </p:ext>
            </p:extLst>
          </p:nvPr>
        </p:nvGraphicFramePr>
        <p:xfrm>
          <a:off x="689113" y="2332383"/>
          <a:ext cx="10690088" cy="2514671"/>
        </p:xfrm>
        <a:graphic>
          <a:graphicData uri="http://schemas.openxmlformats.org/drawingml/2006/table">
            <a:tbl>
              <a:tblPr/>
              <a:tblGrid>
                <a:gridCol w="2138018">
                  <a:extLst>
                    <a:ext uri="{9D8B030D-6E8A-4147-A177-3AD203B41FA5}">
                      <a16:colId xmlns:a16="http://schemas.microsoft.com/office/drawing/2014/main" val="20000"/>
                    </a:ext>
                  </a:extLst>
                </a:gridCol>
                <a:gridCol w="2886324">
                  <a:extLst>
                    <a:ext uri="{9D8B030D-6E8A-4147-A177-3AD203B41FA5}">
                      <a16:colId xmlns:a16="http://schemas.microsoft.com/office/drawing/2014/main" val="20001"/>
                    </a:ext>
                  </a:extLst>
                </a:gridCol>
                <a:gridCol w="3313927">
                  <a:extLst>
                    <a:ext uri="{9D8B030D-6E8A-4147-A177-3AD203B41FA5}">
                      <a16:colId xmlns:a16="http://schemas.microsoft.com/office/drawing/2014/main" val="20002"/>
                    </a:ext>
                  </a:extLst>
                </a:gridCol>
                <a:gridCol w="2351819">
                  <a:extLst>
                    <a:ext uri="{9D8B030D-6E8A-4147-A177-3AD203B41FA5}">
                      <a16:colId xmlns:a16="http://schemas.microsoft.com/office/drawing/2014/main" val="20003"/>
                    </a:ext>
                  </a:extLst>
                </a:gridCol>
              </a:tblGrid>
              <a:tr h="442738">
                <a:tc>
                  <a:txBody>
                    <a:bodyPr/>
                    <a:lstStyle/>
                    <a:p>
                      <a:r>
                        <a:rPr sz="1200" b="1">
                          <a:solidFill>
                            <a:srgbClr val="14213D"/>
                          </a:solidFill>
                          <a:latin typeface="Arial"/>
                        </a:rPr>
                        <a:t>Design</a:t>
                      </a:r>
                    </a:p>
                  </a:txBody>
                  <a:tcPr marL="60000" marR="60000" marT="40000" marB="40000">
                    <a:solidFill>
                      <a:srgbClr val="EEF2F8"/>
                    </a:solidFill>
                  </a:tcPr>
                </a:tc>
                <a:tc>
                  <a:txBody>
                    <a:bodyPr/>
                    <a:lstStyle/>
                    <a:p>
                      <a:r>
                        <a:rPr sz="1200" b="1">
                          <a:solidFill>
                            <a:srgbClr val="14213D"/>
                          </a:solidFill>
                          <a:latin typeface="Arial"/>
                        </a:rPr>
                        <a:t>What memory gives the model</a:t>
                      </a:r>
                    </a:p>
                  </a:txBody>
                  <a:tcPr marL="60000" marR="60000" marT="40000" marB="40000">
                    <a:solidFill>
                      <a:srgbClr val="EEF2F8"/>
                    </a:solidFill>
                  </a:tcPr>
                </a:tc>
                <a:tc>
                  <a:txBody>
                    <a:bodyPr/>
                    <a:lstStyle/>
                    <a:p>
                      <a:r>
                        <a:rPr sz="1200" b="1">
                          <a:solidFill>
                            <a:srgbClr val="14213D"/>
                          </a:solidFill>
                          <a:latin typeface="Arial"/>
                        </a:rPr>
                        <a:t>Why we moved on</a:t>
                      </a:r>
                    </a:p>
                  </a:txBody>
                  <a:tcPr marL="60000" marR="60000" marT="40000" marB="40000">
                    <a:solidFill>
                      <a:srgbClr val="EEF2F8"/>
                    </a:solidFill>
                  </a:tcPr>
                </a:tc>
                <a:tc>
                  <a:txBody>
                    <a:bodyPr/>
                    <a:lstStyle/>
                    <a:p>
                      <a:r>
                        <a:rPr sz="1200" b="1">
                          <a:solidFill>
                            <a:srgbClr val="14213D"/>
                          </a:solidFill>
                          <a:latin typeface="Arial"/>
                        </a:rPr>
                        <a:t>Result (101 tasks)</a:t>
                      </a:r>
                    </a:p>
                  </a:txBody>
                  <a:tcPr marL="60000" marR="60000" marT="40000" marB="40000">
                    <a:solidFill>
                      <a:srgbClr val="EEF2F8"/>
                    </a:solidFill>
                  </a:tcPr>
                </a:tc>
                <a:extLst>
                  <a:ext uri="{0D108BD9-81ED-4DB2-BD59-A6C34878D82A}">
                    <a16:rowId xmlns:a16="http://schemas.microsoft.com/office/drawing/2014/main" val="10000"/>
                  </a:ext>
                </a:extLst>
              </a:tr>
              <a:tr h="543065">
                <a:tc>
                  <a:txBody>
                    <a:bodyPr/>
                    <a:lstStyle/>
                    <a:p>
                      <a:r>
                        <a:rPr sz="1200" b="0">
                          <a:solidFill>
                            <a:srgbClr val="14213D"/>
                          </a:solidFill>
                          <a:latin typeface="Arial"/>
                        </a:rPr>
                        <a:t>Text memory</a:t>
                      </a:r>
                    </a:p>
                  </a:txBody>
                  <a:tcPr marL="60000" marR="60000" marT="40000" marB="40000">
                    <a:solidFill>
                      <a:srgbClr val="FFFFFF"/>
                    </a:solidFill>
                  </a:tcPr>
                </a:tc>
                <a:tc>
                  <a:txBody>
                    <a:bodyPr/>
                    <a:lstStyle/>
                    <a:p>
                      <a:r>
                        <a:rPr sz="1200" b="0">
                          <a:solidFill>
                            <a:srgbClr val="14213D"/>
                          </a:solidFill>
                          <a:latin typeface="Arial"/>
                        </a:rPr>
                        <a:t>Checklist + text lessons</a:t>
                      </a:r>
                    </a:p>
                  </a:txBody>
                  <a:tcPr marL="60000" marR="60000" marT="40000" marB="40000">
                    <a:solidFill>
                      <a:srgbClr val="FFFFFF"/>
                    </a:solidFill>
                  </a:tcPr>
                </a:tc>
                <a:tc>
                  <a:txBody>
                    <a:bodyPr/>
                    <a:lstStyle/>
                    <a:p>
                      <a:r>
                        <a:rPr sz="1200" b="0">
                          <a:solidFill>
                            <a:srgbClr val="14213D"/>
                          </a:solidFill>
                          <a:latin typeface="Arial"/>
                        </a:rPr>
                        <a:t>Vague text piles up; the 7B model ignores it</a:t>
                      </a:r>
                    </a:p>
                  </a:txBody>
                  <a:tcPr marL="60000" marR="60000" marT="40000" marB="40000">
                    <a:solidFill>
                      <a:srgbClr val="FFFFFF"/>
                    </a:solidFill>
                  </a:tcPr>
                </a:tc>
                <a:tc>
                  <a:txBody>
                    <a:bodyPr/>
                    <a:lstStyle/>
                    <a:p>
                      <a:r>
                        <a:rPr sz="1200" b="0">
                          <a:solidFill>
                            <a:srgbClr val="14213D"/>
                          </a:solidFill>
                          <a:latin typeface="Arial"/>
                        </a:rPr>
                        <a:t>30.9%; below NM after task 30</a:t>
                      </a:r>
                    </a:p>
                  </a:txBody>
                  <a:tcPr marL="60000" marR="60000" marT="40000" marB="40000">
                    <a:solidFill>
                      <a:srgbClr val="FFFFFF"/>
                    </a:solidFill>
                  </a:tcPr>
                </a:tc>
                <a:extLst>
                  <a:ext uri="{0D108BD9-81ED-4DB2-BD59-A6C34878D82A}">
                    <a16:rowId xmlns:a16="http://schemas.microsoft.com/office/drawing/2014/main" val="10001"/>
                  </a:ext>
                </a:extLst>
              </a:tr>
              <a:tr h="543065">
                <a:tc>
                  <a:txBody>
                    <a:bodyPr/>
                    <a:lstStyle/>
                    <a:p>
                      <a:r>
                        <a:rPr sz="1200" b="0">
                          <a:solidFill>
                            <a:srgbClr val="14213D"/>
                          </a:solidFill>
                          <a:latin typeface="Arial"/>
                        </a:rPr>
                        <a:t>Code memory (whole-file)</a:t>
                      </a:r>
                    </a:p>
                  </a:txBody>
                  <a:tcPr marL="60000" marR="60000" marT="40000" marB="40000">
                    <a:solidFill>
                      <a:srgbClr val="FFFFFF"/>
                    </a:solidFill>
                  </a:tcPr>
                </a:tc>
                <a:tc>
                  <a:txBody>
                    <a:bodyPr/>
                    <a:lstStyle/>
                    <a:p>
                      <a:r>
                        <a:rPr sz="1200" b="0">
                          <a:solidFill>
                            <a:srgbClr val="14213D"/>
                          </a:solidFill>
                          <a:latin typeface="Arial"/>
                        </a:rPr>
                        <a:t>Checklist + code examples, some whole files</a:t>
                      </a:r>
                    </a:p>
                  </a:txBody>
                  <a:tcPr marL="60000" marR="60000" marT="40000" marB="40000">
                    <a:solidFill>
                      <a:srgbClr val="FFFFFF"/>
                    </a:solidFill>
                  </a:tcPr>
                </a:tc>
                <a:tc>
                  <a:txBody>
                    <a:bodyPr/>
                    <a:lstStyle/>
                    <a:p>
                      <a:r>
                        <a:rPr sz="1200" b="0">
                          <a:solidFill>
                            <a:srgbClr val="14213D"/>
                          </a:solidFill>
                          <a:latin typeface="Arial"/>
                        </a:rPr>
                        <a:t>Whole-file examples caused blank sites in new orders</a:t>
                      </a:r>
                    </a:p>
                  </a:txBody>
                  <a:tcPr marL="60000" marR="60000" marT="40000" marB="40000">
                    <a:solidFill>
                      <a:srgbClr val="FFFFFF"/>
                    </a:solidFill>
                  </a:tcPr>
                </a:tc>
                <a:tc>
                  <a:txBody>
                    <a:bodyPr/>
                    <a:lstStyle/>
                    <a:p>
                      <a:r>
                        <a:rPr sz="1200" b="0">
                          <a:solidFill>
                            <a:srgbClr val="14213D"/>
                          </a:solidFill>
                          <a:latin typeface="Arial"/>
                        </a:rPr>
                        <a:t>40.0%, +11.5</a:t>
                      </a:r>
                    </a:p>
                  </a:txBody>
                  <a:tcPr marL="60000" marR="60000" marT="40000" marB="40000">
                    <a:solidFill>
                      <a:srgbClr val="FFFFFF"/>
                    </a:solidFill>
                  </a:tcPr>
                </a:tc>
                <a:extLst>
                  <a:ext uri="{0D108BD9-81ED-4DB2-BD59-A6C34878D82A}">
                    <a16:rowId xmlns:a16="http://schemas.microsoft.com/office/drawing/2014/main" val="10002"/>
                  </a:ext>
                </a:extLst>
              </a:tr>
              <a:tr h="543065">
                <a:tc>
                  <a:txBody>
                    <a:bodyPr/>
                    <a:lstStyle/>
                    <a:p>
                      <a:r>
                        <a:rPr sz="1200" b="0">
                          <a:solidFill>
                            <a:srgbClr val="14213D"/>
                          </a:solidFill>
                          <a:latin typeface="Arial"/>
                        </a:rPr>
                        <a:t>Code memory (fragments)</a:t>
                      </a:r>
                    </a:p>
                  </a:txBody>
                  <a:tcPr marL="60000" marR="60000" marT="40000" marB="40000">
                    <a:solidFill>
                      <a:srgbClr val="FFFFFF"/>
                    </a:solidFill>
                  </a:tcPr>
                </a:tc>
                <a:tc>
                  <a:txBody>
                    <a:bodyPr/>
                    <a:lstStyle/>
                    <a:p>
                      <a:r>
                        <a:rPr sz="1200" b="0">
                          <a:solidFill>
                            <a:srgbClr val="14213D"/>
                          </a:solidFill>
                          <a:latin typeface="Arial"/>
                        </a:rPr>
                        <a:t>Final method: only checked fragments</a:t>
                      </a:r>
                    </a:p>
                  </a:txBody>
                  <a:tcPr marL="60000" marR="60000" marT="40000" marB="40000">
                    <a:solidFill>
                      <a:srgbClr val="FFFFFF"/>
                    </a:solidFill>
                  </a:tcPr>
                </a:tc>
                <a:tc>
                  <a:txBody>
                    <a:bodyPr/>
                    <a:lstStyle/>
                    <a:p>
                      <a:r>
                        <a:rPr sz="1200" b="0">
                          <a:solidFill>
                            <a:srgbClr val="14213D"/>
                          </a:solidFill>
                          <a:latin typeface="Arial"/>
                        </a:rPr>
                        <a:t>—</a:t>
                      </a:r>
                    </a:p>
                  </a:txBody>
                  <a:tcPr marL="60000" marR="60000" marT="40000" marB="40000">
                    <a:solidFill>
                      <a:srgbClr val="FFFFFF"/>
                    </a:solidFill>
                  </a:tcPr>
                </a:tc>
                <a:tc>
                  <a:txBody>
                    <a:bodyPr/>
                    <a:lstStyle/>
                    <a:p>
                      <a:r>
                        <a:rPr sz="1200" b="1">
                          <a:solidFill>
                            <a:srgbClr val="14213D"/>
                          </a:solidFill>
                          <a:latin typeface="Arial"/>
                        </a:rPr>
                        <a:t>Seed 11: +7.4; seed 29: +5.5</a:t>
                      </a:r>
                    </a:p>
                  </a:txBody>
                  <a:tcPr marL="60000" marR="60000" marT="40000" marB="40000">
                    <a:solidFill>
                      <a:srgbClr val="FFFFFF"/>
                    </a:solidFill>
                  </a:tcPr>
                </a:tc>
                <a:extLst>
                  <a:ext uri="{0D108BD9-81ED-4DB2-BD59-A6C34878D82A}">
                    <a16:rowId xmlns:a16="http://schemas.microsoft.com/office/drawing/2014/main" val="10003"/>
                  </a:ext>
                </a:extLst>
              </a:tr>
              <a:tr h="442738">
                <a:tc>
                  <a:txBody>
                    <a:bodyPr/>
                    <a:lstStyle/>
                    <a:p>
                      <a:r>
                        <a:rPr sz="1200" b="0">
                          <a:solidFill>
                            <a:srgbClr val="14213D"/>
                          </a:solidFill>
                          <a:latin typeface="Arial"/>
                        </a:rPr>
                        <a:t>Ablation: checklist only</a:t>
                      </a:r>
                    </a:p>
                  </a:txBody>
                  <a:tcPr marL="60000" marR="60000" marT="40000" marB="40000">
                    <a:solidFill>
                      <a:srgbClr val="FFFFFF"/>
                    </a:solidFill>
                  </a:tcPr>
                </a:tc>
                <a:tc>
                  <a:txBody>
                    <a:bodyPr/>
                    <a:lstStyle/>
                    <a:p>
                      <a:r>
                        <a:rPr sz="1200" b="0" dirty="0">
                          <a:solidFill>
                            <a:srgbClr val="14213D"/>
                          </a:solidFill>
                          <a:latin typeface="Arial"/>
                        </a:rPr>
                        <a:t>Checklist, memory turned off</a:t>
                      </a:r>
                    </a:p>
                  </a:txBody>
                  <a:tcPr marL="60000" marR="60000" marT="40000" marB="40000">
                    <a:solidFill>
                      <a:srgbClr val="FFFFFF"/>
                    </a:solidFill>
                  </a:tcPr>
                </a:tc>
                <a:tc>
                  <a:txBody>
                    <a:bodyPr/>
                    <a:lstStyle/>
                    <a:p>
                      <a:r>
                        <a:rPr sz="1200" b="0">
                          <a:solidFill>
                            <a:srgbClr val="14213D"/>
                          </a:solidFill>
                          <a:latin typeface="Arial"/>
                        </a:rPr>
                        <a:t>—</a:t>
                      </a:r>
                    </a:p>
                  </a:txBody>
                  <a:tcPr marL="60000" marR="60000" marT="40000" marB="40000">
                    <a:solidFill>
                      <a:srgbClr val="FFFFFF"/>
                    </a:solidFill>
                  </a:tcPr>
                </a:tc>
                <a:tc>
                  <a:txBody>
                    <a:bodyPr/>
                    <a:lstStyle/>
                    <a:p>
                      <a:r>
                        <a:rPr sz="1200" b="0" dirty="0">
                          <a:solidFill>
                            <a:srgbClr val="14213D"/>
                          </a:solidFill>
                          <a:latin typeface="Arial"/>
                        </a:rPr>
                        <a:t>31.8% (+3.4, CI includes 0)</a:t>
                      </a:r>
                    </a:p>
                  </a:txBody>
                  <a:tcPr marL="60000" marR="60000" marT="40000" marB="40000">
                    <a:solidFill>
                      <a:srgbClr val="FFFFFF"/>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825500" y="5100000"/>
            <a:ext cx="10553700" cy="500000"/>
          </a:xfrm>
          <a:prstGeom prst="rect">
            <a:avLst/>
          </a:prstGeom>
          <a:noFill/>
        </p:spPr>
        <p:txBody>
          <a:bodyPr wrap="square">
            <a:spAutoFit/>
          </a:bodyPr>
          <a:lstStyle/>
          <a:p>
            <a:pPr>
              <a:spcAft>
                <a:spcPts val="400"/>
              </a:spcAft>
            </a:pPr>
            <a:r>
              <a:rPr sz="1100" b="0">
                <a:solidFill>
                  <a:srgbClr val="4A5568"/>
                </a:solidFill>
                <a:latin typeface="Arial"/>
              </a:rPr>
              <a:t>NM = No Memory (28.5%). Repository labels: v4, v7, v9.1.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Main result · 101 tasks, one run</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Accuracy rises from 28.5% to 40.0%</a:t>
            </a:r>
            <a:endParaRPr lang="en-US" sz="3000" dirty="0"/>
          </a:p>
        </p:txBody>
      </p:sp>
      <p:sp>
        <p:nvSpPr>
          <p:cNvPr id="4" name="Shape 2"/>
          <p:cNvSpPr/>
          <p:nvPr/>
        </p:nvSpPr>
        <p:spPr>
          <a:xfrm>
            <a:off x="812800" y="1906240"/>
            <a:ext cx="5181600" cy="1978620"/>
          </a:xfrm>
          <a:prstGeom prst="roundRect">
            <a:avLst>
              <a:gd name="adj" fmla="val 5135"/>
            </a:avLst>
          </a:prstGeom>
          <a:solidFill>
            <a:srgbClr val="EEF3FA"/>
          </a:solidFill>
          <a:ln/>
        </p:spPr>
        <p:txBody>
          <a:bodyPr/>
          <a:lstStyle/>
          <a:p>
            <a:endParaRPr lang="zh-CN" altLang="en-US"/>
          </a:p>
        </p:txBody>
      </p:sp>
      <p:sp>
        <p:nvSpPr>
          <p:cNvPr id="5" name="Text 3"/>
          <p:cNvSpPr/>
          <p:nvPr/>
        </p:nvSpPr>
        <p:spPr>
          <a:xfrm>
            <a:off x="1066800" y="2160240"/>
            <a:ext cx="481380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5568"/>
                </a:solidFill>
                <a:latin typeface="Arial" pitchFamily="34" charset="0"/>
                <a:ea typeface="Arial" pitchFamily="34" charset="-122"/>
                <a:cs typeface="Arial" pitchFamily="34" charset="-120"/>
              </a:rPr>
              <a:t>No Memory</a:t>
            </a:r>
            <a:endParaRPr lang="en-US" sz="1500" dirty="0"/>
          </a:p>
        </p:txBody>
      </p:sp>
      <p:sp>
        <p:nvSpPr>
          <p:cNvPr id="6" name="Text 4"/>
          <p:cNvSpPr/>
          <p:nvPr/>
        </p:nvSpPr>
        <p:spPr>
          <a:xfrm>
            <a:off x="1066800" y="2477740"/>
            <a:ext cx="4813808"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14213D"/>
                </a:solidFill>
                <a:latin typeface="Arial" pitchFamily="34" charset="0"/>
                <a:ea typeface="Arial" pitchFamily="34" charset="-122"/>
                <a:cs typeface="Arial" pitchFamily="34" charset="-120"/>
              </a:rPr>
              <a:t>28.5%</a:t>
            </a:r>
            <a:endParaRPr lang="en-US" sz="4800" dirty="0"/>
          </a:p>
        </p:txBody>
      </p:sp>
      <p:sp>
        <p:nvSpPr>
          <p:cNvPr id="7" name="Text 5"/>
          <p:cNvSpPr/>
          <p:nvPr/>
        </p:nvSpPr>
        <p:spPr>
          <a:xfrm>
            <a:off x="1066800" y="3381970"/>
            <a:ext cx="4813808"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30 zero-score tasks</a:t>
            </a:r>
            <a:endParaRPr lang="en-US" sz="1400" dirty="0"/>
          </a:p>
        </p:txBody>
      </p:sp>
      <p:sp>
        <p:nvSpPr>
          <p:cNvPr id="8" name="Shape 6"/>
          <p:cNvSpPr/>
          <p:nvPr/>
        </p:nvSpPr>
        <p:spPr>
          <a:xfrm>
            <a:off x="6197600" y="1906240"/>
            <a:ext cx="5181600" cy="1978620"/>
          </a:xfrm>
          <a:prstGeom prst="roundRect">
            <a:avLst>
              <a:gd name="adj" fmla="val 5135"/>
            </a:avLst>
          </a:prstGeom>
          <a:solidFill>
            <a:srgbClr val="DCE8F8"/>
          </a:solidFill>
          <a:ln/>
        </p:spPr>
        <p:txBody>
          <a:bodyPr/>
          <a:lstStyle/>
          <a:p>
            <a:endParaRPr lang="zh-CN" altLang="en-US"/>
          </a:p>
        </p:txBody>
      </p:sp>
      <p:sp>
        <p:nvSpPr>
          <p:cNvPr id="9" name="Text 7"/>
          <p:cNvSpPr/>
          <p:nvPr/>
        </p:nvSpPr>
        <p:spPr>
          <a:xfrm>
            <a:off x="6451600" y="2160240"/>
            <a:ext cx="481380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5568"/>
                </a:solidFill>
                <a:latin typeface="Arial" pitchFamily="34" charset="0"/>
                <a:ea typeface="Arial" pitchFamily="34" charset="-122"/>
                <a:cs typeface="Arial" pitchFamily="34" charset="-120"/>
              </a:rPr>
              <a:t>Code memory (whole-file)</a:t>
            </a:r>
            <a:endParaRPr lang="en-US" sz="1500" dirty="0"/>
          </a:p>
        </p:txBody>
      </p:sp>
      <p:sp>
        <p:nvSpPr>
          <p:cNvPr id="10" name="Text 8"/>
          <p:cNvSpPr/>
          <p:nvPr/>
        </p:nvSpPr>
        <p:spPr>
          <a:xfrm>
            <a:off x="6451600" y="2477740"/>
            <a:ext cx="4813808"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1F5FAF"/>
                </a:solidFill>
                <a:latin typeface="Arial" pitchFamily="34" charset="0"/>
                <a:ea typeface="Arial" pitchFamily="34" charset="-122"/>
                <a:cs typeface="Arial" pitchFamily="34" charset="-120"/>
              </a:rPr>
              <a:t>40.0%</a:t>
            </a:r>
            <a:endParaRPr lang="en-US" sz="4800" dirty="0"/>
          </a:p>
        </p:txBody>
      </p:sp>
      <p:sp>
        <p:nvSpPr>
          <p:cNvPr id="11" name="Text 9"/>
          <p:cNvSpPr/>
          <p:nvPr/>
        </p:nvSpPr>
        <p:spPr>
          <a:xfrm>
            <a:off x="6451600" y="3381970"/>
            <a:ext cx="4813808"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13 zero-score tasks</a:t>
            </a:r>
            <a:endParaRPr lang="en-US" sz="1400" dirty="0"/>
          </a:p>
        </p:txBody>
      </p:sp>
      <p:sp>
        <p:nvSpPr>
          <p:cNvPr id="12" name="Text 10"/>
          <p:cNvSpPr/>
          <p:nvPr/>
        </p:nvSpPr>
        <p:spPr>
          <a:xfrm>
            <a:off x="812800" y="4138861"/>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Arial" pitchFamily="34" charset="0"/>
                <a:ea typeface="Arial" pitchFamily="34" charset="-122"/>
                <a:cs typeface="Arial" pitchFamily="34" charset="-120"/>
              </a:rPr>
              <a:t>Paired by task: +11.5 points (95% CI 6.0 to 16.9). Wins 54, losses 24, ties 23.</a:t>
            </a:r>
            <a:endParaRPr lang="en-US" sz="1500" dirty="0"/>
          </a:p>
        </p:txBody>
      </p:sp>
      <p:sp>
        <p:nvSpPr>
          <p:cNvPr id="13" name="Shape 11"/>
          <p:cNvSpPr/>
          <p:nvPr/>
        </p:nvSpPr>
        <p:spPr>
          <a:xfrm>
            <a:off x="825500" y="4659561"/>
            <a:ext cx="0" cy="441920"/>
          </a:xfrm>
          <a:prstGeom prst="line">
            <a:avLst/>
          </a:prstGeom>
          <a:noFill/>
          <a:ln w="25400">
            <a:solidFill>
              <a:srgbClr val="2A78D6"/>
            </a:solidFill>
            <a:prstDash val="solid"/>
          </a:ln>
        </p:spPr>
        <p:txBody>
          <a:bodyPr/>
          <a:lstStyle/>
          <a:p>
            <a:endParaRPr lang="zh-CN" altLang="en-US"/>
          </a:p>
        </p:txBody>
      </p:sp>
      <p:sp>
        <p:nvSpPr>
          <p:cNvPr id="14" name="Text 12"/>
          <p:cNvSpPr/>
          <p:nvPr/>
        </p:nvSpPr>
        <p:spPr>
          <a:xfrm>
            <a:off x="939800" y="4659561"/>
            <a:ext cx="10752582" cy="46732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Zero-score task: every check fails, usually a blank page. 95% CI: the likely range of the gain, from resampling tasks; it does not include 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711200" y="508000"/>
            <a:ext cx="1109268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Learning curve · 101 tasks, execution order</a:t>
            </a:r>
            <a:endParaRPr lang="en-US" sz="1400" dirty="0"/>
          </a:p>
        </p:txBody>
      </p:sp>
      <p:sp>
        <p:nvSpPr>
          <p:cNvPr id="3" name="Text 1"/>
          <p:cNvSpPr>
            <a:spLocks noGrp="1"/>
          </p:cNvSpPr>
          <p:nvPr>
            <p:ph type="title"/>
          </p:nvPr>
        </p:nvSpPr>
        <p:spPr>
          <a:xfrm>
            <a:off x="711200" y="909290"/>
            <a:ext cx="11092688" cy="43433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14213D"/>
                </a:solidFill>
                <a:latin typeface="Georgia" pitchFamily="18" charset="0"/>
                <a:ea typeface="Georgia" pitchFamily="18" charset="-122"/>
                <a:cs typeface="Georgia" pitchFamily="18" charset="-120"/>
              </a:rPr>
              <a:t>Only the code-pool version keeps its lead</a:t>
            </a:r>
            <a:endParaRPr lang="en-US" sz="2800" dirty="0"/>
          </a:p>
        </p:txBody>
      </p:sp>
      <p:sp>
        <p:nvSpPr>
          <p:cNvPr id="4" name="Shape 2"/>
          <p:cNvSpPr/>
          <p:nvPr/>
        </p:nvSpPr>
        <p:spPr>
          <a:xfrm>
            <a:off x="711200" y="1470620"/>
            <a:ext cx="10769600" cy="3048000"/>
          </a:xfrm>
          <a:prstGeom prst="roundRect">
            <a:avLst>
              <a:gd name="adj" fmla="val 2500"/>
            </a:avLst>
          </a:prstGeom>
          <a:solidFill>
            <a:srgbClr val="FFFFFF"/>
          </a:solidFill>
          <a:ln/>
        </p:spPr>
        <p:txBody>
          <a:bodyPr/>
          <a:lstStyle/>
          <a:p>
            <a:endParaRPr lang="zh-CN" altLang="en-US"/>
          </a:p>
        </p:txBody>
      </p:sp>
      <p:pic>
        <p:nvPicPr>
          <p:cNvPr id="5" name="Image 0" descr="Cumulative and rolling accuracy for No Memory, checklist only, v4 and v7 over 101 tasks"/>
          <p:cNvPicPr>
            <a:picLocks noChangeAspect="1"/>
          </p:cNvPicPr>
          <p:nvPr/>
        </p:nvPicPr>
        <p:blipFill>
          <a:blip r:embed="rId3"/>
          <a:stretch>
            <a:fillRect/>
          </a:stretch>
        </p:blipFill>
        <p:spPr>
          <a:xfrm>
            <a:off x="1789043" y="1470620"/>
            <a:ext cx="8613913" cy="3048000"/>
          </a:xfrm>
          <a:prstGeom prst="rect">
            <a:avLst/>
          </a:prstGeom>
        </p:spPr>
      </p:pic>
      <p:sp>
        <p:nvSpPr>
          <p:cNvPr id="6" name="Shape 3"/>
          <p:cNvSpPr/>
          <p:nvPr/>
        </p:nvSpPr>
        <p:spPr>
          <a:xfrm>
            <a:off x="723900" y="4671020"/>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838200" y="4671020"/>
            <a:ext cx="10961878"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Left: cumulative = average of all tasks so far. Right: rolling = average of the last 10 tasks, so it shows short-term ups and downs. Dotted line: task 30.</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711200" y="508000"/>
            <a:ext cx="1109268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Ablation study · checklist vs. memory</a:t>
            </a:r>
            <a:endParaRPr lang="en-US" sz="1400" dirty="0"/>
          </a:p>
        </p:txBody>
      </p:sp>
      <p:sp>
        <p:nvSpPr>
          <p:cNvPr id="3" name="Text 1"/>
          <p:cNvSpPr>
            <a:spLocks noGrp="1"/>
          </p:cNvSpPr>
          <p:nvPr>
            <p:ph type="title"/>
          </p:nvPr>
        </p:nvSpPr>
        <p:spPr>
          <a:xfrm>
            <a:off x="711200" y="909290"/>
            <a:ext cx="11092688" cy="43433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14213D"/>
                </a:solidFill>
                <a:latin typeface="Georgia" pitchFamily="18" charset="0"/>
                <a:ea typeface="Georgia" pitchFamily="18" charset="-122"/>
                <a:cs typeface="Georgia" pitchFamily="18" charset="-120"/>
              </a:rPr>
              <a:t>Memory, not the checklist, drives the gain</a:t>
            </a:r>
            <a:endParaRPr lang="en-US" sz="2800" dirty="0"/>
          </a:p>
        </p:txBody>
      </p:sp>
      <p:sp>
        <p:nvSpPr>
          <p:cNvPr id="4" name="Shape 2"/>
          <p:cNvSpPr/>
          <p:nvPr/>
        </p:nvSpPr>
        <p:spPr>
          <a:xfrm>
            <a:off x="711200" y="1470620"/>
            <a:ext cx="10769600" cy="3048000"/>
          </a:xfrm>
          <a:prstGeom prst="roundRect">
            <a:avLst>
              <a:gd name="adj" fmla="val 2500"/>
            </a:avLst>
          </a:prstGeom>
          <a:solidFill>
            <a:srgbClr val="FFFFFF"/>
          </a:solidFill>
          <a:ln/>
        </p:spPr>
        <p:txBody>
          <a:bodyPr/>
          <a:lstStyle/>
          <a:p>
            <a:endParaRPr lang="zh-CN" altLang="en-US"/>
          </a:p>
        </p:txBody>
      </p:sp>
      <p:pic>
        <p:nvPicPr>
          <p:cNvPr id="5" name="Image 0" descr="Accuracy and zero-score tasks for No Memory, checklist only and v7"/>
          <p:cNvPicPr>
            <a:picLocks noChangeAspect="1"/>
          </p:cNvPicPr>
          <p:nvPr/>
        </p:nvPicPr>
        <p:blipFill>
          <a:blip r:embed="rId3"/>
          <a:stretch>
            <a:fillRect/>
          </a:stretch>
        </p:blipFill>
        <p:spPr>
          <a:xfrm>
            <a:off x="1789043" y="1470620"/>
            <a:ext cx="8613913" cy="3048000"/>
          </a:xfrm>
          <a:prstGeom prst="rect">
            <a:avLst/>
          </a:prstGeom>
        </p:spPr>
      </p:pic>
      <p:sp>
        <p:nvSpPr>
          <p:cNvPr id="6" name="Shape 3"/>
          <p:cNvSpPr/>
          <p:nvPr/>
        </p:nvSpPr>
        <p:spPr>
          <a:xfrm>
            <a:off x="723900" y="4671020"/>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838200" y="4671020"/>
            <a:ext cx="10961878"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Zero-score tasks: sites where every check fails.</a:t>
            </a:r>
            <a:endParaRPr lang="en-US" sz="1200" dirty="0"/>
          </a:p>
        </p:txBody>
      </p:sp>
      <p:sp>
        <p:nvSpPr>
          <p:cNvPr id="8" name="TextBox 7"/>
          <p:cNvSpPr txBox="1"/>
          <p:nvPr/>
        </p:nvSpPr>
        <p:spPr>
          <a:xfrm>
            <a:off x="838200" y="5000000"/>
            <a:ext cx="10961878" cy="1200000"/>
          </a:xfrm>
          <a:prstGeom prst="rect">
            <a:avLst/>
          </a:prstGeom>
          <a:noFill/>
        </p:spPr>
        <p:txBody>
          <a:bodyPr wrap="square">
            <a:spAutoFit/>
          </a:bodyPr>
          <a:lstStyle/>
          <a:p>
            <a:pPr>
              <a:spcAft>
                <a:spcPts val="400"/>
              </a:spcAft>
            </a:pPr>
            <a:r>
              <a:rPr sz="1400" b="1">
                <a:solidFill>
                  <a:srgbClr val="14213D"/>
                </a:solidFill>
                <a:latin typeface="Arial"/>
              </a:rPr>
              <a:t>Takeaways</a:t>
            </a:r>
          </a:p>
          <a:p>
            <a:pPr>
              <a:spcAft>
                <a:spcPts val="400"/>
              </a:spcAft>
            </a:pPr>
            <a:r>
              <a:rPr sz="1400" b="0">
                <a:solidFill>
                  <a:srgbClr val="14213D"/>
                </a:solidFill>
                <a:latin typeface="Arial"/>
              </a:rPr>
              <a:t>Checklist alone: +3.4 points, CI includes 0; mainly fewer blank sites.</a:t>
            </a:r>
          </a:p>
          <a:p>
            <a:pPr>
              <a:spcAft>
                <a:spcPts val="400"/>
              </a:spcAft>
            </a:pPr>
            <a:r>
              <a:rPr sz="1400" b="0">
                <a:solidFill>
                  <a:srgbClr val="14213D"/>
                </a:solidFill>
                <a:latin typeface="Arial"/>
              </a:rPr>
              <a:t>Memory on top of the checklist: +8.1 points (95% CI 2.9 to 13.2).</a:t>
            </a:r>
          </a:p>
          <a:p>
            <a:pPr>
              <a:spcAft>
                <a:spcPts val="400"/>
              </a:spcAft>
            </a:pPr>
            <a:r>
              <a:rPr sz="1400" b="0">
                <a:solidFill>
                  <a:srgbClr val="14213D"/>
                </a:solidFill>
                <a:latin typeface="Arial"/>
              </a:rPr>
              <a:t>So most of the gain comes from memory, not from splitting the request.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Task order · shuffled runs</a:t>
            </a:r>
            <a:endParaRPr lang="en-US" sz="1400" dirty="0"/>
          </a:p>
        </p:txBody>
      </p:sp>
      <p:sp>
        <p:nvSpPr>
          <p:cNvPr id="3" name="Text 1"/>
          <p:cNvSpPr>
            <a:spLocks noGrp="1"/>
          </p:cNvSpPr>
          <p:nvPr>
            <p:ph type="title"/>
          </p:nvPr>
        </p:nvSpPr>
        <p:spPr>
          <a:xfrm>
            <a:off x="812800" y="985490"/>
            <a:ext cx="10883392" cy="463550"/>
          </a:xfrm>
          <a:prstGeom prst="rect">
            <a:avLst/>
          </a:prstGeom>
          <a:noFill/>
          <a:ln/>
        </p:spPr>
        <p:txBody>
          <a:bodyPr wrap="square" lIns="0" tIns="0" rIns="0" bIns="0" rtlCol="0" anchor="t">
            <a:normAutofit fontScale="90000"/>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A whole-file example caused blank sites; checked fragments fixed it</a:t>
            </a:r>
            <a:endParaRPr lang="en-US" sz="3000" dirty="0"/>
          </a:p>
        </p:txBody>
      </p:sp>
      <p:graphicFrame>
        <p:nvGraphicFramePr>
          <p:cNvPr id="4" name="Table 3"/>
          <p:cNvGraphicFramePr>
            <a:graphicFrameLocks noGrp="1"/>
          </p:cNvGraphicFramePr>
          <p:nvPr/>
        </p:nvGraphicFramePr>
        <p:xfrm>
          <a:off x="825500" y="1700000"/>
          <a:ext cx="10553699" cy="2113040"/>
        </p:xfrm>
        <a:graphic>
          <a:graphicData uri="http://schemas.openxmlformats.org/drawingml/2006/table">
            <a:tbl>
              <a:tblPr/>
              <a:tblGrid>
                <a:gridCol w="1666373">
                  <a:extLst>
                    <a:ext uri="{9D8B030D-6E8A-4147-A177-3AD203B41FA5}">
                      <a16:colId xmlns:a16="http://schemas.microsoft.com/office/drawing/2014/main" val="20000"/>
                    </a:ext>
                  </a:extLst>
                </a:gridCol>
                <a:gridCol w="1555282">
                  <a:extLst>
                    <a:ext uri="{9D8B030D-6E8A-4147-A177-3AD203B41FA5}">
                      <a16:colId xmlns:a16="http://schemas.microsoft.com/office/drawing/2014/main" val="20001"/>
                    </a:ext>
                  </a:extLst>
                </a:gridCol>
                <a:gridCol w="2888381">
                  <a:extLst>
                    <a:ext uri="{9D8B030D-6E8A-4147-A177-3AD203B41FA5}">
                      <a16:colId xmlns:a16="http://schemas.microsoft.com/office/drawing/2014/main" val="20002"/>
                    </a:ext>
                  </a:extLst>
                </a:gridCol>
                <a:gridCol w="2888381">
                  <a:extLst>
                    <a:ext uri="{9D8B030D-6E8A-4147-A177-3AD203B41FA5}">
                      <a16:colId xmlns:a16="http://schemas.microsoft.com/office/drawing/2014/main" val="20003"/>
                    </a:ext>
                  </a:extLst>
                </a:gridCol>
                <a:gridCol w="1555282">
                  <a:extLst>
                    <a:ext uri="{9D8B030D-6E8A-4147-A177-3AD203B41FA5}">
                      <a16:colId xmlns:a16="http://schemas.microsoft.com/office/drawing/2014/main" val="20004"/>
                    </a:ext>
                  </a:extLst>
                </a:gridCol>
              </a:tblGrid>
              <a:tr h="330000">
                <a:tc>
                  <a:txBody>
                    <a:bodyPr/>
                    <a:lstStyle/>
                    <a:p>
                      <a:r>
                        <a:rPr sz="1200" b="1">
                          <a:solidFill>
                            <a:srgbClr val="14213D"/>
                          </a:solidFill>
                          <a:latin typeface="Arial"/>
                        </a:rPr>
                        <a:t>Task order</a:t>
                      </a:r>
                    </a:p>
                  </a:txBody>
                  <a:tcPr marL="60000" marR="60000" marT="40000" marB="40000">
                    <a:solidFill>
                      <a:srgbClr val="EEF2F8"/>
                    </a:solidFill>
                  </a:tcPr>
                </a:tc>
                <a:tc>
                  <a:txBody>
                    <a:bodyPr/>
                    <a:lstStyle/>
                    <a:p>
                      <a:r>
                        <a:rPr sz="1200" b="1">
                          <a:solidFill>
                            <a:srgbClr val="14213D"/>
                          </a:solidFill>
                          <a:latin typeface="Arial"/>
                        </a:rPr>
                        <a:t>Version</a:t>
                      </a:r>
                    </a:p>
                  </a:txBody>
                  <a:tcPr marL="60000" marR="60000" marT="40000" marB="40000">
                    <a:solidFill>
                      <a:srgbClr val="EEF2F8"/>
                    </a:solidFill>
                  </a:tcPr>
                </a:tc>
                <a:tc>
                  <a:txBody>
                    <a:bodyPr/>
                    <a:lstStyle/>
                    <a:p>
                      <a:r>
                        <a:rPr sz="1200" b="1">
                          <a:solidFill>
                            <a:srgbClr val="14213D"/>
                          </a:solidFill>
                          <a:latin typeface="Arial"/>
                        </a:rPr>
                        <a:t>Code example in memory</a:t>
                      </a:r>
                    </a:p>
                  </a:txBody>
                  <a:tcPr marL="60000" marR="60000" marT="40000" marB="40000">
                    <a:solidFill>
                      <a:srgbClr val="EEF2F8"/>
                    </a:solidFill>
                  </a:tcPr>
                </a:tc>
                <a:tc>
                  <a:txBody>
                    <a:bodyPr/>
                    <a:lstStyle/>
                    <a:p>
                      <a:r>
                        <a:rPr sz="1200" b="1">
                          <a:solidFill>
                            <a:srgbClr val="14213D"/>
                          </a:solidFill>
                          <a:latin typeface="Arial"/>
                        </a:rPr>
                        <a:t>Gain vs No Memory (95% CI)</a:t>
                      </a:r>
                    </a:p>
                  </a:txBody>
                  <a:tcPr marL="60000" marR="60000" marT="40000" marB="40000">
                    <a:solidFill>
                      <a:srgbClr val="EEF2F8"/>
                    </a:solidFill>
                  </a:tcPr>
                </a:tc>
                <a:tc>
                  <a:txBody>
                    <a:bodyPr/>
                    <a:lstStyle/>
                    <a:p>
                      <a:r>
                        <a:rPr sz="1200" b="1">
                          <a:solidFill>
                            <a:srgbClr val="14213D"/>
                          </a:solidFill>
                          <a:latin typeface="Arial"/>
                        </a:rPr>
                        <a:t>Blank scaffolds</a:t>
                      </a:r>
                    </a:p>
                  </a:txBody>
                  <a:tcPr marL="60000" marR="60000" marT="40000" marB="40000">
                    <a:solidFill>
                      <a:srgbClr val="EEF2F8"/>
                    </a:solidFill>
                  </a:tcPr>
                </a:tc>
                <a:extLst>
                  <a:ext uri="{0D108BD9-81ED-4DB2-BD59-A6C34878D82A}">
                    <a16:rowId xmlns:a16="http://schemas.microsoft.com/office/drawing/2014/main" val="10000"/>
                  </a:ext>
                </a:extLst>
              </a:tr>
              <a:tr h="330000">
                <a:tc>
                  <a:txBody>
                    <a:bodyPr/>
                    <a:lstStyle/>
                    <a:p>
                      <a:r>
                        <a:rPr sz="1200" b="0">
                          <a:solidFill>
                            <a:srgbClr val="14213D"/>
                          </a:solidFill>
                          <a:latin typeface="Arial"/>
                        </a:rPr>
                        <a:t>Seed 11 (blocks)</a:t>
                      </a:r>
                    </a:p>
                  </a:txBody>
                  <a:tcPr marL="60000" marR="60000" marT="40000" marB="40000">
                    <a:solidFill>
                      <a:srgbClr val="FFFFFF"/>
                    </a:solidFill>
                  </a:tcPr>
                </a:tc>
                <a:tc>
                  <a:txBody>
                    <a:bodyPr/>
                    <a:lstStyle/>
                    <a:p>
                      <a:r>
                        <a:rPr sz="1200" b="0">
                          <a:solidFill>
                            <a:srgbClr val="14213D"/>
                          </a:solidFill>
                          <a:latin typeface="Arial"/>
                        </a:rPr>
                        <a:t>Code memory (whole-file)</a:t>
                      </a:r>
                    </a:p>
                  </a:txBody>
                  <a:tcPr marL="60000" marR="60000" marT="40000" marB="40000">
                    <a:solidFill>
                      <a:srgbClr val="FFFFFF"/>
                    </a:solidFill>
                  </a:tcPr>
                </a:tc>
                <a:tc>
                  <a:txBody>
                    <a:bodyPr/>
                    <a:lstStyle/>
                    <a:p>
                      <a:r>
                        <a:rPr sz="1200" b="0">
                          <a:solidFill>
                            <a:srgbClr val="14213D"/>
                          </a:solidFill>
                          <a:latin typeface="Arial"/>
                        </a:rPr>
                        <a:t>Whole App.vue file</a:t>
                      </a:r>
                    </a:p>
                  </a:txBody>
                  <a:tcPr marL="60000" marR="60000" marT="40000" marB="40000">
                    <a:solidFill>
                      <a:srgbClr val="FFFFFF"/>
                    </a:solidFill>
                  </a:tcPr>
                </a:tc>
                <a:tc>
                  <a:txBody>
                    <a:bodyPr/>
                    <a:lstStyle/>
                    <a:p>
                      <a:r>
                        <a:rPr sz="1200" b="0">
                          <a:solidFill>
                            <a:srgbClr val="14213D"/>
                          </a:solidFill>
                          <a:latin typeface="Arial"/>
                        </a:rPr>
                        <a:t>+4.4 (−1.9 to 10.6)</a:t>
                      </a:r>
                    </a:p>
                  </a:txBody>
                  <a:tcPr marL="60000" marR="60000" marT="40000" marB="40000">
                    <a:solidFill>
                      <a:srgbClr val="FFFFFF"/>
                    </a:solidFill>
                  </a:tcPr>
                </a:tc>
                <a:tc>
                  <a:txBody>
                    <a:bodyPr/>
                    <a:lstStyle/>
                    <a:p>
                      <a:r>
                        <a:rPr sz="1200" b="0">
                          <a:solidFill>
                            <a:srgbClr val="14213D"/>
                          </a:solidFill>
                          <a:latin typeface="Arial"/>
                        </a:rPr>
                        <a:t>19</a:t>
                      </a:r>
                    </a:p>
                  </a:txBody>
                  <a:tcPr marL="60000" marR="60000" marT="40000" marB="40000">
                    <a:solidFill>
                      <a:srgbClr val="FFFFFF"/>
                    </a:solidFill>
                  </a:tcPr>
                </a:tc>
                <a:extLst>
                  <a:ext uri="{0D108BD9-81ED-4DB2-BD59-A6C34878D82A}">
                    <a16:rowId xmlns:a16="http://schemas.microsoft.com/office/drawing/2014/main" val="10001"/>
                  </a:ext>
                </a:extLst>
              </a:tr>
              <a:tr h="330000">
                <a:tc>
                  <a:txBody>
                    <a:bodyPr/>
                    <a:lstStyle/>
                    <a:p>
                      <a:r>
                        <a:rPr sz="1200" b="0">
                          <a:solidFill>
                            <a:srgbClr val="14213D"/>
                          </a:solidFill>
                          <a:latin typeface="Arial"/>
                        </a:rPr>
                        <a:t>Seed 11 (blocks)</a:t>
                      </a:r>
                    </a:p>
                  </a:txBody>
                  <a:tcPr marL="60000" marR="60000" marT="40000" marB="40000">
                    <a:solidFill>
                      <a:srgbClr val="FFFFFF"/>
                    </a:solidFill>
                  </a:tcPr>
                </a:tc>
                <a:tc>
                  <a:txBody>
                    <a:bodyPr/>
                    <a:lstStyle/>
                    <a:p>
                      <a:r>
                        <a:rPr sz="1200" b="0">
                          <a:solidFill>
                            <a:srgbClr val="14213D"/>
                          </a:solidFill>
                          <a:latin typeface="Arial"/>
                        </a:rPr>
                        <a:t>Code memory (fragments)</a:t>
                      </a:r>
                    </a:p>
                  </a:txBody>
                  <a:tcPr marL="60000" marR="60000" marT="40000" marB="40000">
                    <a:solidFill>
                      <a:srgbClr val="FFFFFF"/>
                    </a:solidFill>
                  </a:tcPr>
                </a:tc>
                <a:tc>
                  <a:txBody>
                    <a:bodyPr/>
                    <a:lstStyle/>
                    <a:p>
                      <a:r>
                        <a:rPr sz="1200" b="0">
                          <a:solidFill>
                            <a:srgbClr val="14213D"/>
                          </a:solidFill>
                          <a:latin typeface="Arial"/>
                        </a:rPr>
                        <a:t>Checked fragment</a:t>
                      </a:r>
                    </a:p>
                  </a:txBody>
                  <a:tcPr marL="60000" marR="60000" marT="40000" marB="40000">
                    <a:solidFill>
                      <a:srgbClr val="FFFFFF"/>
                    </a:solidFill>
                  </a:tcPr>
                </a:tc>
                <a:tc>
                  <a:txBody>
                    <a:bodyPr/>
                    <a:lstStyle/>
                    <a:p>
                      <a:r>
                        <a:rPr sz="1200" b="1">
                          <a:solidFill>
                            <a:srgbClr val="14213D"/>
                          </a:solidFill>
                          <a:latin typeface="Arial"/>
                        </a:rPr>
                        <a:t>+7.4 (1.6 to 13.1)</a:t>
                      </a:r>
                    </a:p>
                  </a:txBody>
                  <a:tcPr marL="60000" marR="60000" marT="40000" marB="40000">
                    <a:solidFill>
                      <a:srgbClr val="FFFFFF"/>
                    </a:solidFill>
                  </a:tcPr>
                </a:tc>
                <a:tc>
                  <a:txBody>
                    <a:bodyPr/>
                    <a:lstStyle/>
                    <a:p>
                      <a:r>
                        <a:rPr sz="1200" b="1">
                          <a:solidFill>
                            <a:srgbClr val="14213D"/>
                          </a:solidFill>
                          <a:latin typeface="Arial"/>
                        </a:rPr>
                        <a:t>0</a:t>
                      </a:r>
                    </a:p>
                  </a:txBody>
                  <a:tcPr marL="60000" marR="60000" marT="40000" marB="40000">
                    <a:solidFill>
                      <a:srgbClr val="FFFFFF"/>
                    </a:solidFill>
                  </a:tcPr>
                </a:tc>
                <a:extLst>
                  <a:ext uri="{0D108BD9-81ED-4DB2-BD59-A6C34878D82A}">
                    <a16:rowId xmlns:a16="http://schemas.microsoft.com/office/drawing/2014/main" val="10002"/>
                  </a:ext>
                </a:extLst>
              </a:tr>
              <a:tr h="330000">
                <a:tc>
                  <a:txBody>
                    <a:bodyPr/>
                    <a:lstStyle/>
                    <a:p>
                      <a:r>
                        <a:rPr sz="1200" b="0">
                          <a:solidFill>
                            <a:srgbClr val="14213D"/>
                          </a:solidFill>
                          <a:latin typeface="Arial"/>
                        </a:rPr>
                        <a:t>Seed 29 (random)</a:t>
                      </a:r>
                    </a:p>
                  </a:txBody>
                  <a:tcPr marL="60000" marR="60000" marT="40000" marB="40000">
                    <a:solidFill>
                      <a:srgbClr val="FFFFFF"/>
                    </a:solidFill>
                  </a:tcPr>
                </a:tc>
                <a:tc>
                  <a:txBody>
                    <a:bodyPr/>
                    <a:lstStyle/>
                    <a:p>
                      <a:r>
                        <a:rPr sz="1200" b="0">
                          <a:solidFill>
                            <a:srgbClr val="14213D"/>
                          </a:solidFill>
                          <a:latin typeface="Arial"/>
                        </a:rPr>
                        <a:t>Code memory (whole-file)</a:t>
                      </a:r>
                    </a:p>
                  </a:txBody>
                  <a:tcPr marL="60000" marR="60000" marT="40000" marB="40000">
                    <a:solidFill>
                      <a:srgbClr val="FFFFFF"/>
                    </a:solidFill>
                  </a:tcPr>
                </a:tc>
                <a:tc>
                  <a:txBody>
                    <a:bodyPr/>
                    <a:lstStyle/>
                    <a:p>
                      <a:r>
                        <a:rPr sz="1200" b="0">
                          <a:solidFill>
                            <a:srgbClr val="14213D"/>
                          </a:solidFill>
                          <a:latin typeface="Arial"/>
                        </a:rPr>
                        <a:t>Whole App.vue file</a:t>
                      </a:r>
                    </a:p>
                  </a:txBody>
                  <a:tcPr marL="60000" marR="60000" marT="40000" marB="40000">
                    <a:solidFill>
                      <a:srgbClr val="FFFFFF"/>
                    </a:solidFill>
                  </a:tcPr>
                </a:tc>
                <a:tc>
                  <a:txBody>
                    <a:bodyPr/>
                    <a:lstStyle/>
                    <a:p>
                      <a:r>
                        <a:rPr sz="1200" b="0">
                          <a:solidFill>
                            <a:srgbClr val="14213D"/>
                          </a:solidFill>
                          <a:latin typeface="Arial"/>
                        </a:rPr>
                        <a:t>+4.5 (−2.2 to 11.3)</a:t>
                      </a:r>
                    </a:p>
                  </a:txBody>
                  <a:tcPr marL="60000" marR="60000" marT="40000" marB="40000">
                    <a:solidFill>
                      <a:srgbClr val="FFFFFF"/>
                    </a:solidFill>
                  </a:tcPr>
                </a:tc>
                <a:tc>
                  <a:txBody>
                    <a:bodyPr/>
                    <a:lstStyle/>
                    <a:p>
                      <a:r>
                        <a:rPr sz="1200" b="0">
                          <a:solidFill>
                            <a:srgbClr val="14213D"/>
                          </a:solidFill>
                          <a:latin typeface="Arial"/>
                        </a:rPr>
                        <a:t>16</a:t>
                      </a:r>
                    </a:p>
                  </a:txBody>
                  <a:tcPr marL="60000" marR="60000" marT="40000" marB="40000">
                    <a:solidFill>
                      <a:srgbClr val="FFFFFF"/>
                    </a:solidFill>
                  </a:tcPr>
                </a:tc>
                <a:extLst>
                  <a:ext uri="{0D108BD9-81ED-4DB2-BD59-A6C34878D82A}">
                    <a16:rowId xmlns:a16="http://schemas.microsoft.com/office/drawing/2014/main" val="10003"/>
                  </a:ext>
                </a:extLst>
              </a:tr>
              <a:tr h="330000">
                <a:tc>
                  <a:txBody>
                    <a:bodyPr/>
                    <a:lstStyle/>
                    <a:p>
                      <a:r>
                        <a:rPr sz="1200" b="0">
                          <a:solidFill>
                            <a:srgbClr val="14213D"/>
                          </a:solidFill>
                          <a:latin typeface="Arial"/>
                        </a:rPr>
                        <a:t>Seed 29 (random)</a:t>
                      </a:r>
                    </a:p>
                  </a:txBody>
                  <a:tcPr marL="60000" marR="60000" marT="40000" marB="40000">
                    <a:solidFill>
                      <a:srgbClr val="FFFFFF"/>
                    </a:solidFill>
                  </a:tcPr>
                </a:tc>
                <a:tc>
                  <a:txBody>
                    <a:bodyPr/>
                    <a:lstStyle/>
                    <a:p>
                      <a:r>
                        <a:rPr sz="1200" b="0">
                          <a:solidFill>
                            <a:srgbClr val="14213D"/>
                          </a:solidFill>
                          <a:latin typeface="Arial"/>
                        </a:rPr>
                        <a:t>Code memory (fragments)</a:t>
                      </a:r>
                    </a:p>
                  </a:txBody>
                  <a:tcPr marL="60000" marR="60000" marT="40000" marB="40000">
                    <a:solidFill>
                      <a:srgbClr val="FFFFFF"/>
                    </a:solidFill>
                  </a:tcPr>
                </a:tc>
                <a:tc>
                  <a:txBody>
                    <a:bodyPr/>
                    <a:lstStyle/>
                    <a:p>
                      <a:r>
                        <a:rPr sz="1200" b="0">
                          <a:solidFill>
                            <a:srgbClr val="14213D"/>
                          </a:solidFill>
                          <a:latin typeface="Arial"/>
                        </a:rPr>
                        <a:t>Checked fragment</a:t>
                      </a:r>
                    </a:p>
                  </a:txBody>
                  <a:tcPr marL="60000" marR="60000" marT="40000" marB="40000">
                    <a:solidFill>
                      <a:srgbClr val="FFFFFF"/>
                    </a:solidFill>
                  </a:tcPr>
                </a:tc>
                <a:tc>
                  <a:txBody>
                    <a:bodyPr/>
                    <a:lstStyle/>
                    <a:p>
                      <a:r>
                        <a:rPr sz="1200" b="0">
                          <a:solidFill>
                            <a:srgbClr val="14213D"/>
                          </a:solidFill>
                          <a:latin typeface="Arial"/>
                        </a:rPr>
                        <a:t>+5.5 (−0.5 to 11.6)</a:t>
                      </a:r>
                    </a:p>
                  </a:txBody>
                  <a:tcPr marL="60000" marR="60000" marT="40000" marB="40000">
                    <a:solidFill>
                      <a:srgbClr val="FFFFFF"/>
                    </a:solidFill>
                  </a:tcPr>
                </a:tc>
                <a:tc>
                  <a:txBody>
                    <a:bodyPr/>
                    <a:lstStyle/>
                    <a:p>
                      <a:r>
                        <a:rPr sz="1200" b="1">
                          <a:solidFill>
                            <a:srgbClr val="14213D"/>
                          </a:solidFill>
                          <a:latin typeface="Arial"/>
                        </a:rPr>
                        <a:t>0</a:t>
                      </a:r>
                    </a:p>
                  </a:txBody>
                  <a:tcPr marL="60000" marR="60000" marT="40000" marB="40000">
                    <a:solidFill>
                      <a:srgbClr val="FFFFFF"/>
                    </a:solidFill>
                  </a:tcPr>
                </a:tc>
                <a:extLst>
                  <a:ext uri="{0D108BD9-81ED-4DB2-BD59-A6C34878D82A}">
                    <a16:rowId xmlns:a16="http://schemas.microsoft.com/office/drawing/2014/main" val="10004"/>
                  </a:ext>
                </a:extLst>
              </a:tr>
            </a:tbl>
          </a:graphicData>
        </a:graphic>
      </p:graphicFrame>
      <p:pic>
        <p:nvPicPr>
          <p:cNvPr id="5" name="Picture 4" descr="gap_order_seed11_v91.png"/>
          <p:cNvPicPr>
            <a:picLocks noChangeAspect="1"/>
          </p:cNvPicPr>
          <p:nvPr/>
        </p:nvPicPr>
        <p:blipFill>
          <a:blip r:embed="rId3"/>
          <a:stretch>
            <a:fillRect/>
          </a:stretch>
        </p:blipFill>
        <p:spPr>
          <a:xfrm>
            <a:off x="692978" y="3900000"/>
            <a:ext cx="6300000" cy="2634545"/>
          </a:xfrm>
          <a:prstGeom prst="rect">
            <a:avLst/>
          </a:prstGeom>
        </p:spPr>
      </p:pic>
      <p:sp>
        <p:nvSpPr>
          <p:cNvPr id="6" name="TextBox 5"/>
          <p:cNvSpPr txBox="1"/>
          <p:nvPr/>
        </p:nvSpPr>
        <p:spPr>
          <a:xfrm>
            <a:off x="7350000" y="3900000"/>
            <a:ext cx="3780000" cy="2500000"/>
          </a:xfrm>
          <a:prstGeom prst="rect">
            <a:avLst/>
          </a:prstGeom>
          <a:noFill/>
        </p:spPr>
        <p:txBody>
          <a:bodyPr wrap="square">
            <a:spAutoFit/>
          </a:bodyPr>
          <a:lstStyle/>
          <a:p>
            <a:pPr>
              <a:spcAft>
                <a:spcPts val="400"/>
              </a:spcAft>
            </a:pPr>
            <a:r>
              <a:rPr sz="1200" b="1">
                <a:solidFill>
                  <a:srgbClr val="14213D"/>
                </a:solidFill>
                <a:latin typeface="Arial"/>
              </a:rPr>
              <a:t>What it means</a:t>
            </a:r>
          </a:p>
          <a:p>
            <a:pPr>
              <a:spcAft>
                <a:spcPts val="400"/>
              </a:spcAft>
            </a:pPr>
            <a:r>
              <a:rPr sz="1200" b="0">
                <a:solidFill>
                  <a:srgbClr val="14213D"/>
                </a:solidFill>
                <a:latin typeface="Arial"/>
              </a:rPr>
              <a:t>With whole-file examples, the model copied a whole file as a finished answer and returned the empty starter project.</a:t>
            </a:r>
          </a:p>
          <a:p>
            <a:pPr>
              <a:spcAft>
                <a:spcPts val="400"/>
              </a:spcAft>
            </a:pPr>
            <a:r>
              <a:rPr sz="1200" b="0">
                <a:solidFill>
                  <a:srgbClr val="14213D"/>
                </a:solidFill>
                <a:latin typeface="Arial"/>
              </a:rPr>
              <a:t>With fragments: zero blank sites in both orders.</a:t>
            </a:r>
          </a:p>
          <a:p>
            <a:pPr>
              <a:spcAft>
                <a:spcPts val="400"/>
              </a:spcAft>
            </a:pPr>
            <a:r>
              <a:rPr sz="1200" b="0">
                <a:solidFill>
                  <a:srgbClr val="14213D"/>
                </a:solidFill>
                <a:latin typeface="Arial"/>
              </a:rPr>
              <a:t>No Memory is stable (27.9–28.6%), so the change is on the memory side.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Limits and next steps</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What we still need to check</a:t>
            </a:r>
            <a:endParaRPr lang="en-US" sz="3000" dirty="0"/>
          </a:p>
        </p:txBody>
      </p:sp>
      <p:sp>
        <p:nvSpPr>
          <p:cNvPr id="4" name="Text 2"/>
          <p:cNvSpPr/>
          <p:nvPr/>
        </p:nvSpPr>
        <p:spPr>
          <a:xfrm>
            <a:off x="8128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Limits</a:t>
            </a:r>
            <a:endParaRPr lang="en-US" sz="1800" dirty="0"/>
          </a:p>
        </p:txBody>
      </p:sp>
      <p:sp>
        <p:nvSpPr>
          <p:cNvPr id="5" name="Text 3"/>
          <p:cNvSpPr/>
          <p:nvPr/>
        </p:nvSpPr>
        <p:spPr>
          <a:xfrm>
            <a:off x="8966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One run per task order (the paper also uses one run)</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Gain is in features, not in look (3.25 vs 3.22)</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One model and one tool (Bolt + Vue)</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Method was tuned on the same 101 tasks (checked on 2 new orders)</a:t>
            </a:r>
            <a:endParaRPr lang="en-US" sz="1500" dirty="0"/>
          </a:p>
        </p:txBody>
      </p:sp>
      <p:sp>
        <p:nvSpPr>
          <p:cNvPr id="6" name="Text 4"/>
          <p:cNvSpPr/>
          <p:nvPr/>
        </p:nvSpPr>
        <p:spPr>
          <a:xfrm>
            <a:off x="61976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Next steps</a:t>
            </a:r>
            <a:endParaRPr lang="en-US" sz="1800" dirty="0"/>
          </a:p>
        </p:txBody>
      </p:sp>
      <p:sp>
        <p:nvSpPr>
          <p:cNvPr id="7" name="Text 5"/>
          <p:cNvSpPr/>
          <p:nvPr/>
        </p:nvSpPr>
        <p:spPr>
          <a:xfrm>
            <a:off x="62814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Fragments in the original order: 16 Oct</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Two more orders and fixed code prefix: by 18 Oct</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Thesis draft to supervisor: 19 Oct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BFBF8"/>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711200" y="508000"/>
            <a:ext cx="11092688" cy="405110"/>
          </a:xfrm>
          <a:prstGeom prst="rect">
            <a:avLst/>
          </a:prstGeom>
          <a:noFill/>
          <a:ln/>
        </p:spPr>
        <p:txBody>
          <a:bodyPr wrap="square" lIns="0" tIns="0" rIns="0" bIns="0" rtlCol="0" anchor="t">
            <a:normAutofit/>
          </a:bodyPr>
          <a:lstStyle/>
          <a:p>
            <a:pPr marL="0" indent="0" algn="l">
              <a:lnSpc>
                <a:spcPts val="2990"/>
              </a:lnSpc>
              <a:buNone/>
            </a:pPr>
            <a:r>
              <a:rPr lang="en-US" sz="2600" b="1" i="0" dirty="0">
                <a:solidFill>
                  <a:srgbClr val="14213D"/>
                </a:solidFill>
                <a:latin typeface="Georgia" pitchFamily="18" charset="0"/>
                <a:ea typeface="Georgia" pitchFamily="18" charset="-122"/>
                <a:cs typeface="Georgia" pitchFamily="18" charset="-120"/>
              </a:rPr>
              <a:t>References</a:t>
            </a:r>
            <a:endParaRPr lang="en-US" sz="2600" dirty="0"/>
          </a:p>
        </p:txBody>
      </p:sp>
      <p:sp>
        <p:nvSpPr>
          <p:cNvPr id="4" name="Text 1">
            <a:extLst>
              <a:ext uri="{FF2B5EF4-FFF2-40B4-BE49-F238E27FC236}">
                <a16:creationId xmlns:a16="http://schemas.microsoft.com/office/drawing/2014/main" id="{59E0F296-53D6-3D06-3E9B-A9B9DDE745A5}"/>
              </a:ext>
            </a:extLst>
          </p:cNvPr>
          <p:cNvSpPr/>
          <p:nvPr/>
        </p:nvSpPr>
        <p:spPr>
          <a:xfrm>
            <a:off x="629920" y="1040110"/>
            <a:ext cx="11092688" cy="5309890"/>
          </a:xfrm>
          <a:prstGeom prst="rect">
            <a:avLst/>
          </a:prstGeom>
          <a:noFill/>
          <a:ln/>
        </p:spPr>
        <p:txBody>
          <a:bodyPr wrap="square" lIns="0" tIns="0" rIns="0" bIns="0" rtlCol="0" anchor="t">
            <a:noAutofit/>
          </a:bodyPr>
          <a:lstStyle/>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Lu et al., 2025. WebGen-Bench: Evaluating LLMs on generating interactive and functional websites from scratch. arXiv:2505.03733.</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He et al., 2024. WebVoyager: Building an end-to-end web agent with large multimodal models. ACL.</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StackBlitz Labs, 2024. bolt.diy: open-source AI coding agent. github.com/stackblitz-labs/bolt.diy.</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Zhao et al., 2024. ExpeL: LLM agents are experiential learners. AAAI.</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Ouyang et al., 2026. ReasoningBank: Scaling agent self-evolving with reasoning memory. ICLR. arXiv:2509.25140.</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Chhikara et al., 2025. Mem0: Building production-ready AI agents with scalable long-term memory. arXiv:2504.19413.</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Wang, Mao, Fried &amp; Neubig, 2025. Agent Workflow Memory. ICML. arXiv:2409.07429.</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Zheng et al., 2024. Synapse: Trajectory-as-exemplar prompting with memory. ICLR. arXiv:2306.07863.</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Wang et al., 2023. Voyager: An open-ended embodied agent with large language models. arXiv:2305.16291.</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Suzgun et al., 2026. Dynamic Cheatsheet: Test-time learning with adaptive memory. EACL. arXiv:2504.07952.</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Zhang et al., 2026. Agentic Context Engineering: Evolving contexts for self-improving language models. ICLR. arXiv:2510.04618.</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Dai et al., 2026. Metis: Bridging text and code memory for self-evolving agents. arXiv:2606.24151.</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Kim et al., 2026. Memory Transfer Learning: How memories are transferred across domains in coding agents. arXiv:2604.14004.</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Shi et al., 2023. LLMs can be easily distracted by irrelevant context. ICML.</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Liu et al., 2024. Lost in the middle: How language models use long contexts. TACL 12.</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Du et al., 2025. Context length alone hurts LLM performance despite perfect retrieval. Findings of EMNLP. arXiv:2510.05381.</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Madaan et al., 2023. Self-Refine: Iterative refinement with self-feedback. NeurIPS.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2261890"/>
            <a:ext cx="10883392" cy="1193800"/>
          </a:xfrm>
          <a:prstGeom prst="rect">
            <a:avLst/>
          </a:prstGeom>
          <a:noFill/>
          <a:ln/>
        </p:spPr>
        <p:txBody>
          <a:bodyPr wrap="square" lIns="0" tIns="0" rIns="0" bIns="0" rtlCol="0" anchor="t">
            <a:normAutofit/>
          </a:bodyPr>
          <a:lstStyle/>
          <a:p>
            <a:pPr marL="0" indent="0" algn="l">
              <a:lnSpc>
                <a:spcPts val="4600"/>
              </a:lnSpc>
              <a:buNone/>
            </a:pPr>
            <a:r>
              <a:rPr lang="en-US" sz="4000" b="1" i="0" dirty="0">
                <a:solidFill>
                  <a:srgbClr val="F4F1EA"/>
                </a:solidFill>
                <a:latin typeface="Georgia" pitchFamily="18" charset="0"/>
                <a:ea typeface="Georgia" pitchFamily="18" charset="-122"/>
                <a:cs typeface="Georgia" pitchFamily="18" charset="-120"/>
              </a:rPr>
              <a:t>For a small model, memory should give code, not advice</a:t>
            </a:r>
            <a:endParaRPr lang="en-US" sz="4000" dirty="0"/>
          </a:p>
        </p:txBody>
      </p:sp>
      <p:sp>
        <p:nvSpPr>
          <p:cNvPr id="3" name="Text 1"/>
          <p:cNvSpPr/>
          <p:nvPr/>
        </p:nvSpPr>
        <p:spPr>
          <a:xfrm>
            <a:off x="812800" y="3684290"/>
            <a:ext cx="10883392"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C9D3E3"/>
                </a:solidFill>
                <a:latin typeface="Arial" pitchFamily="34" charset="0"/>
                <a:ea typeface="Arial" pitchFamily="34" charset="-122"/>
                <a:cs typeface="Arial" pitchFamily="34" charset="-120"/>
              </a:rPr>
              <a:t>28.5% → 40.0% · most of the gain comes from memory</a:t>
            </a:r>
            <a:endParaRPr lang="en-US" sz="1700" dirty="0"/>
          </a:p>
        </p:txBody>
      </p:sp>
      <p:sp>
        <p:nvSpPr>
          <p:cNvPr id="4" name="Text 2"/>
          <p:cNvSpPr/>
          <p:nvPr/>
        </p:nvSpPr>
        <p:spPr>
          <a:xfrm>
            <a:off x="812800" y="4240510"/>
            <a:ext cx="10883392"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8FB8EE"/>
                </a:solidFill>
                <a:latin typeface="Arial" pitchFamily="34" charset="0"/>
                <a:ea typeface="Arial" pitchFamily="34" charset="-122"/>
                <a:cs typeface="Arial" pitchFamily="34" charset="-120"/>
              </a:rPr>
              <a:t>Thank you. Questions?  ·  Code and data: github.com/qiaopan/WebGen-Bench</a:t>
            </a:r>
            <a:endParaRPr lang="en-US" sz="2000" dirty="0"/>
          </a:p>
        </p:txBody>
      </p:sp>
    </p:spTree>
  </p:cSld>
  <p:clrMapOvr>
    <a:masterClrMapping/>
  </p:clrMapOvr>
</p:sld>
</file>

<file path=ppt/theme/theme1.xml><?xml version="1.0" encoding="utf-8"?>
<a:theme xmlns:a="http://schemas.openxmlformats.org/drawingml/2006/main" name="Long-term memory for a small website generator">
  <a:themeElements>
    <a:clrScheme name="Long-term memory for a small website generator">
      <a:dk1>
        <a:srgbClr val="14213D"/>
      </a:dk1>
      <a:lt1>
        <a:srgbClr val="FBFBF8"/>
      </a:lt1>
      <a:dk2>
        <a:srgbClr val="4E586C"/>
      </a:dk2>
      <a:lt2>
        <a:srgbClr val="E4E5E5"/>
      </a:lt2>
      <a:accent1>
        <a:srgbClr val="2A78D6"/>
      </a:accent1>
      <a:accent2>
        <a:srgbClr val="8FB8EE"/>
      </a:accent2>
      <a:accent3>
        <a:srgbClr val="1F5FAF"/>
      </a:accent3>
      <a:accent4>
        <a:srgbClr val="F2A97F"/>
      </a:accent4>
      <a:accent5>
        <a:srgbClr val="4A5568"/>
      </a:accent5>
      <a:accent6>
        <a:srgbClr val="C9D3E3"/>
      </a:accent6>
      <a:hlink>
        <a:srgbClr val="0563C1"/>
      </a:hlink>
      <a:folHlink>
        <a:srgbClr val="954F72"/>
      </a:folHlink>
    </a:clrScheme>
    <a:fontScheme name="Long-term memory for a small website generato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TotalTime>
  <Words>3015</Words>
  <Application>Microsoft Macintosh PowerPoint</Application>
  <PresentationFormat>宽屏</PresentationFormat>
  <Paragraphs>251</Paragraphs>
  <Slides>18</Slides>
  <Notes>18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18</vt:i4>
      </vt:variant>
    </vt:vector>
  </HeadingPairs>
  <TitlesOfParts>
    <vt:vector size="21" baseType="lpstr">
      <vt:lpstr>Arial</vt:lpstr>
      <vt:lpstr>Georgia</vt:lpstr>
      <vt:lpstr>Long-term memory for a small website generator</vt:lpstr>
      <vt:lpstr>Can long-term memory help a small model build better websites?</vt:lpstr>
      <vt:lpstr>A 7B model builds 101 websites, one after another</vt:lpstr>
      <vt:lpstr>The official pipeline, and what Long Memory adds</vt:lpstr>
      <vt:lpstr>Official rules, and our baseline matches the paper</vt:lpstr>
      <vt:lpstr>A small model trained for this tool, on two H200 GPUs</vt:lpstr>
      <vt:lpstr>11 full runs × 101 tasks: about 1,100 websites and 7,000 checks</vt:lpstr>
      <vt:lpstr>Text lessons helped early, then fell below the baseline</vt:lpstr>
      <vt:lpstr>One missing package turns the whole site into an error page</vt:lpstr>
      <vt:lpstr>The small model follows code, not text</vt:lpstr>
      <vt:lpstr>Two parts: a checklist and a code pool</vt:lpstr>
      <vt:lpstr>Text memory → code memory (whole-file) → code memory (fragments)</vt:lpstr>
      <vt:lpstr>Accuracy rises from 28.5% to 40.0%</vt:lpstr>
      <vt:lpstr>Only the code-pool version keeps its lead</vt:lpstr>
      <vt:lpstr>Memory, not the checklist, drives the gain</vt:lpstr>
      <vt:lpstr>A whole-file example caused blank sites; checked fragments fixed it</vt:lpstr>
      <vt:lpstr>What we still need to check</vt:lpstr>
      <vt:lpstr>References</vt:lpstr>
      <vt:lpstr>For a small model, memory should give code, not advice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memory for a small website generator</dc:title>
  <dc:subject/>
  <dc:creator/>
  <cp:lastModifiedBy>Qiaopan Ma</cp:lastModifiedBy>
  <cp:revision>7</cp:revision>
  <dcterms:created xsi:type="dcterms:W3CDTF">2026-10-13T06:48:37Z</dcterms:created>
  <dcterms:modified xsi:type="dcterms:W3CDTF">2026-10-15T13:14:12Z</dcterms:modified>
</cp:coreProperties>
</file>