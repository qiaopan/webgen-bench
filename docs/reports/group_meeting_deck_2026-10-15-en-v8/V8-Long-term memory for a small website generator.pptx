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56" r:id="rId2"/>
    <p:sldId id="257" r:id="rId3"/>
    <p:sldId id="258" r:id="rId4"/>
    <p:sldId id="259" r:id="rId5"/>
    <p:sldId id="272" r:id="rId23"/>
    <p:sldId id="269" r:id="rId6"/>
    <p:sldId id="260" r:id="rId7"/>
    <p:sldId id="273" r:id="rId24"/>
    <p:sldId id="261" r:id="rId8"/>
    <p:sldId id="262" r:id="rId9"/>
    <p:sldId id="271" r:id="rId22"/>
    <p:sldId id="263" r:id="rId10"/>
    <p:sldId id="264" r:id="rId11"/>
    <p:sldId id="265" r:id="rId12"/>
    <p:sldId id="270" r:id="rId13"/>
    <p:sldId id="266" r:id="rId14"/>
    <p:sldId id="267" r:id="rId15"/>
    <p:sldId id="268" r:id="rId1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0588"/>
  </p:normalViewPr>
  <p:slideViewPr>
    <p:cSldViewPr snapToGrid="0" snapToObjects="1">
      <p:cViewPr varScale="1">
        <p:scale>
          <a:sx n="97" d="100"/>
          <a:sy n="97" d="100"/>
        </p:scale>
        <p:origin x="135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6.xml"/><Relationship Id="rId7" Type="http://schemas.openxmlformats.org/officeDocument/2006/relationships/slide" Target="slides/slide7.xml"/><Relationship Id="rId8" Type="http://schemas.openxmlformats.org/officeDocument/2006/relationships/slide" Target="slides/slide9.xml"/><Relationship Id="rId9" Type="http://schemas.openxmlformats.org/officeDocument/2006/relationships/slide" Target="slides/slide10.xml"/><Relationship Id="rId10" Type="http://schemas.openxmlformats.org/officeDocument/2006/relationships/slide" Target="slides/slide12.xml"/><Relationship Id="rId11" Type="http://schemas.openxmlformats.org/officeDocument/2006/relationships/slide" Target="slides/slide13.xml"/><Relationship Id="rId12" Type="http://schemas.openxmlformats.org/officeDocument/2006/relationships/slide" Target="slides/slide14.xml"/><Relationship Id="rId13" Type="http://schemas.openxmlformats.org/officeDocument/2006/relationships/slide" Target="slides/slide15.xml"/><Relationship Id="rId14" Type="http://schemas.openxmlformats.org/officeDocument/2006/relationships/slide" Target="slides/slide16.xml"/><Relationship Id="rId15" Type="http://schemas.openxmlformats.org/officeDocument/2006/relationships/slide" Target="slides/slide17.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 Id="rId22" Type="http://schemas.openxmlformats.org/officeDocument/2006/relationships/slide" Target="slides/slide11.xml"/><Relationship Id="rId23" Type="http://schemas.openxmlformats.org/officeDocument/2006/relationships/slide" Target="slides/slide5.xml"/><Relationship Id="rId24"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39251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Good morning, everyone. I am Qiaopan. My question: can long-term memory help a small model build better websites, and should that memory be text or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7B model builds 101 websites, one after another, on WebGen-Bench. A GUI agent tests each site. With long-term memory, the system writes down what went wrong after each task, and later tasks reuse it. Does the model get better with experience?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top row is the official pipeline: request, generator, testers, score. Our memory, in blue, reflects after each task and adds a checklist and code examples before the next one. Everything else stays the same.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models run on our own cluster. The generator gets one try with no repair. Accuracy counts pass as one and partial as half. Our No Memory baseline gives 28.5 percent; the paper reports 28.4, so the pipeline is faithful.</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the size of the study. Each run builds all 101 websites. We have eleven full runs: about one thousand one hundred websites and seven thousand checks. No Memory was run in three task orders, to measure how much the baseline itself varies. The remaining runs now use two lanes in parallel, so they finish this weekend; a stronger 32B generator follows.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Our first attempt, v4, used text lessons. They helped on the first 30 tasks, but by the end v4 fell below No Memory, because vague advice filled the prompt and the small model could not act on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led to our key finding. Many sites were blank because they used a package that was not installed. A text tip fixed one in three. A ten-line code example fixed seven in nine. The small model follows code, not text.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 v7 has two parts. A checklist that splits the request, and a code pool: when an error appears in two tasks, we take a short working fragment from our own earlier sites, checked by a compiler.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main result. Without memory: 28.5 percent and 30 zero-score tasks. With v7: 40 percent and 13. Paired by task, the gain is 11.5 points, and the 95 percent confidence interval, 6 to 16.9, does not include zero.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learning curve, in execution order. Text memory, in orange, starts high and then falls below No Memory. Code memory, in blue, keeps its lead to the end. So the gain grows with experience, it is not only an early boost.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ablation adds one part at a time. The checklist alone adds 3.4 points, and this is not significant. Adding memory on top adds 8.1 points, and this is significant. So most of the gain comes from memory.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With memory, the task order matters, because each task can only use what came before it. We tried two shuffled orders. With v7 the gain dropped to about four and a half points. The reason: one code example was a whole file, and the model copied it as a finished answer, returning the empty starter project. In v9.1 every example is a short checked fragment. Blank sites go to zero, and the gain is 7.4 points on seed 11, which is significant, and 5.5 on seed 29. The chart shows the gap staying near or above zero.</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Some limits. Each order has one run, as in the original paper. The gain is in features, not in look. We used one model and one tool, and the method was developed on this benchmark. Next: the last runs finish this weekend, the 32B generator after that, and the thesis draft goes to my supervisor on Monday.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main references.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sum up: for a small model, memory should give code, not advice. Accuracy rises from 28.5 to 40 percent, and most of the gain comes from memory. Thank you.</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tried many versions, but they fall into three families, and from now on I only use these three names. Text memory gives the model lessons written as text; its last version adds a checklist. The text piles up and the small model ignores it: 30.9 percent. Code memory keeps the checklist and adds short code examples from our own working sites: this is the big jump, to 40 percent. The final version changes only how examples are chosen: only checked fragments, never a whole file, which matters when the task order changes. The last row is an ablation: the checklist alone, with memory turned off, helps only a little.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the results, a word on the models and compute. The generator is WebGen-LM-7B. It is not a general Qwen model: the WebGen-Bench authors took Qwen2.5-Coder-7B-Instruct and fine-tuned it on about 600 website-building trajectories that DeepSeek-V3 produced inside Bolt, keeping only good-looking sites. So it already speaks Bolt's format, which makes it a fair small baseline. Everything runs on two H200 GPUs on the school cluster. The first GPU holds the 32B tester and the 7B generator; the second holds the 72B memory model and the embedding model. No paid API is used. We run two tasks in parallel, about twelve minutes each, and so far we have used about 470 GPU-hours.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Here is what failure actually looks like. Same task, a solar dashboard. Without memory, the model imports a chart library that is not installed. The page shows only this error, so every test fails and the task scores zero. This is the most common way the 7B model gets zero. With the final memory, the prompt carried a short code example from an earlier site that worked; the model built all three views and every test passed. The numbered boxes are drawn by the tester to name what it can click.</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214090"/>
            <a:ext cx="10566400" cy="438150"/>
          </a:xfrm>
          <a:prstGeom prst="rect">
            <a:avLst/>
          </a:prstGeom>
          <a:noFill/>
          <a:ln/>
        </p:spPr>
        <p:txBody>
          <a:bodyPr wrap="square" lIns="0" tIns="0" rIns="0" bIns="0" rtlCol="0" anchor="t"/>
          <a:lstStyle>
            <a:lvl1pPr marL="0" indent="0" algn="l">
              <a:lnSpc>
                <a:spcPct val="115000"/>
              </a:lnSpc>
              <a:buNone/>
              <a:defRPr lang="en-US" sz="3000" dirty="0">
                <a:solidFill>
                  <a:srgbClr val="14213D"/>
                </a:solidFill>
                <a:latin typeface="Georgia" pitchFamily="34" charset="0"/>
                <a:ea typeface="Georgia" pitchFamily="34" charset="-122"/>
                <a:cs typeface="Georgia" pitchFamily="34" charset="-120"/>
              </a:defRPr>
            </a:lvl1pPr>
          </a:lstStyle>
          <a:p>
            <a:pPr marL="0" indent="0" algn="l">
              <a:lnSpc>
                <a:spcPct val="115000"/>
              </a:lnSpc>
              <a:buNone/>
            </a:pPr>
            <a:endParaRPr lang="en-US" sz="3000" dirty="0"/>
          </a:p>
        </p:txBody>
      </p:sp>
      <p:sp>
        <p:nvSpPr>
          <p:cNvPr id="3" name="Text Placeholder 2"/>
          <p:cNvSpPr>
            <a:spLocks noGrp="1"/>
          </p:cNvSpPr>
          <p:nvPr>
            <p:ph type="body" idx="101"/>
          </p:nvPr>
        </p:nvSpPr>
        <p:spPr>
          <a:xfrm>
            <a:off x="812800" y="1957040"/>
            <a:ext cx="10566400" cy="4088160"/>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Arial" pitchFamily="34" charset="0"/>
                <a:ea typeface="Arial" pitchFamily="34" charset="-122"/>
                <a:cs typeface="Arial"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1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207015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Group meeting · WebGen-Bench</a:t>
            </a:r>
            <a:endParaRPr lang="en-US" sz="1400" dirty="0"/>
          </a:p>
        </p:txBody>
      </p:sp>
      <p:sp>
        <p:nvSpPr>
          <p:cNvPr id="3" name="Text 1"/>
          <p:cNvSpPr>
            <a:spLocks noGrp="1"/>
          </p:cNvSpPr>
          <p:nvPr>
            <p:ph type="title"/>
          </p:nvPr>
        </p:nvSpPr>
        <p:spPr>
          <a:xfrm>
            <a:off x="812800" y="2573040"/>
            <a:ext cx="10883392" cy="1198860"/>
          </a:xfrm>
          <a:prstGeom prst="rect">
            <a:avLst/>
          </a:prstGeom>
          <a:noFill/>
          <a:ln/>
        </p:spPr>
        <p:txBody>
          <a:bodyPr wrap="square" lIns="0" tIns="0" rIns="0" bIns="0" rtlCol="0" anchor="t">
            <a:normAutofit/>
          </a:bodyPr>
          <a:lstStyle/>
          <a:p>
            <a:pPr marL="0" indent="0" algn="l">
              <a:lnSpc>
                <a:spcPts val="4620"/>
              </a:lnSpc>
              <a:buNone/>
            </a:pPr>
            <a:r>
              <a:rPr lang="en-US" sz="4200" b="1" i="0" dirty="0">
                <a:solidFill>
                  <a:srgbClr val="F4F1EA"/>
                </a:solidFill>
                <a:latin typeface="Georgia" pitchFamily="18" charset="0"/>
                <a:ea typeface="Georgia" pitchFamily="18" charset="-122"/>
                <a:cs typeface="Georgia" pitchFamily="18" charset="-120"/>
              </a:rPr>
              <a:t>Can long-term memory help a small model build better websites?</a:t>
            </a:r>
            <a:endParaRPr lang="en-US" sz="4200" dirty="0"/>
          </a:p>
        </p:txBody>
      </p:sp>
      <p:sp>
        <p:nvSpPr>
          <p:cNvPr id="4" name="Text 2"/>
          <p:cNvSpPr/>
          <p:nvPr/>
        </p:nvSpPr>
        <p:spPr>
          <a:xfrm>
            <a:off x="812800" y="4000500"/>
            <a:ext cx="10883392" cy="3098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9D3E3"/>
                </a:solidFill>
                <a:latin typeface="Arial" pitchFamily="34" charset="0"/>
                <a:ea typeface="Arial" pitchFamily="34" charset="-122"/>
                <a:cs typeface="Arial" pitchFamily="34" charset="-120"/>
              </a:rPr>
              <a:t>Text lessons vs code examples</a:t>
            </a:r>
            <a:endParaRPr lang="en-US" sz="1600" dirty="0"/>
          </a:p>
        </p:txBody>
      </p:sp>
      <p:sp>
        <p:nvSpPr>
          <p:cNvPr id="5" name="Text 3"/>
          <p:cNvSpPr/>
          <p:nvPr/>
        </p:nvSpPr>
        <p:spPr>
          <a:xfrm>
            <a:off x="812800" y="453896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Arial" pitchFamily="34" charset="0"/>
                <a:ea typeface="Arial" pitchFamily="34" charset="-122"/>
                <a:cs typeface="Arial" pitchFamily="34" charset="-120"/>
              </a:rPr>
              <a:t>Qiaopan Ma · Supervisor: Qian Liu · 16 October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task and the question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7B model builds 101 websites, one after another</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Benchmark</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WebGen-Bench: 101 website requests from 20 areas. A GUI agent clicks through each site and checks the features.</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Long-term memory</a:t>
            </a:r>
            <a:endParaRPr lang="en-US" sz="1800" dirty="0"/>
          </a:p>
        </p:txBody>
      </p:sp>
      <p:sp>
        <p:nvSpPr>
          <p:cNvPr id="9" name="Text 7"/>
          <p:cNvSpPr/>
          <p:nvPr/>
        </p:nvSpPr>
        <p:spPr>
          <a:xfrm>
            <a:off x="6451600" y="2536130"/>
            <a:ext cx="4813808"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After each task, the system writes down what went wrong. Later tasks can reuse it.</a:t>
            </a:r>
            <a:endParaRPr lang="en-US" sz="1500" dirty="0"/>
          </a:p>
        </p:txBody>
      </p:sp>
      <p:sp>
        <p:nvSpPr>
          <p:cNvPr id="10" name="Text 8"/>
          <p:cNvSpPr/>
          <p:nvPr/>
        </p:nvSpPr>
        <p:spPr>
          <a:xfrm>
            <a:off x="812800" y="390138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b="1" dirty="0">
                <a:solidFill>
                  <a:srgbClr val="14213D"/>
                </a:solidFill>
                <a:latin typeface="Arial" pitchFamily="34" charset="0"/>
                <a:ea typeface="Arial" pitchFamily="34" charset="-122"/>
                <a:cs typeface="Arial" pitchFamily="34" charset="-120"/>
              </a:rPr>
              <a:t>Question: does the model get better as it gains experience?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The big picture</a:t>
            </a:r>
            <a:endParaRPr lang="en-US" sz="1400" dirty="0"/>
          </a:p>
        </p:txBody>
      </p:sp>
      <p:sp>
        <p:nvSpPr>
          <p:cNvPr id="3" name="Text 1"/>
          <p:cNvSpPr>
            <a:spLocks noGrp="1"/>
          </p:cNvSpPr>
          <p:nvPr>
            <p:ph type="title"/>
          </p:nvPr>
        </p:nvSpPr>
        <p:spPr>
          <a:xfrm>
            <a:off x="812800" y="1061690"/>
            <a:ext cx="10883392"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The official pipeline, and what Long Memory adds</a:t>
            </a:r>
            <a:endParaRPr lang="en-US" sz="2800" dirty="0"/>
          </a:p>
        </p:txBody>
      </p:sp>
      <p:sp>
        <p:nvSpPr>
          <p:cNvPr id="4" name="Text 2"/>
          <p:cNvSpPr/>
          <p:nvPr/>
        </p:nvSpPr>
        <p:spPr>
          <a:xfrm>
            <a:off x="812800" y="1727200"/>
            <a:ext cx="5886450" cy="25653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6A7179"/>
                </a:solidFill>
                <a:latin typeface="Arial" pitchFamily="34" charset="0"/>
                <a:ea typeface="Arial" pitchFamily="34" charset="-122"/>
                <a:cs typeface="Arial" pitchFamily="34" charset="-120"/>
              </a:rPr>
              <a:t>WebGen-Bench baseline (No Memory)</a:t>
            </a:r>
            <a:endParaRPr lang="en-US" sz="1300" dirty="0"/>
          </a:p>
        </p:txBody>
      </p:sp>
      <p:sp>
        <p:nvSpPr>
          <p:cNvPr id="5" name="Shape 3"/>
          <p:cNvSpPr/>
          <p:nvPr/>
        </p:nvSpPr>
        <p:spPr>
          <a:xfrm>
            <a:off x="819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6" name="Text 4"/>
          <p:cNvSpPr/>
          <p:nvPr/>
        </p:nvSpPr>
        <p:spPr>
          <a:xfrm>
            <a:off x="952500" y="234062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Website request</a:t>
            </a:r>
            <a:endParaRPr lang="en-US" sz="1400" dirty="0"/>
          </a:p>
        </p:txBody>
      </p:sp>
      <p:sp>
        <p:nvSpPr>
          <p:cNvPr id="7" name="Text 5"/>
          <p:cNvSpPr/>
          <p:nvPr/>
        </p:nvSpPr>
        <p:spPr>
          <a:xfrm>
            <a:off x="952500" y="2589510"/>
            <a:ext cx="1805178"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text from the user</a:t>
            </a:r>
            <a:endParaRPr lang="en-US" sz="1200" dirty="0"/>
          </a:p>
        </p:txBody>
      </p:sp>
      <p:sp>
        <p:nvSpPr>
          <p:cNvPr id="8" name="Shape 6"/>
          <p:cNvSpPr/>
          <p:nvPr/>
        </p:nvSpPr>
        <p:spPr>
          <a:xfrm>
            <a:off x="3486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9" name="Text 7"/>
          <p:cNvSpPr/>
          <p:nvPr/>
        </p:nvSpPr>
        <p:spPr>
          <a:xfrm>
            <a:off x="3619500" y="23583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Generator</a:t>
            </a:r>
            <a:endParaRPr lang="en-US" sz="1400" dirty="0"/>
          </a:p>
        </p:txBody>
      </p:sp>
      <p:sp>
        <p:nvSpPr>
          <p:cNvPr id="10" name="Text 8"/>
          <p:cNvSpPr/>
          <p:nvPr/>
        </p:nvSpPr>
        <p:spPr>
          <a:xfrm>
            <a:off x="3619500" y="2607270"/>
            <a:ext cx="1805178"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Bolt agent + WebGen-LM-7B</a:t>
            </a:r>
            <a:endParaRPr lang="en-US" sz="1000" dirty="0"/>
          </a:p>
        </p:txBody>
      </p:sp>
      <p:sp>
        <p:nvSpPr>
          <p:cNvPr id="11" name="Shape 9"/>
          <p:cNvSpPr/>
          <p:nvPr/>
        </p:nvSpPr>
        <p:spPr>
          <a:xfrm>
            <a:off x="6153150" y="2101850"/>
            <a:ext cx="20193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2" name="Text 10"/>
          <p:cNvSpPr/>
          <p:nvPr/>
        </p:nvSpPr>
        <p:spPr>
          <a:xfrm>
            <a:off x="6286500" y="2269480"/>
            <a:ext cx="180517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Testers</a:t>
            </a:r>
            <a:endParaRPr lang="en-US" sz="1400" dirty="0"/>
          </a:p>
        </p:txBody>
      </p:sp>
      <p:sp>
        <p:nvSpPr>
          <p:cNvPr id="13" name="Text 11"/>
          <p:cNvSpPr/>
          <p:nvPr/>
        </p:nvSpPr>
        <p:spPr>
          <a:xfrm>
            <a:off x="6286500" y="2518370"/>
            <a:ext cx="1805178" cy="3810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4A5568"/>
                </a:solidFill>
                <a:latin typeface="Arial" pitchFamily="34" charset="0"/>
                <a:ea typeface="Arial" pitchFamily="34" charset="-122"/>
                <a:cs typeface="Arial" pitchFamily="34" charset="-120"/>
              </a:rPr>
              <a:t>WebVoyager + Qwen2.5-VL-32B; screenshot grader</a:t>
            </a:r>
            <a:endParaRPr lang="en-US" sz="1000" dirty="0"/>
          </a:p>
        </p:txBody>
      </p:sp>
      <p:sp>
        <p:nvSpPr>
          <p:cNvPr id="14" name="Shape 12"/>
          <p:cNvSpPr/>
          <p:nvPr/>
        </p:nvSpPr>
        <p:spPr>
          <a:xfrm>
            <a:off x="8820150" y="2101850"/>
            <a:ext cx="1739900" cy="939800"/>
          </a:xfrm>
          <a:prstGeom prst="roundRect">
            <a:avLst>
              <a:gd name="adj" fmla="val 10135"/>
            </a:avLst>
          </a:prstGeom>
          <a:solidFill>
            <a:srgbClr val="FFFFFF"/>
          </a:solidFill>
          <a:ln w="12700">
            <a:solidFill>
              <a:srgbClr val="A9B6C8"/>
            </a:solidFill>
            <a:prstDash val="solid"/>
          </a:ln>
        </p:spPr>
        <p:txBody>
          <a:bodyPr/>
          <a:lstStyle/>
          <a:p>
            <a:endParaRPr lang="zh-CN" altLang="en-US"/>
          </a:p>
        </p:txBody>
      </p:sp>
      <p:sp>
        <p:nvSpPr>
          <p:cNvPr id="15" name="Text 13"/>
          <p:cNvSpPr/>
          <p:nvPr/>
        </p:nvSpPr>
        <p:spPr>
          <a:xfrm>
            <a:off x="8953500" y="2340620"/>
            <a:ext cx="1524000"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14213D"/>
                </a:solidFill>
                <a:latin typeface="Arial" pitchFamily="34" charset="0"/>
                <a:ea typeface="Arial" pitchFamily="34" charset="-122"/>
                <a:cs typeface="Arial" pitchFamily="34" charset="-120"/>
              </a:rPr>
              <a:t>Score</a:t>
            </a:r>
            <a:endParaRPr lang="en-US" sz="1400" dirty="0"/>
          </a:p>
        </p:txBody>
      </p:sp>
      <p:sp>
        <p:nvSpPr>
          <p:cNvPr id="16" name="Text 14"/>
          <p:cNvSpPr/>
          <p:nvPr/>
        </p:nvSpPr>
        <p:spPr>
          <a:xfrm>
            <a:off x="8953500" y="2589510"/>
            <a:ext cx="1524000"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Arial" pitchFamily="34" charset="0"/>
                <a:ea typeface="Arial" pitchFamily="34" charset="-122"/>
                <a:cs typeface="Arial" pitchFamily="34" charset="-120"/>
              </a:rPr>
              <a:t>pass / partial / fail</a:t>
            </a:r>
            <a:endParaRPr lang="en-US" sz="1200" dirty="0"/>
          </a:p>
        </p:txBody>
      </p:sp>
      <p:pic>
        <p:nvPicPr>
          <p:cNvPr id="17" name="Image 0" descr="connector"/>
          <p:cNvPicPr>
            <a:picLocks noChangeAspect="1"/>
          </p:cNvPicPr>
          <p:nvPr/>
        </p:nvPicPr>
        <p:blipFill>
          <a:blip r:embed="rId3"/>
          <a:srcRect/>
          <a:stretch/>
        </p:blipFill>
        <p:spPr>
          <a:xfrm>
            <a:off x="2794000" y="2520950"/>
            <a:ext cx="736600" cy="101600"/>
          </a:xfrm>
          <a:prstGeom prst="rect">
            <a:avLst/>
          </a:prstGeom>
        </p:spPr>
      </p:pic>
      <p:pic>
        <p:nvPicPr>
          <p:cNvPr id="18" name="Image 1" descr="connector"/>
          <p:cNvPicPr>
            <a:picLocks noChangeAspect="1"/>
          </p:cNvPicPr>
          <p:nvPr/>
        </p:nvPicPr>
        <p:blipFill>
          <a:blip r:embed="rId3"/>
          <a:srcRect/>
          <a:stretch/>
        </p:blipFill>
        <p:spPr>
          <a:xfrm>
            <a:off x="5461000" y="2520950"/>
            <a:ext cx="736600" cy="101600"/>
          </a:xfrm>
          <a:prstGeom prst="rect">
            <a:avLst/>
          </a:prstGeom>
        </p:spPr>
      </p:pic>
      <p:pic>
        <p:nvPicPr>
          <p:cNvPr id="19" name="Image 2" descr="connector"/>
          <p:cNvPicPr>
            <a:picLocks noChangeAspect="1"/>
          </p:cNvPicPr>
          <p:nvPr/>
        </p:nvPicPr>
        <p:blipFill>
          <a:blip r:embed="rId3"/>
          <a:srcRect/>
          <a:stretch/>
        </p:blipFill>
        <p:spPr>
          <a:xfrm>
            <a:off x="8128000" y="2520950"/>
            <a:ext cx="736600" cy="101600"/>
          </a:xfrm>
          <a:prstGeom prst="rect">
            <a:avLst/>
          </a:prstGeom>
        </p:spPr>
      </p:pic>
      <p:sp>
        <p:nvSpPr>
          <p:cNvPr id="20" name="Shape 15"/>
          <p:cNvSpPr/>
          <p:nvPr/>
        </p:nvSpPr>
        <p:spPr>
          <a:xfrm>
            <a:off x="4454525" y="4391025"/>
            <a:ext cx="2393950" cy="933450"/>
          </a:xfrm>
          <a:prstGeom prst="roundRect">
            <a:avLst>
              <a:gd name="adj" fmla="val 9864"/>
            </a:avLst>
          </a:prstGeom>
          <a:solidFill>
            <a:srgbClr val="DCE8F8"/>
          </a:solidFill>
          <a:ln w="19050">
            <a:solidFill>
              <a:srgbClr val="2A78D6"/>
            </a:solidFill>
            <a:prstDash val="solid"/>
          </a:ln>
        </p:spPr>
        <p:txBody>
          <a:bodyPr/>
          <a:lstStyle/>
          <a:p>
            <a:endParaRPr lang="zh-CN" altLang="en-US"/>
          </a:p>
        </p:txBody>
      </p:sp>
      <p:sp>
        <p:nvSpPr>
          <p:cNvPr id="21" name="Text 16"/>
          <p:cNvSpPr/>
          <p:nvPr/>
        </p:nvSpPr>
        <p:spPr>
          <a:xfrm>
            <a:off x="4591050" y="4635500"/>
            <a:ext cx="2184527"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F5FAF"/>
                </a:solidFill>
                <a:latin typeface="Arial" pitchFamily="34" charset="0"/>
                <a:ea typeface="Arial" pitchFamily="34" charset="-122"/>
                <a:cs typeface="Arial" pitchFamily="34" charset="-120"/>
              </a:rPr>
              <a:t>Memory bank</a:t>
            </a:r>
            <a:endParaRPr lang="en-US" sz="1500" dirty="0"/>
          </a:p>
        </p:txBody>
      </p:sp>
      <p:sp>
        <p:nvSpPr>
          <p:cNvPr id="22" name="Text 17"/>
          <p:cNvSpPr/>
          <p:nvPr/>
        </p:nvSpPr>
        <p:spPr>
          <a:xfrm>
            <a:off x="4591050" y="4902200"/>
            <a:ext cx="2184527" cy="203200"/>
          </a:xfrm>
          <a:prstGeom prst="rect">
            <a:avLst/>
          </a:prstGeom>
          <a:noFill/>
          <a:ln/>
        </p:spPr>
        <p:txBody>
          <a:bodyPr wrap="square" lIns="0" tIns="0" rIns="0" bIns="0" rtlCol="0" anchor="t">
            <a:normAutofit/>
          </a:bodyPr>
          <a:lstStyle/>
          <a:p>
            <a:pPr marL="0" indent="0" algn="l">
              <a:lnSpc>
                <a:spcPts val="1400"/>
              </a:lnSpc>
              <a:buNone/>
            </a:pPr>
            <a:r>
              <a:rPr lang="en-US" sz="1000" dirty="0">
                <a:solidFill>
                  <a:srgbClr val="14213D"/>
                </a:solidFill>
                <a:latin typeface="Arial" pitchFamily="34" charset="0"/>
                <a:ea typeface="Arial" pitchFamily="34" charset="-122"/>
                <a:cs typeface="Arial" pitchFamily="34" charset="-120"/>
              </a:rPr>
              <a:t>Qwen2.5-VL-72B + bge-m3</a:t>
            </a:r>
            <a:endParaRPr lang="en-US" sz="1000" dirty="0"/>
          </a:p>
        </p:txBody>
      </p:sp>
      <p:pic>
        <p:nvPicPr>
          <p:cNvPr id="23" name="Image 3" descr="connector"/>
          <p:cNvPicPr>
            <a:picLocks noChangeAspect="1"/>
          </p:cNvPicPr>
          <p:nvPr/>
        </p:nvPicPr>
        <p:blipFill>
          <a:blip r:embed="rId4"/>
          <a:srcRect/>
          <a:stretch/>
        </p:blipFill>
        <p:spPr>
          <a:xfrm>
            <a:off x="6794500" y="2984500"/>
            <a:ext cx="431800" cy="1936750"/>
          </a:xfrm>
          <a:prstGeom prst="rect">
            <a:avLst/>
          </a:prstGeom>
        </p:spPr>
      </p:pic>
      <p:pic>
        <p:nvPicPr>
          <p:cNvPr id="24" name="Image 4" descr="connector"/>
          <p:cNvPicPr>
            <a:picLocks noChangeAspect="1"/>
          </p:cNvPicPr>
          <p:nvPr/>
        </p:nvPicPr>
        <p:blipFill>
          <a:blip r:embed="rId5"/>
          <a:srcRect/>
          <a:stretch/>
        </p:blipFill>
        <p:spPr>
          <a:xfrm>
            <a:off x="1765300" y="2984500"/>
            <a:ext cx="2743200" cy="1936750"/>
          </a:xfrm>
          <a:prstGeom prst="rect">
            <a:avLst/>
          </a:prstGeom>
        </p:spPr>
      </p:pic>
      <p:sp>
        <p:nvSpPr>
          <p:cNvPr id="25" name="Text 18"/>
          <p:cNvSpPr/>
          <p:nvPr/>
        </p:nvSpPr>
        <p:spPr>
          <a:xfrm>
            <a:off x="7366000" y="3556000"/>
            <a:ext cx="327025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After each task: reflect on the test, find code errors, save short fixes</a:t>
            </a:r>
            <a:endParaRPr lang="en-US" sz="1300" dirty="0"/>
          </a:p>
        </p:txBody>
      </p:sp>
      <p:sp>
        <p:nvSpPr>
          <p:cNvPr id="26" name="Text 19"/>
          <p:cNvSpPr/>
          <p:nvPr/>
        </p:nvSpPr>
        <p:spPr>
          <a:xfrm>
            <a:off x="2032000" y="3429000"/>
            <a:ext cx="2354580" cy="487660"/>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F5FAF"/>
                </a:solidFill>
                <a:latin typeface="Arial" pitchFamily="34" charset="0"/>
                <a:ea typeface="Arial" pitchFamily="34" charset="-122"/>
                <a:cs typeface="Arial" pitchFamily="34" charset="-120"/>
              </a:rPr>
              <a:t>Before the next task: add a checklist and code examples</a:t>
            </a:r>
            <a:endParaRPr lang="en-US" sz="1300" dirty="0"/>
          </a:p>
        </p:txBody>
      </p:sp>
      <p:sp>
        <p:nvSpPr>
          <p:cNvPr id="27" name="Text 20"/>
          <p:cNvSpPr/>
          <p:nvPr/>
        </p:nvSpPr>
        <p:spPr>
          <a:xfrm>
            <a:off x="812800" y="6220470"/>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Same generator, same tester, same rules. Long Memory (blue) only changes the text the generator reads.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Setup</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Official rules, and our baseline matches the paper</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796605"/>
        </p:xfrm>
        <a:graphic>
          <a:graphicData uri="http://schemas.openxmlformats.org/drawingml/2006/table">
            <a:tbl>
              <a:tblPr/>
              <a:tblGrid>
                <a:gridCol w="633222">
                  <a:extLst>
                    <a:ext uri="{9D8B030D-6E8A-4147-A177-3AD203B41FA5}">
                      <a16:colId xmlns:a16="http://schemas.microsoft.com/office/drawing/2014/main" val="20000"/>
                    </a:ext>
                  </a:extLst>
                </a:gridCol>
                <a:gridCol w="2532888">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gridCol w="4221480">
                  <a:extLst>
                    <a:ext uri="{9D8B030D-6E8A-4147-A177-3AD203B41FA5}">
                      <a16:colId xmlns:a16="http://schemas.microsoft.com/office/drawing/2014/main" val="20003"/>
                    </a:ext>
                  </a:extLst>
                </a:gridCol>
              </a:tblGrid>
              <a:tr h="359321">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Step</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Agent / tool</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nSpc>
                          <a:spcPts val="1820"/>
                        </a:lnSpc>
                        <a:buNone/>
                      </a:pPr>
                      <a:r>
                        <a:rPr lang="en-US" sz="1300" b="1" dirty="0">
                          <a:solidFill>
                            <a:srgbClr val="14213D"/>
                          </a:solidFill>
                          <a:latin typeface="Arial" pitchFamily="34" charset="0"/>
                          <a:ea typeface="Arial" pitchFamily="34" charset="-122"/>
                          <a:cs typeface="Arial" pitchFamily="34" charset="-120"/>
                        </a:rPr>
                        <a:t>Model (LLM)</a:t>
                      </a:r>
                      <a:endParaRPr lang="en-US" sz="1300" dirty="0">
                        <a:latin typeface="Arial" charset="0"/>
                        <a:ea typeface="Arial" charset="0"/>
                        <a:cs typeface="Arial" charset="0"/>
                      </a:endParaRPr>
                    </a:p>
                  </a:txBody>
                  <a:tcPr marL="57785" marR="57785" marT="57785" marB="57785">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1</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Build website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Bolt agent (coding)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WebGen-LM-7B, one try, no repair</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2</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Test features</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WebVoyager (GUI agent)</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3</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Grade appearance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Screenshot grader (one call)</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Qwen2.5-VL-32B (paper: GPT-4o)</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21">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4</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Write and pick memory</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Our Long Memory module</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Arial" pitchFamily="34" charset="0"/>
                          <a:ea typeface="Arial" pitchFamily="34" charset="-122"/>
                          <a:cs typeface="Arial" pitchFamily="34" charset="-120"/>
                        </a:rPr>
                        <a:t>Qwen2.5-VL-72B-AWQ + bge-m3 embedding</a:t>
                      </a:r>
                      <a:endParaRPr lang="en-US" sz="1300" dirty="0">
                        <a:latin typeface="Arial" charset="0"/>
                        <a:ea typeface="Arial" charset="0"/>
                        <a:cs typeface="Arial"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5" name="Text 2"/>
          <p:cNvSpPr/>
          <p:nvPr/>
        </p:nvSpPr>
        <p:spPr>
          <a:xfrm>
            <a:off x="812800" y="3969544"/>
            <a:ext cx="10883392" cy="25653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Arial" pitchFamily="34" charset="0"/>
                <a:ea typeface="Arial" pitchFamily="34" charset="-122"/>
                <a:cs typeface="Arial" pitchFamily="34" charset="-120"/>
              </a:rPr>
              <a:t>Score = (pass + 0.5 × partial) / checks · No Memory baseline 28.5% (paper: 28.4%)</a:t>
            </a:r>
            <a:endParaRPr lang="en-US" sz="1300" dirty="0"/>
          </a:p>
        </p:txBody>
      </p:sp>
      <p:sp>
        <p:nvSpPr>
          <p:cNvPr id="6" name="Shape 3"/>
          <p:cNvSpPr/>
          <p:nvPr/>
        </p:nvSpPr>
        <p:spPr>
          <a:xfrm>
            <a:off x="825500" y="4454674"/>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454674"/>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Check results: pass = the feature works; partial = it works only in part (counts 0.5); fail = 0. Accuracy is summed over all 647 checks.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Models and compute</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small model trained for this tool, on two H200 GPUs</a:t>
            </a:r>
            <a:endParaRPr lang="en-US" sz="3000" dirty="0"/>
          </a:p>
        </p:txBody>
      </p:sp>
      <p:sp>
        <p:nvSpPr>
          <p:cNvPr id="4" name="Shape 2"/>
          <p:cNvSpPr/>
          <p:nvPr/>
        </p:nvSpPr>
        <p:spPr>
          <a:xfrm>
            <a:off x="812800" y="1906240"/>
            <a:ext cx="5181600" cy="4004621"/>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WebGen-LM-7B (the generator)</a:t>
            </a:r>
            <a:endParaRPr lang="en-US" sz="1800" dirty="0"/>
          </a:p>
        </p:txBody>
      </p:sp>
      <p:sp>
        <p:nvSpPr>
          <p:cNvPr id="6" name="Text 4"/>
          <p:cNvSpPr/>
          <p:nvPr/>
        </p:nvSpPr>
        <p:spPr>
          <a:xfrm>
            <a:off x="10668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Built by the WebGen-Bench authors</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Base: Qwen2.5-Coder-7B-Instruct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Fine-tuning only (SFT), no RL</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Data: DeepSeek-V3 built sites in Bolt for 2,000 requests; kept the 600 best (look ≥ 3/5)</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So it already knows Bolt’s output format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Paper baseline: 28.4%</a:t>
            </a:r>
            <a:endParaRPr lang="en-US" sz="1500" dirty="0"/>
          </a:p>
        </p:txBody>
      </p:sp>
      <p:sp>
        <p:nvSpPr>
          <p:cNvPr id="7" name="Shape 5"/>
          <p:cNvSpPr/>
          <p:nvPr/>
        </p:nvSpPr>
        <p:spPr>
          <a:xfrm>
            <a:off x="6197600" y="1906240"/>
            <a:ext cx="5181600" cy="4004621"/>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Hardware: 2 × NVIDIA H200 (141 GB each)</a:t>
            </a:r>
            <a:endParaRPr lang="en-US" sz="1800" dirty="0"/>
          </a:p>
        </p:txBody>
      </p:sp>
      <p:sp>
        <p:nvSpPr>
          <p:cNvPr id="9" name="Text 7"/>
          <p:cNvSpPr/>
          <p:nvPr/>
        </p:nvSpPr>
        <p:spPr>
          <a:xfrm>
            <a:off x="6451600" y="2536130"/>
            <a:ext cx="4813808" cy="2294890"/>
          </a:xfrm>
          <a:prstGeom prst="rect">
            <a:avLst/>
          </a:prstGeom>
          <a:noFill/>
          <a:ln/>
        </p:spPr>
        <p:txBody>
          <a:bodyPr wrap="square" lIns="0" tIns="0" rIns="0" bIns="0" rtlCol="0" anchor="t">
            <a:noAutofit/>
          </a:bodyPr>
          <a:lstStyle/>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0: 32B tester (83 GB) + 7B generator (26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GPU 1: 72B memory model (113 GB) + bge-m3 (2 GB)</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self-hosted with vLLM; no paid API</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Two tasks in parallel, about 12 min each</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About 470 GPU-hours since 5 Oct</a:t>
            </a:r>
            <a:endParaRPr lang="en-US" sz="1500" dirty="0"/>
          </a:p>
          <a:p>
            <a:pPr marL="0" indent="0" algn="l">
              <a:lnSpc>
                <a:spcPts val="2250"/>
              </a:lnSpc>
              <a:spcAft>
                <a:spcPts val="600"/>
              </a:spcAft>
              <a:buNone/>
            </a:pPr>
            <a:r>
              <a:rPr lang="en-US" sz="1400" dirty="0">
                <a:solidFill>
                  <a:srgbClr val="4A5568"/>
                </a:solidFill>
                <a:latin typeface="Arial" pitchFamily="34" charset="0"/>
                <a:ea typeface="Arial" pitchFamily="34" charset="-122"/>
                <a:cs typeface="Arial" pitchFamily="34" charset="-120"/>
              </a:rPr>
              <a:t>• All runs finished in about 2 weeks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Experiment scale</a:t>
            </a:r>
            <a:endParaRPr lang="en-US" sz="1400" dirty="0"/>
          </a:p>
        </p:txBody>
      </p:sp>
      <p:sp>
        <p:nvSpPr>
          <p:cNvPr id="3" name="Text 1"/>
          <p:cNvSpPr>
            <a:spLocks noGrp="1"/>
          </p:cNvSpPr>
          <p:nvPr>
            <p:ph type="title"/>
          </p:nvPr>
        </p:nvSpPr>
        <p:spPr>
          <a:xfrm>
            <a:off x="812800" y="982315"/>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11 full runs × 101 tasks: about 1,100 websites and 7,000 checks</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Done (in the thesis)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No Memory in 3 task orders (original, seed 11, seed 29)</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Text memory (v4), code memory (v7), checklist only: original order</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v7 and the fixed v9.1 in 2 shuffled orders</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in the original order (ready 16 Oct)</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Still running (two lanes in parallel)</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original order: 16 Oct morning</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Seed 47 and interleaved orders: 17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Fixed code from task 1, no memory: 17–18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Stronger 32B generator: about 19 Oct</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First attempt: text lessons</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lessons helped early, then fell below the baseline</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8940"/>
          <a:ext cx="10553700" cy="1318023"/>
        </p:xfrm>
        <a:graphic>
          <a:graphicData uri="http://schemas.openxmlformats.org/drawingml/2006/table">
            <a:tbl>
              <a:tblPr/>
              <a:tblGrid>
                <a:gridCol w="4221480">
                  <a:extLst>
                    <a:ext uri="{9D8B030D-6E8A-4147-A177-3AD203B41FA5}">
                      <a16:colId xmlns:a16="http://schemas.microsoft.com/office/drawing/2014/main" val="20000"/>
                    </a:ext>
                  </a:extLst>
                </a:gridCol>
                <a:gridCol w="3166110">
                  <a:extLst>
                    <a:ext uri="{9D8B030D-6E8A-4147-A177-3AD203B41FA5}">
                      <a16:colId xmlns:a16="http://schemas.microsoft.com/office/drawing/2014/main" val="20001"/>
                    </a:ext>
                  </a:extLst>
                </a:gridCol>
                <a:gridCol w="3166110">
                  <a:extLst>
                    <a:ext uri="{9D8B030D-6E8A-4147-A177-3AD203B41FA5}">
                      <a16:colId xmlns:a16="http://schemas.microsoft.com/office/drawing/2014/main" val="20002"/>
                    </a:ext>
                  </a:extLst>
                </a:gridCol>
              </a:tblGrid>
              <a:tr h="439341">
                <a:tc>
                  <a:txBody>
                    <a:bodyPr/>
                    <a:lstStyle/>
                    <a:p>
                      <a:pPr marL="0" indent="0">
                        <a:lnSpc>
                          <a:spcPts val="2240"/>
                        </a:lnSpc>
                        <a:buNone/>
                      </a:pPr>
                      <a:r>
                        <a:rPr lang="en-US" sz="1600" b="1" dirty="0">
                          <a:solidFill>
                            <a:srgbClr val="14213D"/>
                          </a:solidFill>
                          <a:latin typeface="Arial" pitchFamily="34" charset="0"/>
                          <a:ea typeface="Arial" pitchFamily="34" charset="-122"/>
                          <a:cs typeface="Arial" pitchFamily="34" charset="-120"/>
                        </a:rPr>
                        <a:t>Tasks</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No Memory</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tc>
                  <a:txBody>
                    <a:bodyPr/>
                    <a:lstStyle/>
                    <a:p>
                      <a:pPr marL="0" indent="0" algn="r">
                        <a:lnSpc>
                          <a:spcPts val="2240"/>
                        </a:lnSpc>
                        <a:buNone/>
                      </a:pPr>
                      <a:r>
                        <a:rPr lang="en-US" sz="1600" b="1" dirty="0">
                          <a:solidFill>
                            <a:srgbClr val="14213D"/>
                          </a:solidFill>
                          <a:latin typeface="Arial" pitchFamily="34" charset="0"/>
                          <a:ea typeface="Arial" pitchFamily="34" charset="-122"/>
                          <a:cs typeface="Arial" pitchFamily="34" charset="-120"/>
                        </a:rPr>
                        <a:t>Text lessons (v4)</a:t>
                      </a:r>
                      <a:endParaRPr lang="en-US" sz="1600" dirty="0">
                        <a:latin typeface="Arial" charset="0"/>
                        <a:ea typeface="Arial" charset="0"/>
                        <a:cs typeface="Arial" charset="0"/>
                      </a:endParaRPr>
                    </a:p>
                  </a:txBody>
                  <a:tcPr marL="71120" marR="71120" marT="71120" marB="71120">
                    <a:lnL w="12700" cap="flat" cmpd="sng" algn="ctr">
                      <a:solidFill>
                        <a:srgbClr val="BABAB8"/>
                      </a:solidFill>
                      <a:prstDash val="solid"/>
                      <a:round/>
                      <a:headEnd type="none" w="med" len="med"/>
                      <a:tailEnd type="none" w="med" len="med"/>
                    </a:lnL>
                    <a:lnR w="12700" cap="flat" cmpd="sng" algn="ctr">
                      <a:solidFill>
                        <a:srgbClr val="BABAB8"/>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ABAB8"/>
                      </a:solidFill>
                      <a:prstDash val="solid"/>
                      <a:round/>
                      <a:headEnd type="none" w="med" len="med"/>
                      <a:tailEnd type="none" w="med" len="med"/>
                    </a:lnB>
                    <a:solidFill>
                      <a:srgbClr val="E9E9E6"/>
                    </a:solidFill>
                  </a:tcPr>
                </a:tc>
                <a:extLst>
                  <a:ext uri="{0D108BD9-81ED-4DB2-BD59-A6C34878D82A}">
                    <a16:rowId xmlns:a16="http://schemas.microsoft.com/office/drawing/2014/main" val="10000"/>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1–30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26.0%</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39.3%</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ABAB8"/>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439341">
                <a:tc>
                  <a:txBody>
                    <a:bodyPr/>
                    <a:lstStyle/>
                    <a:p>
                      <a:pPr marL="0" indent="0">
                        <a:lnSpc>
                          <a:spcPts val="2240"/>
                        </a:lnSpc>
                        <a:buNone/>
                      </a:pPr>
                      <a:r>
                        <a:rPr lang="en-US" sz="1600" dirty="0">
                          <a:solidFill>
                            <a:srgbClr val="14213D"/>
                          </a:solidFill>
                          <a:latin typeface="Arial" pitchFamily="34" charset="0"/>
                          <a:ea typeface="Arial" pitchFamily="34" charset="-122"/>
                          <a:cs typeface="Arial" pitchFamily="34" charset="-120"/>
                        </a:rPr>
                        <a:t>Tasks 61–101</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24.8%</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gn="r">
                        <a:lnSpc>
                          <a:spcPts val="2240"/>
                        </a:lnSpc>
                        <a:buNone/>
                      </a:pPr>
                      <a:r>
                        <a:rPr lang="en-US" sz="1600" dirty="0">
                          <a:solidFill>
                            <a:srgbClr val="14213D"/>
                          </a:solidFill>
                          <a:latin typeface="Arial" pitchFamily="34" charset="0"/>
                          <a:ea typeface="Arial" pitchFamily="34" charset="-122"/>
                          <a:cs typeface="Arial" pitchFamily="34" charset="-120"/>
                        </a:rPr>
                        <a:t>22.9%</a:t>
                      </a:r>
                      <a:endParaRPr lang="en-US" sz="1600" dirty="0">
                        <a:latin typeface="Arial" charset="0"/>
                        <a:ea typeface="Arial" charset="0"/>
                        <a:cs typeface="Arial" charset="0"/>
                      </a:endParaRPr>
                    </a:p>
                  </a:txBody>
                  <a:tcPr marL="71120" marR="71120" marT="71120" marB="7112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5" name="Text 2"/>
          <p:cNvSpPr/>
          <p:nvPr/>
        </p:nvSpPr>
        <p:spPr>
          <a:xfrm>
            <a:off x="812800" y="3490962"/>
            <a:ext cx="10883392" cy="59690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Over time, more and more vague advice filled the prompt, such as "make sure the form works". The small model could not act on it.</a:t>
            </a:r>
            <a:endParaRPr lang="en-US" sz="1500" dirty="0"/>
          </a:p>
        </p:txBody>
      </p:sp>
      <p:sp>
        <p:nvSpPr>
          <p:cNvPr id="6" name="Shape 3"/>
          <p:cNvSpPr/>
          <p:nvPr/>
        </p:nvSpPr>
        <p:spPr>
          <a:xfrm>
            <a:off x="825500" y="4316462"/>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939800" y="4316462"/>
            <a:ext cx="10752582"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Each number is the accuracy on that group of tasks, in execution order. Tasks 31–60 are left out to show the start and the end clearly.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What the tester sees · task 000006, a solar dashboard</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One missing package turns the whole site into an error page</a:t>
            </a:r>
            <a:endParaRPr lang="en-US" sz="3000" dirty="0"/>
          </a:p>
        </p:txBody>
      </p:sp>
      <p:pic>
        <p:nvPicPr>
          <p:cNvPr id="4" name="Picture 3" descr="006_nomem.png"/>
          <p:cNvPicPr>
            <a:picLocks noChangeAspect="1"/>
          </p:cNvPicPr>
          <p:nvPr/>
        </p:nvPicPr>
        <p:blipFill>
          <a:blip r:embed="rId2"/>
          <a:stretch>
            <a:fillRect/>
          </a:stretch>
        </p:blipFill>
        <p:spPr>
          <a:xfrm>
            <a:off x="609600" y="1827640"/>
            <a:ext cx="5242560" cy="3199805"/>
          </a:xfrm>
          <a:prstGeom prst="rect">
            <a:avLst/>
          </a:prstGeom>
        </p:spPr>
      </p:pic>
      <p:pic>
        <p:nvPicPr>
          <p:cNvPr id="5" name="Picture 4" descr="006_longmem_v9_1.png"/>
          <p:cNvPicPr>
            <a:picLocks noChangeAspect="1"/>
          </p:cNvPicPr>
          <p:nvPr/>
        </p:nvPicPr>
        <p:blipFill>
          <a:blip r:embed="rId3"/>
          <a:stretch>
            <a:fillRect/>
          </a:stretch>
        </p:blipFill>
        <p:spPr>
          <a:xfrm>
            <a:off x="6339840" y="1827640"/>
            <a:ext cx="5242560" cy="3199805"/>
          </a:xfrm>
          <a:prstGeom prst="rect">
            <a:avLst/>
          </a:prstGeom>
        </p:spPr>
      </p:pic>
      <p:sp>
        <p:nvSpPr>
          <p:cNvPr id="6" name="TextBox 5"/>
          <p:cNvSpPr txBox="1"/>
          <p:nvPr/>
        </p:nvSpPr>
        <p:spPr>
          <a:xfrm>
            <a:off x="609600" y="5087445"/>
            <a:ext cx="5242560" cy="400000"/>
          </a:xfrm>
          <a:prstGeom prst="rect">
            <a:avLst/>
          </a:prstGeom>
          <a:noFill/>
        </p:spPr>
        <p:txBody>
          <a:bodyPr wrap="square">
            <a:spAutoFit/>
          </a:bodyPr>
          <a:lstStyle/>
          <a:p>
            <a:r>
              <a:rPr sz="1200"/>
              <a:t>No Memory: imports vue-chartjs, which is not installed → score 0</a:t>
            </a:r>
          </a:p>
        </p:txBody>
      </p:sp>
      <p:sp>
        <p:nvSpPr>
          <p:cNvPr id="7" name="TextBox 6"/>
          <p:cNvSpPr txBox="1"/>
          <p:nvPr/>
        </p:nvSpPr>
        <p:spPr>
          <a:xfrm>
            <a:off x="6339840" y="5087445"/>
            <a:ext cx="5242560" cy="400000"/>
          </a:xfrm>
          <a:prstGeom prst="rect">
            <a:avLst/>
          </a:prstGeom>
          <a:noFill/>
        </p:spPr>
        <p:txBody>
          <a:bodyPr wrap="square">
            <a:spAutoFit/>
          </a:bodyPr>
          <a:lstStyle/>
          <a:p>
            <a:r>
              <a:rPr sz="1200"/>
              <a:t>Final memory (v9.1): three working views → score 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4883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8FB8EE"/>
                </a:solidFill>
                <a:latin typeface="Arial" pitchFamily="34" charset="0"/>
                <a:ea typeface="Arial" pitchFamily="34" charset="-122"/>
                <a:cs typeface="Arial" pitchFamily="34" charset="-120"/>
              </a:rPr>
              <a:t>Key finding</a:t>
            </a:r>
            <a:endParaRPr lang="en-US" sz="1400" dirty="0"/>
          </a:p>
        </p:txBody>
      </p:sp>
      <p:sp>
        <p:nvSpPr>
          <p:cNvPr id="3" name="Text 1"/>
          <p:cNvSpPr>
            <a:spLocks noGrp="1"/>
          </p:cNvSpPr>
          <p:nvPr>
            <p:ph type="title"/>
          </p:nvPr>
        </p:nvSpPr>
        <p:spPr>
          <a:xfrm>
            <a:off x="812800" y="2302520"/>
            <a:ext cx="10883392" cy="6096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The small model follows code, not text</a:t>
            </a:r>
            <a:endParaRPr lang="en-US" sz="4000" dirty="0"/>
          </a:p>
        </p:txBody>
      </p:sp>
      <p:sp>
        <p:nvSpPr>
          <p:cNvPr id="4" name="Text 2"/>
          <p:cNvSpPr/>
          <p:nvPr/>
        </p:nvSpPr>
        <p:spPr>
          <a:xfrm>
            <a:off x="8128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F2A97F"/>
                </a:solidFill>
                <a:latin typeface="Arial" pitchFamily="34" charset="0"/>
                <a:ea typeface="Arial" pitchFamily="34" charset="-122"/>
                <a:cs typeface="Arial" pitchFamily="34" charset="-120"/>
              </a:rPr>
              <a:t>1 / 3</a:t>
            </a:r>
            <a:endParaRPr lang="en-US" sz="4800" dirty="0"/>
          </a:p>
        </p:txBody>
      </p:sp>
      <p:sp>
        <p:nvSpPr>
          <p:cNvPr id="5" name="Text 3"/>
          <p:cNvSpPr/>
          <p:nvPr/>
        </p:nvSpPr>
        <p:spPr>
          <a:xfrm>
            <a:off x="8128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blank-page sites fixed by a text tip</a:t>
            </a:r>
            <a:endParaRPr lang="en-US" sz="1500" dirty="0"/>
          </a:p>
        </p:txBody>
      </p:sp>
      <p:sp>
        <p:nvSpPr>
          <p:cNvPr id="6" name="Text 4"/>
          <p:cNvSpPr/>
          <p:nvPr/>
        </p:nvSpPr>
        <p:spPr>
          <a:xfrm>
            <a:off x="6248400" y="3191520"/>
            <a:ext cx="5284724"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8FB8EE"/>
                </a:solidFill>
                <a:latin typeface="Arial" pitchFamily="34" charset="0"/>
                <a:ea typeface="Arial" pitchFamily="34" charset="-122"/>
                <a:cs typeface="Arial" pitchFamily="34" charset="-120"/>
              </a:rPr>
              <a:t>7 / 9</a:t>
            </a:r>
            <a:endParaRPr lang="en-US" sz="4800" dirty="0"/>
          </a:p>
        </p:txBody>
      </p:sp>
      <p:sp>
        <p:nvSpPr>
          <p:cNvPr id="7" name="Text 5"/>
          <p:cNvSpPr/>
          <p:nvPr/>
        </p:nvSpPr>
        <p:spPr>
          <a:xfrm>
            <a:off x="6248400" y="4095750"/>
            <a:ext cx="528472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C9D3E3"/>
                </a:solidFill>
                <a:latin typeface="Arial" pitchFamily="34" charset="0"/>
                <a:ea typeface="Arial" pitchFamily="34" charset="-122"/>
                <a:cs typeface="Arial" pitchFamily="34" charset="-120"/>
              </a:rPr>
              <a:t>fixed by a 10-line code example</a:t>
            </a:r>
            <a:endParaRPr lang="en-US" sz="1500" dirty="0"/>
          </a:p>
        </p:txBody>
      </p:sp>
      <p:sp>
        <p:nvSpPr>
          <p:cNvPr id="8" name="Shape 6"/>
          <p:cNvSpPr/>
          <p:nvPr/>
        </p:nvSpPr>
        <p:spPr>
          <a:xfrm>
            <a:off x="825500" y="4667250"/>
            <a:ext cx="0" cy="441920"/>
          </a:xfrm>
          <a:prstGeom prst="line">
            <a:avLst/>
          </a:prstGeom>
          <a:noFill/>
          <a:ln w="25400">
            <a:solidFill>
              <a:srgbClr val="2A78D6"/>
            </a:solidFill>
            <a:prstDash val="solid"/>
          </a:ln>
        </p:spPr>
        <p:txBody>
          <a:bodyPr/>
          <a:lstStyle/>
          <a:p>
            <a:endParaRPr lang="zh-CN" altLang="en-US"/>
          </a:p>
        </p:txBody>
      </p:sp>
      <p:sp>
        <p:nvSpPr>
          <p:cNvPr id="9" name="Text 7"/>
          <p:cNvSpPr/>
          <p:nvPr/>
        </p:nvSpPr>
        <p:spPr>
          <a:xfrm>
            <a:off x="939800" y="4667250"/>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Blank page: the site imports a package that is not installed (for example vue-router), so nothing is shown. Test: generate only, same prompts, check the code.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Method · code memory (v7)</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Two parts: a checklist and a code pool</a:t>
            </a:r>
            <a:endParaRPr lang="en-US" sz="3000" dirty="0"/>
          </a:p>
        </p:txBody>
      </p:sp>
      <p:sp>
        <p:nvSpPr>
          <p:cNvPr id="4" name="Shape 2"/>
          <p:cNvSpPr/>
          <p:nvPr/>
        </p:nvSpPr>
        <p:spPr>
          <a:xfrm>
            <a:off x="812800" y="1906240"/>
            <a:ext cx="5181600" cy="1741140"/>
          </a:xfrm>
          <a:prstGeom prst="roundRect">
            <a:avLst>
              <a:gd name="adj" fmla="val 5835"/>
            </a:avLst>
          </a:prstGeom>
          <a:solidFill>
            <a:srgbClr val="EEF3FA"/>
          </a:solidFill>
          <a:ln/>
        </p:spPr>
        <p:txBody>
          <a:bodyPr/>
          <a:lstStyle/>
          <a:p>
            <a:endParaRPr lang="zh-CN" altLang="en-US"/>
          </a:p>
        </p:txBody>
      </p:sp>
      <p:sp>
        <p:nvSpPr>
          <p:cNvPr id="5" name="Text 3"/>
          <p:cNvSpPr/>
          <p:nvPr/>
        </p:nvSpPr>
        <p:spPr>
          <a:xfrm>
            <a:off x="10668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1. Requirement checklist</a:t>
            </a:r>
            <a:endParaRPr lang="en-US" sz="1800" dirty="0"/>
          </a:p>
        </p:txBody>
      </p:sp>
      <p:sp>
        <p:nvSpPr>
          <p:cNvPr id="6" name="Text 4"/>
          <p:cNvSpPr/>
          <p:nvPr/>
        </p:nvSpPr>
        <p:spPr>
          <a:xfrm>
            <a:off x="10668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The memory model splits the request into a list. Each lesson sits under the item it belongs to. The request always comes first.</a:t>
            </a:r>
            <a:endParaRPr lang="en-US" sz="1500" dirty="0"/>
          </a:p>
        </p:txBody>
      </p:sp>
      <p:sp>
        <p:nvSpPr>
          <p:cNvPr id="7" name="Shape 5"/>
          <p:cNvSpPr/>
          <p:nvPr/>
        </p:nvSpPr>
        <p:spPr>
          <a:xfrm>
            <a:off x="6197600" y="1906240"/>
            <a:ext cx="5181600" cy="1741140"/>
          </a:xfrm>
          <a:prstGeom prst="roundRect">
            <a:avLst>
              <a:gd name="adj" fmla="val 5835"/>
            </a:avLst>
          </a:prstGeom>
          <a:solidFill>
            <a:srgbClr val="EEF3FA"/>
          </a:solidFill>
          <a:ln/>
        </p:spPr>
        <p:txBody>
          <a:bodyPr/>
          <a:lstStyle/>
          <a:p>
            <a:endParaRPr lang="zh-CN" altLang="en-US"/>
          </a:p>
        </p:txBody>
      </p:sp>
      <p:sp>
        <p:nvSpPr>
          <p:cNvPr id="8" name="Text 6"/>
          <p:cNvSpPr/>
          <p:nvPr/>
        </p:nvSpPr>
        <p:spPr>
          <a:xfrm>
            <a:off x="6451600" y="2160240"/>
            <a:ext cx="481380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2. Code pool</a:t>
            </a:r>
            <a:endParaRPr lang="en-US" sz="1800" dirty="0"/>
          </a:p>
        </p:txBody>
      </p:sp>
      <p:sp>
        <p:nvSpPr>
          <p:cNvPr id="9" name="Text 7"/>
          <p:cNvSpPr/>
          <p:nvPr/>
        </p:nvSpPr>
        <p:spPr>
          <a:xfrm>
            <a:off x="6451600" y="2536130"/>
            <a:ext cx="4813808" cy="882650"/>
          </a:xfrm>
          <a:prstGeom prst="rect">
            <a:avLst/>
          </a:prstGeom>
          <a:noFill/>
          <a:ln/>
        </p:spPr>
        <p:txBody>
          <a:bodyPr wrap="square" lIns="0" tIns="0" rIns="0" bIns="0" rtlCol="0" anchor="t">
            <a:normAutofit/>
          </a:bodyPr>
          <a:lstStyle/>
          <a:p>
            <a:pPr marL="0" indent="0" algn="l">
              <a:lnSpc>
                <a:spcPts val="2250"/>
              </a:lnSpc>
              <a:buNone/>
            </a:pPr>
            <a:r>
              <a:rPr lang="en-US" sz="1500" dirty="0">
                <a:solidFill>
                  <a:srgbClr val="4A5568"/>
                </a:solidFill>
                <a:latin typeface="Arial" pitchFamily="34" charset="0"/>
                <a:ea typeface="Arial" pitchFamily="34" charset="-122"/>
                <a:cs typeface="Arial" pitchFamily="34" charset="-120"/>
              </a:rPr>
              <a:t>When a code error appears in 2 tasks, take a short fix from our own earlier site that worked. At most 15 lines, checked by a compiler.</a:t>
            </a:r>
            <a:endParaRPr lang="en-US" sz="1500" dirty="0"/>
          </a:p>
        </p:txBody>
      </p:sp>
      <p:sp>
        <p:nvSpPr>
          <p:cNvPr id="10" name="Text 8"/>
          <p:cNvSpPr/>
          <p:nvPr/>
        </p:nvSpPr>
        <p:spPr>
          <a:xfrm>
            <a:off x="812800" y="390138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Example: import { ref } from 'vue' · const bookingId = ref('')</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Three families of memory</a:t>
            </a:r>
            <a:endParaRPr lang="en-US" sz="1400" dirty="0"/>
          </a:p>
        </p:txBody>
      </p:sp>
      <p:sp>
        <p:nvSpPr>
          <p:cNvPr id="3" name="Text 1"/>
          <p:cNvSpPr>
            <a:spLocks noGrp="1"/>
          </p:cNvSpPr>
          <p:nvPr>
            <p:ph type="title"/>
          </p:nvPr>
        </p:nvSpPr>
        <p:spPr>
          <a:xfrm>
            <a:off x="812800" y="1214090"/>
            <a:ext cx="11379200"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Text memory → code memory → final version</a:t>
            </a:r>
            <a:endParaRPr lang="en-US" sz="3000" dirty="0"/>
          </a:p>
        </p:txBody>
      </p:sp>
      <p:graphicFrame>
        <p:nvGraphicFramePr>
          <p:cNvPr id="4" name="Table 3"/>
          <p:cNvGraphicFramePr>
            <a:graphicFrameLocks noGrp="1"/>
          </p:cNvGraphicFramePr>
          <p:nvPr/>
        </p:nvGraphicFramePr>
        <p:xfrm>
          <a:off x="825500" y="1800000"/>
          <a:ext cx="10553700" cy="2800000"/>
        </p:xfrm>
        <a:graphic>
          <a:graphicData uri="http://schemas.openxmlformats.org/drawingml/2006/table">
            <a:tbl>
              <a:tblPr firstRow="0" bandRow="0"/>
              <a:tblGrid>
                <a:gridCol w="2110740"/>
                <a:gridCol w="2849499"/>
                <a:gridCol w="3271647"/>
                <a:gridCol w="2321814"/>
              </a:tblGrid>
              <a:tr h="560000">
                <a:tc>
                  <a:txBody>
                    <a:bodyPr wrap="square"/>
                    <a:lstStyle/>
                    <a:p>
                      <a:r>
                        <a:rPr sz="1200" b="1">
                          <a:solidFill>
                            <a:srgbClr val="14213D"/>
                          </a:solidFill>
                          <a:latin typeface="Arial"/>
                        </a:rPr>
                        <a:t>Family (versions)</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What memory gives the model</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Why we moved on</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Result (101 tasks)</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Text memory (v1–v4)</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Text lessons; v4 adds a checklist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Vague text piles up; the 7B model ignores it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30.9% (v4); below NM after task 30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Code memory (v5–v7)</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Checklist + short code examples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Whole-file examples caused blank sites in new orders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40.0% (v7), +11.5</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Final (v8–v9.1)</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Same, but only checked fragments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Seed 11: +7.4; seed 29: +5.5</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560000">
                <a:tc>
                  <a:txBody>
                    <a:bodyPr wrap="square"/>
                    <a:lstStyle/>
                    <a:p>
                      <a:r>
                        <a:rPr sz="1200" b="0">
                          <a:solidFill>
                            <a:srgbClr val="14213D"/>
                          </a:solidFill>
                          <a:latin typeface="Arial"/>
                        </a:rPr>
                        <a:t>Ablation: checklist only</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Checklist, memory turned off</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31.8% (+3.4, n.s.)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bl>
          </a:graphicData>
        </a:graphic>
      </p:graphicFrame>
      <p:sp>
        <p:nvSpPr>
          <p:cNvPr id="5" name="TextBox 4"/>
          <p:cNvSpPr txBox="1"/>
          <p:nvPr/>
        </p:nvSpPr>
        <p:spPr>
          <a:xfrm>
            <a:off x="825500" y="5100000"/>
            <a:ext cx="10553700" cy="500000"/>
          </a:xfrm>
          <a:prstGeom prst="rect">
            <a:avLst/>
          </a:prstGeom>
          <a:noFill/>
        </p:spPr>
        <p:txBody>
          <a:bodyPr wrap="square">
            <a:spAutoFit/>
          </a:bodyPr>
          <a:lstStyle/>
          <a:p>
            <a:pPr>
              <a:spcAft>
                <a:spcPts val="400"/>
              </a:spcAft>
            </a:pPr>
            <a:r>
              <a:rPr sz="1100" b="0">
                <a:solidFill>
                  <a:srgbClr val="4A5568"/>
                </a:solidFill>
                <a:latin typeface="Arial"/>
              </a:rPr>
              <a:t>NM = No Memory (28.5%). n.s. = not significant. Only one version per family ran on all 101 tasks: v4, v7, v9.1.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Main result · 101 tasks, one run</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Accuracy rises from 28.5% to 40.0%</a:t>
            </a:r>
            <a:endParaRPr lang="en-US" sz="3000" dirty="0"/>
          </a:p>
        </p:txBody>
      </p:sp>
      <p:sp>
        <p:nvSpPr>
          <p:cNvPr id="4" name="Shape 2"/>
          <p:cNvSpPr/>
          <p:nvPr/>
        </p:nvSpPr>
        <p:spPr>
          <a:xfrm>
            <a:off x="812800" y="1906240"/>
            <a:ext cx="5181600" cy="1978620"/>
          </a:xfrm>
          <a:prstGeom prst="roundRect">
            <a:avLst>
              <a:gd name="adj" fmla="val 5135"/>
            </a:avLst>
          </a:prstGeom>
          <a:solidFill>
            <a:srgbClr val="EEF3FA"/>
          </a:solidFill>
          <a:ln/>
        </p:spPr>
        <p:txBody>
          <a:bodyPr/>
          <a:lstStyle/>
          <a:p>
            <a:endParaRPr lang="zh-CN" altLang="en-US"/>
          </a:p>
        </p:txBody>
      </p:sp>
      <p:sp>
        <p:nvSpPr>
          <p:cNvPr id="5" name="Text 3"/>
          <p:cNvSpPr/>
          <p:nvPr/>
        </p:nvSpPr>
        <p:spPr>
          <a:xfrm>
            <a:off x="10668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No Memory</a:t>
            </a:r>
            <a:endParaRPr lang="en-US" sz="1500" dirty="0"/>
          </a:p>
        </p:txBody>
      </p:sp>
      <p:sp>
        <p:nvSpPr>
          <p:cNvPr id="6" name="Text 4"/>
          <p:cNvSpPr/>
          <p:nvPr/>
        </p:nvSpPr>
        <p:spPr>
          <a:xfrm>
            <a:off x="10668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4213D"/>
                </a:solidFill>
                <a:latin typeface="Arial" pitchFamily="34" charset="0"/>
                <a:ea typeface="Arial" pitchFamily="34" charset="-122"/>
                <a:cs typeface="Arial" pitchFamily="34" charset="-120"/>
              </a:rPr>
              <a:t>28.5%</a:t>
            </a:r>
            <a:endParaRPr lang="en-US" sz="4800" dirty="0"/>
          </a:p>
        </p:txBody>
      </p:sp>
      <p:sp>
        <p:nvSpPr>
          <p:cNvPr id="7" name="Text 5"/>
          <p:cNvSpPr/>
          <p:nvPr/>
        </p:nvSpPr>
        <p:spPr>
          <a:xfrm>
            <a:off x="10668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30 zero-score tasks</a:t>
            </a:r>
            <a:endParaRPr lang="en-US" sz="1400" dirty="0"/>
          </a:p>
        </p:txBody>
      </p:sp>
      <p:sp>
        <p:nvSpPr>
          <p:cNvPr id="8" name="Shape 6"/>
          <p:cNvSpPr/>
          <p:nvPr/>
        </p:nvSpPr>
        <p:spPr>
          <a:xfrm>
            <a:off x="6197600" y="1906240"/>
            <a:ext cx="5181600" cy="1978620"/>
          </a:xfrm>
          <a:prstGeom prst="roundRect">
            <a:avLst>
              <a:gd name="adj" fmla="val 5135"/>
            </a:avLst>
          </a:prstGeom>
          <a:solidFill>
            <a:srgbClr val="DCE8F8"/>
          </a:solidFill>
          <a:ln/>
        </p:spPr>
        <p:txBody>
          <a:bodyPr/>
          <a:lstStyle/>
          <a:p>
            <a:endParaRPr lang="zh-CN" altLang="en-US"/>
          </a:p>
        </p:txBody>
      </p:sp>
      <p:sp>
        <p:nvSpPr>
          <p:cNvPr id="9" name="Text 7"/>
          <p:cNvSpPr/>
          <p:nvPr/>
        </p:nvSpPr>
        <p:spPr>
          <a:xfrm>
            <a:off x="6451600" y="2160240"/>
            <a:ext cx="481380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4A5568"/>
                </a:solidFill>
                <a:latin typeface="Arial" pitchFamily="34" charset="0"/>
                <a:ea typeface="Arial" pitchFamily="34" charset="-122"/>
                <a:cs typeface="Arial" pitchFamily="34" charset="-120"/>
              </a:rPr>
              <a:t>Long Memory (v7)</a:t>
            </a:r>
            <a:endParaRPr lang="en-US" sz="1500" dirty="0"/>
          </a:p>
        </p:txBody>
      </p:sp>
      <p:sp>
        <p:nvSpPr>
          <p:cNvPr id="10" name="Text 8"/>
          <p:cNvSpPr/>
          <p:nvPr/>
        </p:nvSpPr>
        <p:spPr>
          <a:xfrm>
            <a:off x="6451600" y="2477740"/>
            <a:ext cx="4813808" cy="878830"/>
          </a:xfrm>
          <a:prstGeom prst="rect">
            <a:avLst/>
          </a:prstGeom>
          <a:noFill/>
          <a:ln/>
        </p:spPr>
        <p:txBody>
          <a:bodyPr wrap="square" lIns="0" tIns="0" rIns="0" bIns="0" rtlCol="0" anchor="t">
            <a:normAutofit/>
          </a:bodyPr>
          <a:lstStyle/>
          <a:p>
            <a:pPr marL="0" indent="0" algn="l">
              <a:lnSpc>
                <a:spcPts val="6720"/>
              </a:lnSpc>
              <a:buNone/>
            </a:pPr>
            <a:r>
              <a:rPr lang="en-US" sz="4800" b="1" dirty="0">
                <a:solidFill>
                  <a:srgbClr val="1F5FAF"/>
                </a:solidFill>
                <a:latin typeface="Arial" pitchFamily="34" charset="0"/>
                <a:ea typeface="Arial" pitchFamily="34" charset="-122"/>
                <a:cs typeface="Arial" pitchFamily="34" charset="-120"/>
              </a:rPr>
              <a:t>40.0%</a:t>
            </a:r>
            <a:endParaRPr lang="en-US" sz="4800" dirty="0"/>
          </a:p>
        </p:txBody>
      </p:sp>
      <p:sp>
        <p:nvSpPr>
          <p:cNvPr id="11" name="Text 9"/>
          <p:cNvSpPr/>
          <p:nvPr/>
        </p:nvSpPr>
        <p:spPr>
          <a:xfrm>
            <a:off x="6451600" y="3381970"/>
            <a:ext cx="4813808" cy="27429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Arial" pitchFamily="34" charset="0"/>
                <a:ea typeface="Arial" pitchFamily="34" charset="-122"/>
                <a:cs typeface="Arial" pitchFamily="34" charset="-120"/>
              </a:rPr>
              <a:t>13 zero-score tasks</a:t>
            </a:r>
            <a:endParaRPr lang="en-US" sz="1400" dirty="0"/>
          </a:p>
        </p:txBody>
      </p:sp>
      <p:sp>
        <p:nvSpPr>
          <p:cNvPr id="12" name="Text 10"/>
          <p:cNvSpPr/>
          <p:nvPr/>
        </p:nvSpPr>
        <p:spPr>
          <a:xfrm>
            <a:off x="812800" y="4138861"/>
            <a:ext cx="10883392" cy="292100"/>
          </a:xfrm>
          <a:prstGeom prst="rect">
            <a:avLst/>
          </a:prstGeom>
          <a:noFill/>
          <a:ln/>
        </p:spPr>
        <p:txBody>
          <a:bodyPr wrap="square" lIns="0" tIns="0" rIns="0" bIns="0" rtlCol="0" anchor="t">
            <a:normAutofit/>
          </a:bodyPr>
          <a:lstStyle/>
          <a:p>
            <a:pPr marL="0" indent="0" algn="l">
              <a:lnSpc>
                <a:spcPts val="2100"/>
              </a:lnSpc>
              <a:buNone/>
            </a:pPr>
            <a:r>
              <a:rPr lang="en-US" sz="1500" b="1" dirty="0">
                <a:solidFill>
                  <a:srgbClr val="14213D"/>
                </a:solidFill>
                <a:latin typeface="Arial" pitchFamily="34" charset="0"/>
                <a:ea typeface="Arial" pitchFamily="34" charset="-122"/>
                <a:cs typeface="Arial" pitchFamily="34" charset="-120"/>
              </a:rPr>
              <a:t>Paired by task: +11.5 points (95% CI 6.0 to 16.9). Wins 54, losses 24, ties 23.</a:t>
            </a:r>
            <a:endParaRPr lang="en-US" sz="1500" dirty="0"/>
          </a:p>
        </p:txBody>
      </p:sp>
      <p:sp>
        <p:nvSpPr>
          <p:cNvPr id="13" name="Shape 11"/>
          <p:cNvSpPr/>
          <p:nvPr/>
        </p:nvSpPr>
        <p:spPr>
          <a:xfrm>
            <a:off x="825500" y="4659561"/>
            <a:ext cx="0" cy="441920"/>
          </a:xfrm>
          <a:prstGeom prst="line">
            <a:avLst/>
          </a:prstGeom>
          <a:noFill/>
          <a:ln w="25400">
            <a:solidFill>
              <a:srgbClr val="2A78D6"/>
            </a:solidFill>
            <a:prstDash val="solid"/>
          </a:ln>
        </p:spPr>
        <p:txBody>
          <a:bodyPr/>
          <a:lstStyle/>
          <a:p>
            <a:endParaRPr lang="zh-CN" altLang="en-US"/>
          </a:p>
        </p:txBody>
      </p:sp>
      <p:sp>
        <p:nvSpPr>
          <p:cNvPr id="14" name="Text 12"/>
          <p:cNvSpPr/>
          <p:nvPr/>
        </p:nvSpPr>
        <p:spPr>
          <a:xfrm>
            <a:off x="939800" y="4659561"/>
            <a:ext cx="10752582" cy="46732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Zero-score task: every check fails, usually a blank page. 95% CI: the likely range of the gain, from resampling tasks; it does not include 0, so the gain is not chance.</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Learning curve · 101 tasks, execution order</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Only the code-pool version keeps its lead</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Cumulative and rolling accuracy for No Memory, checklist only, v4 and v7 over 101 tasks"/>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Left: cumulative = average of all tasks so far. Right: rolling = average of the last 10 tasks, so it shows short-term ups and downs. Dotted line: task 30.</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711200" y="508000"/>
            <a:ext cx="11092688"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Ablation study · checklist vs. memory</a:t>
            </a:r>
            <a:endParaRPr lang="en-US" sz="1400" dirty="0"/>
          </a:p>
        </p:txBody>
      </p:sp>
      <p:sp>
        <p:nvSpPr>
          <p:cNvPr id="3" name="Text 1"/>
          <p:cNvSpPr>
            <a:spLocks noGrp="1"/>
          </p:cNvSpPr>
          <p:nvPr>
            <p:ph type="title"/>
          </p:nvPr>
        </p:nvSpPr>
        <p:spPr>
          <a:xfrm>
            <a:off x="711200" y="909290"/>
            <a:ext cx="11092688" cy="434330"/>
          </a:xfrm>
          <a:prstGeom prst="rect">
            <a:avLst/>
          </a:prstGeom>
          <a:noFill/>
          <a:ln/>
        </p:spPr>
        <p:txBody>
          <a:bodyPr wrap="square" lIns="0" tIns="0" rIns="0" bIns="0" rtlCol="0" anchor="t">
            <a:normAutofit/>
          </a:bodyPr>
          <a:lstStyle/>
          <a:p>
            <a:pPr marL="0" indent="0" algn="l">
              <a:lnSpc>
                <a:spcPts val="3220"/>
              </a:lnSpc>
              <a:buNone/>
            </a:pPr>
            <a:r>
              <a:rPr lang="en-US" sz="2800" b="1" i="0" dirty="0">
                <a:solidFill>
                  <a:srgbClr val="14213D"/>
                </a:solidFill>
                <a:latin typeface="Georgia" pitchFamily="18" charset="0"/>
                <a:ea typeface="Georgia" pitchFamily="18" charset="-122"/>
                <a:cs typeface="Georgia" pitchFamily="18" charset="-120"/>
              </a:rPr>
              <a:t>Memory, not the checklist, drives the gain</a:t>
            </a:r>
            <a:endParaRPr lang="en-US" sz="2800" dirty="0"/>
          </a:p>
        </p:txBody>
      </p:sp>
      <p:sp>
        <p:nvSpPr>
          <p:cNvPr id="4" name="Shape 2"/>
          <p:cNvSpPr/>
          <p:nvPr/>
        </p:nvSpPr>
        <p:spPr>
          <a:xfrm>
            <a:off x="711200" y="1470620"/>
            <a:ext cx="10769600" cy="3048000"/>
          </a:xfrm>
          <a:prstGeom prst="roundRect">
            <a:avLst>
              <a:gd name="adj" fmla="val 2500"/>
            </a:avLst>
          </a:prstGeom>
          <a:solidFill>
            <a:srgbClr val="FFFFFF"/>
          </a:solidFill>
          <a:ln/>
        </p:spPr>
        <p:txBody>
          <a:bodyPr/>
          <a:lstStyle/>
          <a:p>
            <a:endParaRPr lang="zh-CN" altLang="en-US"/>
          </a:p>
        </p:txBody>
      </p:sp>
      <p:pic>
        <p:nvPicPr>
          <p:cNvPr id="5" name="Image 0" descr="Accuracy and zero-score tasks for No Memory, checklist only and v7"/>
          <p:cNvPicPr>
            <a:picLocks noChangeAspect="1"/>
          </p:cNvPicPr>
          <p:nvPr/>
        </p:nvPicPr>
        <p:blipFill>
          <a:blip r:embed="rId3"/>
          <a:stretch>
            <a:fillRect/>
          </a:stretch>
        </p:blipFill>
        <p:spPr>
          <a:xfrm>
            <a:off x="1789043" y="1470620"/>
            <a:ext cx="8613913" cy="3048000"/>
          </a:xfrm>
          <a:prstGeom prst="rect">
            <a:avLst/>
          </a:prstGeom>
        </p:spPr>
      </p:pic>
      <p:sp>
        <p:nvSpPr>
          <p:cNvPr id="6" name="Shape 3"/>
          <p:cNvSpPr/>
          <p:nvPr/>
        </p:nvSpPr>
        <p:spPr>
          <a:xfrm>
            <a:off x="723900" y="4671020"/>
            <a:ext cx="0" cy="220960"/>
          </a:xfrm>
          <a:prstGeom prst="line">
            <a:avLst/>
          </a:prstGeom>
          <a:noFill/>
          <a:ln w="25400">
            <a:solidFill>
              <a:srgbClr val="2A78D6"/>
            </a:solidFill>
            <a:prstDash val="solid"/>
          </a:ln>
        </p:spPr>
        <p:txBody>
          <a:bodyPr/>
          <a:lstStyle/>
          <a:p>
            <a:endParaRPr lang="zh-CN" altLang="en-US"/>
          </a:p>
        </p:txBody>
      </p:sp>
      <p:sp>
        <p:nvSpPr>
          <p:cNvPr id="7" name="Text 4"/>
          <p:cNvSpPr/>
          <p:nvPr/>
        </p:nvSpPr>
        <p:spPr>
          <a:xfrm>
            <a:off x="838200" y="4671020"/>
            <a:ext cx="10961878" cy="246360"/>
          </a:xfrm>
          <a:prstGeom prst="rect">
            <a:avLst/>
          </a:prstGeom>
          <a:noFill/>
          <a:ln/>
        </p:spPr>
        <p:txBody>
          <a:bodyPr wrap="square" lIns="0" tIns="0" rIns="0" bIns="0" rtlCol="0" anchor="t">
            <a:normAutofit/>
          </a:bodyPr>
          <a:lstStyle/>
          <a:p>
            <a:pPr marL="0" indent="0" algn="l">
              <a:lnSpc>
                <a:spcPts val="1740"/>
              </a:lnSpc>
              <a:buNone/>
            </a:pPr>
            <a:r>
              <a:rPr lang="en-US" sz="1200" dirty="0">
                <a:solidFill>
                  <a:srgbClr val="4A5568"/>
                </a:solidFill>
                <a:latin typeface="Arial" pitchFamily="34" charset="0"/>
                <a:ea typeface="Arial" pitchFamily="34" charset="-122"/>
                <a:cs typeface="Arial" pitchFamily="34" charset="-120"/>
              </a:rPr>
              <a:t>n.s. = not significant (the CI includes 0). Zero-score tasks: sites where every check fails.</a:t>
            </a:r>
            <a:endParaRPr lang="en-US" sz="1200" dirty="0"/>
          </a:p>
        </p:txBody>
      </p:sp>
      <p:sp>
        <p:nvSpPr>
          <p:cNvPr id="8" name="TextBox 7"/>
          <p:cNvSpPr txBox="1"/>
          <p:nvPr/>
        </p:nvSpPr>
        <p:spPr>
          <a:xfrm>
            <a:off x="838200" y="5000000"/>
            <a:ext cx="10961878" cy="1200000"/>
          </a:xfrm>
          <a:prstGeom prst="rect">
            <a:avLst/>
          </a:prstGeom>
          <a:noFill/>
        </p:spPr>
        <p:txBody>
          <a:bodyPr wrap="square">
            <a:spAutoFit/>
          </a:bodyPr>
          <a:lstStyle/>
          <a:p>
            <a:pPr>
              <a:spcAft>
                <a:spcPts val="400"/>
              </a:spcAft>
            </a:pPr>
            <a:r>
              <a:rPr sz="1400" b="1">
                <a:solidFill>
                  <a:srgbClr val="14213D"/>
                </a:solidFill>
                <a:latin typeface="Arial"/>
              </a:rPr>
              <a:t>Takeaways</a:t>
            </a:r>
          </a:p>
          <a:p>
            <a:pPr>
              <a:spcAft>
                <a:spcPts val="400"/>
              </a:spcAft>
            </a:pPr>
            <a:r>
              <a:rPr sz="1400" b="0">
                <a:solidFill>
                  <a:srgbClr val="14213D"/>
                </a:solidFill>
                <a:latin typeface="Arial"/>
              </a:rPr>
              <a:t>Checklist alone: +3.4 points, not significant; mainly fewer blank sites.</a:t>
            </a:r>
          </a:p>
          <a:p>
            <a:pPr>
              <a:spcAft>
                <a:spcPts val="400"/>
              </a:spcAft>
            </a:pPr>
            <a:r>
              <a:rPr sz="1400" b="0">
                <a:solidFill>
                  <a:srgbClr val="14213D"/>
                </a:solidFill>
                <a:latin typeface="Arial"/>
              </a:rPr>
              <a:t>Memory on top of the checklist: +8.1 points (95% CI 2.9 to 13.2), significant.</a:t>
            </a:r>
          </a:p>
          <a:p>
            <a:pPr>
              <a:spcAft>
                <a:spcPts val="400"/>
              </a:spcAft>
            </a:pPr>
            <a:r>
              <a:rPr sz="1400" b="0">
                <a:solidFill>
                  <a:srgbClr val="14213D"/>
                </a:solidFill>
                <a:latin typeface="Arial"/>
              </a:rPr>
              <a:t>So most of the gain comes from memory, not from splitting the request.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Task order · shuffled runs</a:t>
            </a:r>
            <a:endParaRPr lang="en-US" sz="1400" dirty="0"/>
          </a:p>
        </p:txBody>
      </p:sp>
      <p:sp>
        <p:nvSpPr>
          <p:cNvPr id="3" name="Text 1"/>
          <p:cNvSpPr>
            <a:spLocks noGrp="1"/>
          </p:cNvSpPr>
          <p:nvPr>
            <p:ph type="title"/>
          </p:nvPr>
        </p:nvSpPr>
        <p:spPr>
          <a:xfrm>
            <a:off x="812800" y="985490"/>
            <a:ext cx="10883392" cy="463550"/>
          </a:xfrm>
          <a:prstGeom prst="rect">
            <a:avLst/>
          </a:prstGeom>
          <a:noFill/>
          <a:ln/>
        </p:spPr>
        <p:txBody>
          <a:bodyPr wrap="square" lIns="0" tIns="0" rIns="0" bIns="0" rtlCol="0" anchor="t">
            <a:normAutofit fontScale="90000"/>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A whole-file example caused blank sites; checked fragments fixed it</a:t>
            </a:r>
            <a:endParaRPr lang="en-US" sz="3000" dirty="0"/>
          </a:p>
        </p:txBody>
      </p:sp>
      <p:graphicFrame>
        <p:nvGraphicFramePr>
          <p:cNvPr id="4" name="Table 3"/>
          <p:cNvGraphicFramePr>
            <a:graphicFrameLocks noGrp="1"/>
          </p:cNvGraphicFramePr>
          <p:nvPr/>
        </p:nvGraphicFramePr>
        <p:xfrm>
          <a:off x="825500" y="1700000"/>
          <a:ext cx="10553699" cy="1650000"/>
        </p:xfrm>
        <a:graphic>
          <a:graphicData uri="http://schemas.openxmlformats.org/drawingml/2006/table">
            <a:tbl>
              <a:tblPr firstRow="0" bandRow="0"/>
              <a:tblGrid>
                <a:gridCol w="1666373"/>
                <a:gridCol w="1555282"/>
                <a:gridCol w="2888381"/>
                <a:gridCol w="2888381"/>
                <a:gridCol w="1555282"/>
              </a:tblGrid>
              <a:tr h="330000">
                <a:tc>
                  <a:txBody>
                    <a:bodyPr wrap="square"/>
                    <a:lstStyle/>
                    <a:p>
                      <a:r>
                        <a:rPr sz="1200" b="1">
                          <a:solidFill>
                            <a:srgbClr val="14213D"/>
                          </a:solidFill>
                          <a:latin typeface="Arial"/>
                        </a:rPr>
                        <a:t>Task order</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Version</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Code example in memory</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Gain vs No Memory (95% CI)</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Blank scaffolds</a:t>
                      </a:r>
                    </a:p>
                  </a:txBody>
                  <a:tcPr marL="60000" marR="60000" marT="40000" marB="40000">
                    <a:solidFill>
                      <a:srgbClr val="EEF2F8"/>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11 (blocks)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Code memory (v7)</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Whole App.vue file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+4.4 (−1.9 to 10.6), n.s.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19</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11 (blocks)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Final (v9.1)</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Checked fragment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+7.4 (1.6 to 13.1), significant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29 (random)</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Code memory (v7)</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Whole App.vue file</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+4.5 (−2.2 to 11.3), n.s.</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16</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r h="330000">
                <a:tc>
                  <a:txBody>
                    <a:bodyPr wrap="square"/>
                    <a:lstStyle/>
                    <a:p>
                      <a:r>
                        <a:rPr sz="1200" b="0">
                          <a:solidFill>
                            <a:srgbClr val="14213D"/>
                          </a:solidFill>
                          <a:latin typeface="Arial"/>
                        </a:rPr>
                        <a:t>Seed 29 (random)</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Final (v9.1)</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Checked fragment</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0">
                          <a:solidFill>
                            <a:srgbClr val="14213D"/>
                          </a:solidFill>
                          <a:latin typeface="Arial"/>
                        </a:rPr>
                        <a:t>+5.5 (−0.5 to 11.6)</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c>
                  <a:txBody>
                    <a:bodyPr wrap="square"/>
                    <a:lstStyle/>
                    <a:p>
                      <a:r>
                        <a:rPr sz="1200" b="1">
                          <a:solidFill>
                            <a:srgbClr val="14213D"/>
                          </a:solidFill>
                          <a:latin typeface="Arial"/>
                        </a:rPr>
                        <a:t>0</a:t>
                      </a:r>
                    </a:p>
                  </a:txBody>
                  <a:tcPr marL="60000" marR="60000" marT="40000" marB="40000">
                    <a:solidFill>
                      <a:srgbClr val="FFFFFF"/>
                    </a:solidFill>
                    <a:lnL w="12700">
                      <a:solidFill>
                        <a:srgbClr val="C8C8C6"/>
                      </a:solidFill>
                    </a:lnL>
                    <a:lnR w="12700">
                      <a:solidFill>
                        <a:srgbClr val="C8C8C6"/>
                      </a:solidFill>
                    </a:lnR>
                    <a:lnT w="12700">
                      <a:solidFill>
                        <a:srgbClr val="C8C8C6"/>
                      </a:solidFill>
                    </a:lnT>
                    <a:lnB w="12700">
                      <a:solidFill>
                        <a:srgbClr val="C8C8C6"/>
                      </a:solidFill>
                    </a:lnB>
                  </a:tcPr>
                </a:tc>
              </a:tr>
            </a:tbl>
          </a:graphicData>
        </a:graphic>
      </p:graphicFrame>
      <p:pic>
        <p:nvPicPr>
          <p:cNvPr id="5" name="Picture 4" descr="gap_order_seed11_v91.png"/>
          <p:cNvPicPr>
            <a:picLocks noChangeAspect="1"/>
          </p:cNvPicPr>
          <p:nvPr/>
        </p:nvPicPr>
        <p:blipFill>
          <a:blip r:embed="rId3"/>
          <a:stretch>
            <a:fillRect/>
          </a:stretch>
        </p:blipFill>
        <p:spPr>
          <a:xfrm>
            <a:off x="825500" y="3800000"/>
            <a:ext cx="6300000" cy="2634545"/>
          </a:xfrm>
          <a:prstGeom prst="rect">
            <a:avLst/>
          </a:prstGeom>
        </p:spPr>
      </p:pic>
      <p:sp>
        <p:nvSpPr>
          <p:cNvPr id="6" name="TextBox 5"/>
          <p:cNvSpPr txBox="1"/>
          <p:nvPr/>
        </p:nvSpPr>
        <p:spPr>
          <a:xfrm>
            <a:off x="7350000" y="3900000"/>
            <a:ext cx="3780000" cy="2500000"/>
          </a:xfrm>
          <a:prstGeom prst="rect">
            <a:avLst/>
          </a:prstGeom>
          <a:noFill/>
        </p:spPr>
        <p:txBody>
          <a:bodyPr wrap="square">
            <a:spAutoFit/>
          </a:bodyPr>
          <a:lstStyle/>
          <a:p>
            <a:pPr>
              <a:spcAft>
                <a:spcPts val="400"/>
              </a:spcAft>
            </a:pPr>
            <a:r>
              <a:rPr sz="1200" b="1">
                <a:solidFill>
                  <a:srgbClr val="14213D"/>
                </a:solidFill>
                <a:latin typeface="Arial"/>
              </a:rPr>
              <a:t>What it means</a:t>
            </a:r>
          </a:p>
          <a:p>
            <a:pPr>
              <a:spcAft>
                <a:spcPts val="400"/>
              </a:spcAft>
            </a:pPr>
            <a:r>
              <a:rPr sz="1200" b="0">
                <a:solidFill>
                  <a:srgbClr val="14213D"/>
                </a:solidFill>
                <a:latin typeface="Arial"/>
              </a:rPr>
              <a:t>With v7, the model copied a whole file as a finished answer and returned the empty starter project.</a:t>
            </a:r>
          </a:p>
          <a:p>
            <a:pPr>
              <a:spcAft>
                <a:spcPts val="400"/>
              </a:spcAft>
            </a:pPr>
            <a:r>
              <a:rPr sz="1200" b="0">
                <a:solidFill>
                  <a:srgbClr val="14213D"/>
                </a:solidFill>
                <a:latin typeface="Arial"/>
              </a:rPr>
              <a:t>v9.1 removes this: zero blank sites in both orders.</a:t>
            </a:r>
          </a:p>
          <a:p>
            <a:pPr>
              <a:spcAft>
                <a:spcPts val="400"/>
              </a:spcAft>
            </a:pPr>
            <a:r>
              <a:rPr sz="1200" b="0">
                <a:solidFill>
                  <a:srgbClr val="14213D"/>
                </a:solidFill>
                <a:latin typeface="Arial"/>
              </a:rPr>
              <a:t>No Memory is stable (27.9–28.6%), so the change is on the memory side.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711200"/>
            <a:ext cx="10883392" cy="274290"/>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2A78D6"/>
                </a:solidFill>
                <a:latin typeface="Arial" pitchFamily="34" charset="0"/>
                <a:ea typeface="Arial" pitchFamily="34" charset="-122"/>
                <a:cs typeface="Arial" pitchFamily="34" charset="-120"/>
              </a:rPr>
              <a:t>Limits and next steps</a:t>
            </a:r>
            <a:endParaRPr lang="en-US" sz="1400" dirty="0"/>
          </a:p>
        </p:txBody>
      </p:sp>
      <p:sp>
        <p:nvSpPr>
          <p:cNvPr id="3" name="Text 1"/>
          <p:cNvSpPr>
            <a:spLocks noGrp="1"/>
          </p:cNvSpPr>
          <p:nvPr>
            <p:ph type="title"/>
          </p:nvPr>
        </p:nvSpPr>
        <p:spPr>
          <a:xfrm>
            <a:off x="812800" y="1214090"/>
            <a:ext cx="10883392" cy="463550"/>
          </a:xfrm>
          <a:prstGeom prst="rect">
            <a:avLst/>
          </a:prstGeom>
          <a:noFill/>
          <a:ln/>
        </p:spPr>
        <p:txBody>
          <a:bodyPr wrap="square" lIns="0" tIns="0" rIns="0" bIns="0" rtlCol="0" anchor="t">
            <a:normAutofit/>
          </a:bodyPr>
          <a:lstStyle/>
          <a:p>
            <a:pPr marL="0" indent="0" algn="l">
              <a:lnSpc>
                <a:spcPts val="3450"/>
              </a:lnSpc>
              <a:buNone/>
            </a:pPr>
            <a:r>
              <a:rPr lang="en-US" sz="3000" b="1" i="0" dirty="0">
                <a:solidFill>
                  <a:srgbClr val="14213D"/>
                </a:solidFill>
                <a:latin typeface="Georgia" pitchFamily="18" charset="0"/>
                <a:ea typeface="Georgia" pitchFamily="18" charset="-122"/>
                <a:cs typeface="Georgia" pitchFamily="18" charset="-120"/>
              </a:rPr>
              <a:t>What we still need to check</a:t>
            </a:r>
            <a:endParaRPr lang="en-US" sz="3000" dirty="0"/>
          </a:p>
        </p:txBody>
      </p:sp>
      <p:sp>
        <p:nvSpPr>
          <p:cNvPr id="4" name="Text 2"/>
          <p:cNvSpPr/>
          <p:nvPr/>
        </p:nvSpPr>
        <p:spPr>
          <a:xfrm>
            <a:off x="8128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Limits</a:t>
            </a:r>
            <a:endParaRPr lang="en-US" sz="1800" dirty="0"/>
          </a:p>
        </p:txBody>
      </p:sp>
      <p:sp>
        <p:nvSpPr>
          <p:cNvPr id="5" name="Text 3"/>
          <p:cNvSpPr/>
          <p:nvPr/>
        </p:nvSpPr>
        <p:spPr>
          <a:xfrm>
            <a:off x="8966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run per task order (the paper also uses one run)</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Gain is in features, not in look (3.25 vs 3.22)</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One model and one tool (Bolt + Vue)</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Method was developed on the same benchmark</a:t>
            </a:r>
            <a:endParaRPr lang="en-US" sz="1500" dirty="0"/>
          </a:p>
        </p:txBody>
      </p:sp>
      <p:sp>
        <p:nvSpPr>
          <p:cNvPr id="6" name="Text 4"/>
          <p:cNvSpPr/>
          <p:nvPr/>
        </p:nvSpPr>
        <p:spPr>
          <a:xfrm>
            <a:off x="6197600" y="1906240"/>
            <a:ext cx="5337048" cy="29969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Arial" pitchFamily="34" charset="0"/>
                <a:ea typeface="Arial" pitchFamily="34" charset="-122"/>
                <a:cs typeface="Arial" pitchFamily="34" charset="-120"/>
              </a:rPr>
              <a:t>Next steps</a:t>
            </a:r>
            <a:endParaRPr lang="en-US" sz="1800" dirty="0"/>
          </a:p>
        </p:txBody>
      </p:sp>
      <p:sp>
        <p:nvSpPr>
          <p:cNvPr id="7" name="Text 5"/>
          <p:cNvSpPr/>
          <p:nvPr/>
        </p:nvSpPr>
        <p:spPr>
          <a:xfrm>
            <a:off x="6281420" y="2282130"/>
            <a:ext cx="5245608" cy="2600000"/>
          </a:xfrm>
          <a:prstGeom prst="rect">
            <a:avLst/>
          </a:prstGeom>
          <a:noFill/>
          <a:ln/>
        </p:spPr>
        <p:txBody>
          <a:bodyPr wrap="square" lIns="0" tIns="0" rIns="0" bIns="0" rtlCol="0" anchor="t">
            <a:noAutofit/>
          </a:bodyPr>
          <a:lstStyle/>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v9.1 in the original order: 16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Two more orders and fixed code prefix: by 18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32B generator: about 19 Oct</a:t>
            </a:r>
            <a:endParaRPr lang="en-US" sz="1500" dirty="0"/>
          </a:p>
          <a:p>
            <a:pPr marL="170180" indent="-170180" algn="l">
              <a:lnSpc>
                <a:spcPts val="2400"/>
              </a:lnSpc>
              <a:buSzPct val="100000"/>
              <a:buChar char="•"/>
            </a:pPr>
            <a:r>
              <a:rPr lang="en-US" sz="1500" dirty="0">
                <a:solidFill>
                  <a:srgbClr val="4A5568"/>
                </a:solidFill>
                <a:latin typeface="Arial" pitchFamily="34" charset="0"/>
                <a:ea typeface="Arial" pitchFamily="34" charset="-122"/>
                <a:cs typeface="Arial" pitchFamily="34" charset="-120"/>
              </a:rPr>
              <a:t>Thesis draft to supervisor: 19 Oct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711200" y="508000"/>
            <a:ext cx="11092688" cy="405110"/>
          </a:xfrm>
          <a:prstGeom prst="rect">
            <a:avLst/>
          </a:prstGeom>
          <a:noFill/>
          <a:ln/>
        </p:spPr>
        <p:txBody>
          <a:bodyPr wrap="square" lIns="0" tIns="0" rIns="0" bIns="0" rtlCol="0" anchor="t">
            <a:normAutofit/>
          </a:bodyPr>
          <a:lstStyle/>
          <a:p>
            <a:pPr marL="0" indent="0" algn="l">
              <a:lnSpc>
                <a:spcPts val="2990"/>
              </a:lnSpc>
              <a:buNone/>
            </a:pPr>
            <a:r>
              <a:rPr lang="en-US" sz="2600" b="1" i="0" dirty="0">
                <a:solidFill>
                  <a:srgbClr val="14213D"/>
                </a:solidFill>
                <a:latin typeface="Georgia" pitchFamily="18" charset="0"/>
                <a:ea typeface="Georgia" pitchFamily="18" charset="-122"/>
                <a:cs typeface="Georgia" pitchFamily="18" charset="-120"/>
              </a:rPr>
              <a:t>References</a:t>
            </a:r>
            <a:endParaRPr lang="en-US" sz="2600" dirty="0"/>
          </a:p>
        </p:txBody>
      </p:sp>
      <p:sp>
        <p:nvSpPr>
          <p:cNvPr id="4" name="Text 1">
            <a:extLst>
              <a:ext uri="{FF2B5EF4-FFF2-40B4-BE49-F238E27FC236}">
                <a16:creationId xmlns:a16="http://schemas.microsoft.com/office/drawing/2014/main" id="{59E0F296-53D6-3D06-3E9B-A9B9DDE745A5}"/>
              </a:ext>
            </a:extLst>
          </p:cNvPr>
          <p:cNvSpPr/>
          <p:nvPr/>
        </p:nvSpPr>
        <p:spPr>
          <a:xfrm>
            <a:off x="629920" y="1040110"/>
            <a:ext cx="11092688" cy="5309890"/>
          </a:xfrm>
          <a:prstGeom prst="rect">
            <a:avLst/>
          </a:prstGeom>
          <a:noFill/>
          <a:ln/>
        </p:spPr>
        <p:txBody>
          <a:bodyPr wrap="square" lIns="0" tIns="0" rIns="0" bIns="0" rtlCol="0" anchor="t">
            <a:noAutofit/>
          </a:bodyPr>
          <a:lstStyle/>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Lu et al., 2025. WebGen-Bench: Evaluating LLMs on generating interactive and functional websites from scratch. arXiv:2505.03733.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He et al., 2024. WebVoyager: Building an end-to-end web agent with large multimodal models. ACL.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StackBlitz Labs, 2024. bolt.diy: open-source AI coding agent. github.com/stackblitz-labs/bolt.diy.</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Zhao et al., 2024. ExpeL: LLM agents are experiential learners. AAAI.</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Ouyang et al., 2026. ReasoningBank: Scaling agent self-evolving with reasoning memory. ICLR. arXiv:2509.25140.</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Chhikara et al., 2025. Mem0: Building production-ready AI agents with scalable long-term memory. arXiv:2504.19413.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Mao, Fried &amp; Neubig, 2025. Agent Workflow Memory. ICML. arXiv:2409.07429.</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Zheng et al., 2024. Synapse: Trajectory-as-exemplar prompting with memory. ICLR. arXiv:2306.07863.</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Wang et al., 2023. Voyager: An open-ended embodied agent with large language models. arXiv:2305.16291.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Suzgun et al., 2026. Dynamic Cheatsheet: Test-time learning with adaptive memory. EACL. arXiv:2504.07952.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Zhang et al., 2026. Agentic Context Engineering: Evolving contexts for self-improving language models. ICLR. arXiv:2510.04618.</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Dai et al., 2026. Metis: Bridging text and code memory for self-evolving agents. arXiv:2606.24151.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Kim et al., 2026. Memory Transfer Learning: How memories are transferred across domains in coding agents. arXiv:2604.14004.</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Shi et al., 2023. LLMs can be easily distracted by irrelevant context. ICML.</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Liu et al., 2024. Lost in the middle: How language models use long contexts. TACL 12.</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Du et al., 2025. Context length alone hurts LLM performance despite perfect retrieval. Findings of EMNLP. arXiv:2510.05381.</a:t>
            </a:r>
            <a:endParaRPr lang="en-US" sz="1400" dirty="0"/>
          </a:p>
          <a:p>
            <a:pPr marL="114808" indent="-114808" algn="l">
              <a:lnSpc>
                <a:spcPct val="150000"/>
              </a:lnSpc>
              <a:buSzPct val="100000"/>
              <a:buChar char="•"/>
            </a:pPr>
            <a:r>
              <a:rPr lang="en-US" sz="1400" dirty="0">
                <a:solidFill>
                  <a:srgbClr val="14213D"/>
                </a:solidFill>
                <a:latin typeface="Arial" pitchFamily="34" charset="0"/>
                <a:ea typeface="Arial" pitchFamily="34" charset="-122"/>
                <a:cs typeface="Arial" pitchFamily="34" charset="-120"/>
              </a:rPr>
              <a:t>Madaan et al., 2023. Self-Refine: Iterative refinement with self-feedback. NeurIPS.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p:nvPr>
        </p:nvSpPr>
        <p:spPr>
          <a:xfrm>
            <a:off x="812800" y="2261890"/>
            <a:ext cx="10883392" cy="1193800"/>
          </a:xfrm>
          <a:prstGeom prst="rect">
            <a:avLst/>
          </a:prstGeom>
          <a:noFill/>
          <a:ln/>
        </p:spPr>
        <p:txBody>
          <a:bodyPr wrap="square" lIns="0" tIns="0" rIns="0" bIns="0" rtlCol="0" anchor="t">
            <a:normAutofit/>
          </a:bodyPr>
          <a:lstStyle/>
          <a:p>
            <a:pPr marL="0" indent="0" algn="l">
              <a:lnSpc>
                <a:spcPts val="4600"/>
              </a:lnSpc>
              <a:buNone/>
            </a:pPr>
            <a:r>
              <a:rPr lang="en-US" sz="4000" b="1" i="0" dirty="0">
                <a:solidFill>
                  <a:srgbClr val="F4F1EA"/>
                </a:solidFill>
                <a:latin typeface="Georgia" pitchFamily="18" charset="0"/>
                <a:ea typeface="Georgia" pitchFamily="18" charset="-122"/>
                <a:cs typeface="Georgia" pitchFamily="18" charset="-120"/>
              </a:rPr>
              <a:t>For a small model, memory should give code, not advice</a:t>
            </a:r>
            <a:endParaRPr lang="en-US" sz="4000" dirty="0"/>
          </a:p>
        </p:txBody>
      </p:sp>
      <p:sp>
        <p:nvSpPr>
          <p:cNvPr id="3" name="Text 1"/>
          <p:cNvSpPr/>
          <p:nvPr/>
        </p:nvSpPr>
        <p:spPr>
          <a:xfrm>
            <a:off x="812800" y="3684290"/>
            <a:ext cx="10883392" cy="32762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9D3E3"/>
                </a:solidFill>
                <a:latin typeface="Arial" pitchFamily="34" charset="0"/>
                <a:ea typeface="Arial" pitchFamily="34" charset="-122"/>
                <a:cs typeface="Arial" pitchFamily="34" charset="-120"/>
              </a:rPr>
              <a:t>28.5% → 40.0% · most of the gain comes from memory</a:t>
            </a:r>
            <a:endParaRPr lang="en-US" sz="1700" dirty="0"/>
          </a:p>
        </p:txBody>
      </p:sp>
      <p:sp>
        <p:nvSpPr>
          <p:cNvPr id="4" name="Text 2"/>
          <p:cNvSpPr/>
          <p:nvPr/>
        </p:nvSpPr>
        <p:spPr>
          <a:xfrm>
            <a:off x="812800" y="4240510"/>
            <a:ext cx="10883392"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8FB8EE"/>
                </a:solidFill>
                <a:latin typeface="Arial" pitchFamily="34" charset="0"/>
                <a:ea typeface="Arial" pitchFamily="34" charset="-122"/>
                <a:cs typeface="Arial" pitchFamily="34" charset="-120"/>
              </a:rPr>
              <a:t>Thank you. Questions?</a:t>
            </a:r>
            <a:endParaRPr lang="en-US" sz="2000" dirty="0"/>
          </a:p>
        </p:txBody>
      </p:sp>
    </p:spTree>
  </p:cSld>
  <p:clrMapOvr>
    <a:masterClrMapping/>
  </p:clrMapOvr>
</p:sld>
</file>

<file path=ppt/theme/theme1.xml><?xml version="1.0" encoding="utf-8"?>
<a:theme xmlns:a="http://schemas.openxmlformats.org/drawingml/2006/main" name="Long-term memory for a small website generator">
  <a:themeElements>
    <a:clrScheme name="Long-term memory for a small website generator">
      <a:dk1>
        <a:srgbClr val="14213D"/>
      </a:dk1>
      <a:lt1>
        <a:srgbClr val="FBFBF8"/>
      </a:lt1>
      <a:dk2>
        <a:srgbClr val="4E586C"/>
      </a:dk2>
      <a:lt2>
        <a:srgbClr val="E4E5E5"/>
      </a:lt2>
      <a:accent1>
        <a:srgbClr val="2A78D6"/>
      </a:accent1>
      <a:accent2>
        <a:srgbClr val="8FB8EE"/>
      </a:accent2>
      <a:accent3>
        <a:srgbClr val="1F5FAF"/>
      </a:accent3>
      <a:accent4>
        <a:srgbClr val="F2A97F"/>
      </a:accent4>
      <a:accent5>
        <a:srgbClr val="4A5568"/>
      </a:accent5>
      <a:accent6>
        <a:srgbClr val="C9D3E3"/>
      </a:accent6>
      <a:hlink>
        <a:srgbClr val="0563C1"/>
      </a:hlink>
      <a:folHlink>
        <a:srgbClr val="954F72"/>
      </a:folHlink>
    </a:clrScheme>
    <a:fontScheme name="Long-term memory for a small website generator">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61</TotalTime>
  <Words>2845</Words>
  <Application>Microsoft Macintosh PowerPoint</Application>
  <PresentationFormat>宽屏</PresentationFormat>
  <Paragraphs>180</Paragraphs>
  <Slides>15</Slides>
  <Notes>15</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15</vt:i4>
      </vt:variant>
    </vt:vector>
  </HeadingPairs>
  <TitlesOfParts>
    <vt:vector size="18" baseType="lpstr">
      <vt:lpstr>Arial</vt:lpstr>
      <vt:lpstr>Georgia</vt:lpstr>
      <vt:lpstr>Long-term memory for a small website generator</vt:lpstr>
      <vt:lpstr>Can long-term memory help a small model build better websites?</vt:lpstr>
      <vt:lpstr>A 7B model builds 101 websites, one after another</vt:lpstr>
      <vt:lpstr>The official pipeline, and what Long Memory adds</vt:lpstr>
      <vt:lpstr>Official rules, and our baseline matches the paper</vt:lpstr>
      <vt:lpstr>11 full runs × 101 tasks: about 1,100 websites and 7,000 checks</vt:lpstr>
      <vt:lpstr>Text lessons helped early, then fell below the baseline</vt:lpstr>
      <vt:lpstr>The small model follows code, not text</vt:lpstr>
      <vt:lpstr>Two parts: a checklist and a code pool</vt:lpstr>
      <vt:lpstr>Accuracy rises from 28.5% to 40.0%</vt:lpstr>
      <vt:lpstr>Only the code-pool version keeps its lead</vt:lpstr>
      <vt:lpstr>Memory, not the checklist, drives the gain</vt:lpstr>
      <vt:lpstr>One bad memory caused blank sites; short fragments fixed it</vt:lpstr>
      <vt:lpstr>What we still need to check</vt:lpstr>
      <vt:lpstr>References</vt:lpstr>
      <vt:lpstr>For a small model, memory should give code, not advice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Long-term memory for a small website generator</dc:title>
  <dc:subject/>
  <dc:creator/>
  <cp:lastModifiedBy>Qiaopan Ma</cp:lastModifiedBy>
  <cp:revision>5</cp:revision>
  <dcterms:created xsi:type="dcterms:W3CDTF">2026-10-13T06:48:37Z</dcterms:created>
  <dcterms:modified xsi:type="dcterms:W3CDTF">2026-10-15T06:55:22Z</dcterms:modified>
</cp:coreProperties>
</file>