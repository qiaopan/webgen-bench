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9" r:id="rId7"/>
    <p:sldId id="260" r:id="rId8"/>
    <p:sldId id="273" r:id="rId9"/>
    <p:sldId id="261" r:id="rId10"/>
    <p:sldId id="262" r:id="rId11"/>
    <p:sldId id="271" r:id="rId12"/>
    <p:sldId id="263" r:id="rId13"/>
    <p:sldId id="264" r:id="rId14"/>
    <p:sldId id="265" r:id="rId15"/>
    <p:sldId id="270"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24"/>
    <p:restoredTop sz="91302"/>
  </p:normalViewPr>
  <p:slideViewPr>
    <p:cSldViewPr snapToGrid="0" snapToObjects="1">
      <p:cViewPr varScale="1">
        <p:scale>
          <a:sx n="125" d="100"/>
          <a:sy n="125" d="100"/>
        </p:scale>
        <p:origin x="16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morning, everyone. I am Qiaopan. My </a:t>
            </a:r>
            <a:r>
              <a:rPr lang="en-US" altLang="zh-CN" dirty="0"/>
              <a:t>topic</a:t>
            </a:r>
            <a:r>
              <a:rPr lang="zh-CN" altLang="en-US" dirty="0"/>
              <a:t> </a:t>
            </a:r>
            <a:r>
              <a:rPr dirty="0"/>
              <a:t>: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generator is WebGen-LM-7B: Qwen2.5-Coder-7B fine-tuned by the benchmark authors on Bolt trajectories, so it already knows Bolt's format. Everything is self-hosted on two H200 GPUs on the school cluster, with no paid API. One task takes about twelve minutes with memory.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shows what we compare, and in which task orders. Every run builds all 101 websites from an empty memory. Seed 47 is still running.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text memory, used text lessons. They helped on the first 30 tasks, but by the end text memory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task, a solar dashboard. Without memory, the model imports a chart library that is not installed, so the page shows only an error and every test fails. This is the most common way the 7B model scores zero. With memory, the prompt carried a short working code example, and every test passed.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whole-file code memory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Text memory: lessons as text, 30.9 percent. Code memory with whole files: 40 percent. The final version uses only fragments: 35.2 percent in the original order, lower, but it removed the blank sites when the order changed, so we keep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Without memory: 28.5 percent. Whole-file code memory: 40 percent, plus 11.5 points, interval excludes zero. The final fragment version: 35.2 percent, plus 7.1, interval also excludes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learning curve. Text memory, orange, falls below No Memory. Both code memories, blue and green, stay above it to the end.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its interval includes zero. Adding memory on top adds 8.1 points, and its interval excludes zero.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new orders, whole files were copied as finished answers, giving blank sites; fragments removed them. In the original order, fragments stopped vue-router less well. Neither form wins in every order.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one run per order, gains in features not look, one model and tool, method developed on this benchmark. Next: seed 47, the alternating order and the fixed-code control.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 small model, memory should give code, not advice. Accuracy rises from 28.5 to 35 to 40 percent, mostly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Experiments</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compare, and in which task orders</a:t>
            </a:r>
            <a:endParaRPr lang="en-US" sz="3000" dirty="0"/>
          </a:p>
        </p:txBody>
      </p:sp>
      <p:graphicFrame>
        <p:nvGraphicFramePr>
          <p:cNvPr id="20" name="Arms"/>
          <p:cNvGraphicFramePr>
            <a:graphicFrameLocks noGrp="1"/>
          </p:cNvGraphicFramePr>
          <p:nvPr/>
        </p:nvGraphicFramePr>
        <p:xfrm>
          <a:off x="812800" y="1650000"/>
          <a:ext cx="10900000" cy="2030000"/>
        </p:xfrm>
        <a:graphic>
          <a:graphicData uri="http://schemas.openxmlformats.org/drawingml/2006/table">
            <a:tbl>
              <a:tblPr/>
              <a:tblGrid>
                <a:gridCol w="2900000">
                  <a:extLst>
                    <a:ext uri="{9D8B030D-6E8A-4147-A177-3AD203B41FA5}">
                      <a16:colId xmlns:a16="http://schemas.microsoft.com/office/drawing/2014/main" val="20000"/>
                    </a:ext>
                  </a:extLst>
                </a:gridCol>
                <a:gridCol w="4900000">
                  <a:extLst>
                    <a:ext uri="{9D8B030D-6E8A-4147-A177-3AD203B41FA5}">
                      <a16:colId xmlns:a16="http://schemas.microsoft.com/office/drawing/2014/main" val="20001"/>
                    </a:ext>
                  </a:extLst>
                </a:gridCol>
                <a:gridCol w="3100000">
                  <a:extLst>
                    <a:ext uri="{9D8B030D-6E8A-4147-A177-3AD203B41FA5}">
                      <a16:colId xmlns:a16="http://schemas.microsoft.com/office/drawing/2014/main" val="20002"/>
                    </a:ext>
                  </a:extLst>
                </a:gridCol>
              </a:tblGrid>
              <a:tr h="290000">
                <a:tc>
                  <a:txBody>
                    <a:bodyPr/>
                    <a:lstStyle/>
                    <a:p>
                      <a:r>
                        <a:rPr sz="1100" b="1">
                          <a:solidFill>
                            <a:srgbClr val="14213D"/>
                          </a:solidFill>
                          <a:latin typeface="Arial"/>
                        </a:rPr>
                        <a:t>Arm</a:t>
                      </a:r>
                    </a:p>
                  </a:txBody>
                  <a:tcPr marL="60000" marR="60000" marT="30000" marB="30000">
                    <a:solidFill>
                      <a:srgbClr val="EEF2F8"/>
                    </a:solidFill>
                  </a:tcPr>
                </a:tc>
                <a:tc>
                  <a:txBody>
                    <a:bodyPr/>
                    <a:lstStyle/>
                    <a:p>
                      <a:r>
                        <a:rPr sz="1100" b="1">
                          <a:solidFill>
                            <a:srgbClr val="14213D"/>
                          </a:solidFill>
                          <a:latin typeface="Arial"/>
                        </a:rPr>
                        <a:t>Question it answers</a:t>
                      </a:r>
                    </a:p>
                  </a:txBody>
                  <a:tcPr marL="60000" marR="60000" marT="30000" marB="30000">
                    <a:solidFill>
                      <a:srgbClr val="EEF2F8"/>
                    </a:solidFill>
                  </a:tcPr>
                </a:tc>
                <a:tc>
                  <a:txBody>
                    <a:bodyPr/>
                    <a:lstStyle/>
                    <a:p>
                      <a:r>
                        <a:rPr sz="1100" b="1">
                          <a:solidFill>
                            <a:srgbClr val="14213D"/>
                          </a:solidFill>
                          <a:latin typeface="Arial"/>
                        </a:rPr>
                        <a:t>Task orders</a:t>
                      </a:r>
                    </a:p>
                  </a:txBody>
                  <a:tcPr marL="60000" marR="60000" marT="30000" marB="30000">
                    <a:solidFill>
                      <a:srgbClr val="EEF2F8"/>
                    </a:solidFill>
                  </a:tcPr>
                </a:tc>
                <a:extLst>
                  <a:ext uri="{0D108BD9-81ED-4DB2-BD59-A6C34878D82A}">
                    <a16:rowId xmlns:a16="http://schemas.microsoft.com/office/drawing/2014/main" val="10000"/>
                  </a:ext>
                </a:extLst>
              </a:tr>
              <a:tr h="290000">
                <a:tc>
                  <a:txBody>
                    <a:bodyPr/>
                    <a:lstStyle/>
                    <a:p>
                      <a:r>
                        <a:rPr sz="1100" b="1">
                          <a:solidFill>
                            <a:srgbClr val="14213D"/>
                          </a:solidFill>
                          <a:latin typeface="Arial"/>
                        </a:rPr>
                        <a:t>No Memory</a:t>
                      </a:r>
                    </a:p>
                  </a:txBody>
                  <a:tcPr marL="60000" marR="60000" marT="30000" marB="30000">
                    <a:solidFill>
                      <a:srgbClr val="FFFFFF"/>
                    </a:solidFill>
                  </a:tcPr>
                </a:tc>
                <a:tc>
                  <a:txBody>
                    <a:bodyPr/>
                    <a:lstStyle/>
                    <a:p>
                      <a:r>
                        <a:rPr sz="1100" b="0">
                          <a:solidFill>
                            <a:srgbClr val="14213D"/>
                          </a:solidFill>
                          <a:latin typeface="Arial"/>
                        </a:rPr>
                        <a:t>Baseline: does it match the paper (28.4%)?</a:t>
                      </a:r>
                    </a:p>
                  </a:txBody>
                  <a:tcPr marL="60000" marR="60000" marT="30000" marB="30000">
                    <a:solidFill>
                      <a:srgbClr val="FFFFFF"/>
                    </a:solidFill>
                  </a:tcPr>
                </a:tc>
                <a:tc>
                  <a:txBody>
                    <a:bodyPr/>
                    <a:lstStyle/>
                    <a:p>
                      <a:r>
                        <a:rPr sz="1100" b="0">
                          <a:solidFill>
                            <a:srgbClr val="14213D"/>
                          </a:solidFill>
                          <a:latin typeface="Arial"/>
                        </a:rPr>
                        <a:t>Original, grouped, random</a:t>
                      </a:r>
                    </a:p>
                  </a:txBody>
                  <a:tcPr marL="60000" marR="60000" marT="30000" marB="30000">
                    <a:solidFill>
                      <a:srgbClr val="FFFFFF"/>
                    </a:solidFill>
                  </a:tcPr>
                </a:tc>
                <a:extLst>
                  <a:ext uri="{0D108BD9-81ED-4DB2-BD59-A6C34878D82A}">
                    <a16:rowId xmlns:a16="http://schemas.microsoft.com/office/drawing/2014/main" val="10001"/>
                  </a:ext>
                </a:extLst>
              </a:tr>
              <a:tr h="290000">
                <a:tc>
                  <a:txBody>
                    <a:bodyPr/>
                    <a:lstStyle/>
                    <a:p>
                      <a:r>
                        <a:rPr sz="1100" b="1">
                          <a:solidFill>
                            <a:srgbClr val="14213D"/>
                          </a:solidFill>
                          <a:latin typeface="Arial"/>
                        </a:rPr>
                        <a:t>Text memory</a:t>
                      </a:r>
                    </a:p>
                  </a:txBody>
                  <a:tcPr marL="60000" marR="60000" marT="30000" marB="30000">
                    <a:solidFill>
                      <a:srgbClr val="FFFFFF"/>
                    </a:solidFill>
                  </a:tcPr>
                </a:tc>
                <a:tc>
                  <a:txBody>
                    <a:bodyPr/>
                    <a:lstStyle/>
                    <a:p>
                      <a:r>
                        <a:rPr sz="1100" b="0">
                          <a:solidFill>
                            <a:srgbClr val="14213D"/>
                          </a:solidFill>
                          <a:latin typeface="Arial"/>
                        </a:rPr>
                        <a:t>Do written lessons help?</a:t>
                      </a:r>
                    </a:p>
                  </a:txBody>
                  <a:tcPr marL="60000" marR="60000" marT="30000" marB="30000">
                    <a:solidFill>
                      <a:srgbClr val="FFFFFF"/>
                    </a:solidFill>
                  </a:tcPr>
                </a:tc>
                <a:tc>
                  <a:txBody>
                    <a:bodyPr/>
                    <a:lstStyle/>
                    <a:p>
                      <a:r>
                        <a:rPr sz="1100" b="0">
                          <a:solidFill>
                            <a:srgbClr val="14213D"/>
                          </a:solidFill>
                          <a:latin typeface="Arial"/>
                        </a:rPr>
                        <a:t>Original</a:t>
                      </a:r>
                    </a:p>
                  </a:txBody>
                  <a:tcPr marL="60000" marR="60000" marT="30000" marB="30000">
                    <a:solidFill>
                      <a:srgbClr val="FFFFFF"/>
                    </a:solidFill>
                  </a:tcPr>
                </a:tc>
                <a:extLst>
                  <a:ext uri="{0D108BD9-81ED-4DB2-BD59-A6C34878D82A}">
                    <a16:rowId xmlns:a16="http://schemas.microsoft.com/office/drawing/2014/main" val="10002"/>
                  </a:ext>
                </a:extLst>
              </a:tr>
              <a:tr h="290000">
                <a:tc>
                  <a:txBody>
                    <a:bodyPr/>
                    <a:lstStyle/>
                    <a:p>
                      <a:r>
                        <a:rPr sz="1100" b="1">
                          <a:solidFill>
                            <a:srgbClr val="14213D"/>
                          </a:solidFill>
                          <a:latin typeface="Arial"/>
                        </a:rPr>
                        <a:t>Checklist only</a:t>
                      </a:r>
                    </a:p>
                  </a:txBody>
                  <a:tcPr marL="60000" marR="60000" marT="30000" marB="30000">
                    <a:solidFill>
                      <a:srgbClr val="FFFFFF"/>
                    </a:solidFill>
                  </a:tcPr>
                </a:tc>
                <a:tc>
                  <a:txBody>
                    <a:bodyPr/>
                    <a:lstStyle/>
                    <a:p>
                      <a:r>
                        <a:rPr sz="1100" b="0">
                          <a:solidFill>
                            <a:srgbClr val="14213D"/>
                          </a:solidFill>
                          <a:latin typeface="Arial"/>
                        </a:rPr>
                        <a:t>Does splitting the request into a list help?</a:t>
                      </a:r>
                    </a:p>
                  </a:txBody>
                  <a:tcPr marL="60000" marR="60000" marT="30000" marB="30000">
                    <a:solidFill>
                      <a:srgbClr val="FFFFFF"/>
                    </a:solidFill>
                  </a:tcPr>
                </a:tc>
                <a:tc>
                  <a:txBody>
                    <a:bodyPr/>
                    <a:lstStyle/>
                    <a:p>
                      <a:r>
                        <a:rPr sz="1100" b="0">
                          <a:solidFill>
                            <a:srgbClr val="14213D"/>
                          </a:solidFill>
                          <a:latin typeface="Arial"/>
                        </a:rPr>
                        <a:t>Original</a:t>
                      </a:r>
                    </a:p>
                  </a:txBody>
                  <a:tcPr marL="60000" marR="60000" marT="30000" marB="30000">
                    <a:solidFill>
                      <a:srgbClr val="FFFFFF"/>
                    </a:solidFill>
                  </a:tcPr>
                </a:tc>
                <a:extLst>
                  <a:ext uri="{0D108BD9-81ED-4DB2-BD59-A6C34878D82A}">
                    <a16:rowId xmlns:a16="http://schemas.microsoft.com/office/drawing/2014/main" val="10003"/>
                  </a:ext>
                </a:extLst>
              </a:tr>
              <a:tr h="290000">
                <a:tc>
                  <a:txBody>
                    <a:bodyPr/>
                    <a:lstStyle/>
                    <a:p>
                      <a:r>
                        <a:rPr sz="1100" b="1">
                          <a:solidFill>
                            <a:srgbClr val="14213D"/>
                          </a:solidFill>
                          <a:latin typeface="Arial"/>
                        </a:rPr>
                        <a:t>Code memory (whole-file)</a:t>
                      </a:r>
                    </a:p>
                  </a:txBody>
                  <a:tcPr marL="60000" marR="60000" marT="30000" marB="30000">
                    <a:solidFill>
                      <a:srgbClr val="FFFFFF"/>
                    </a:solidFill>
                  </a:tcPr>
                </a:tc>
                <a:tc>
                  <a:txBody>
                    <a:bodyPr/>
                    <a:lstStyle/>
                    <a:p>
                      <a:r>
                        <a:rPr sz="1100" b="0">
                          <a:solidFill>
                            <a:srgbClr val="14213D"/>
                          </a:solidFill>
                          <a:latin typeface="Arial"/>
                        </a:rPr>
                        <a:t>Do code examples help?</a:t>
                      </a:r>
                    </a:p>
                  </a:txBody>
                  <a:tcPr marL="60000" marR="60000" marT="30000" marB="30000">
                    <a:solidFill>
                      <a:srgbClr val="FFFFFF"/>
                    </a:solidFill>
                  </a:tcPr>
                </a:tc>
                <a:tc>
                  <a:txBody>
                    <a:bodyPr/>
                    <a:lstStyle/>
                    <a:p>
                      <a:r>
                        <a:rPr sz="1100" b="0">
                          <a:solidFill>
                            <a:srgbClr val="14213D"/>
                          </a:solidFill>
                          <a:latin typeface="Arial"/>
                        </a:rPr>
                        <a:t>Original, grouped, random</a:t>
                      </a:r>
                    </a:p>
                  </a:txBody>
                  <a:tcPr marL="60000" marR="60000" marT="30000" marB="30000">
                    <a:solidFill>
                      <a:srgbClr val="FFFFFF"/>
                    </a:solidFill>
                  </a:tcPr>
                </a:tc>
                <a:extLst>
                  <a:ext uri="{0D108BD9-81ED-4DB2-BD59-A6C34878D82A}">
                    <a16:rowId xmlns:a16="http://schemas.microsoft.com/office/drawing/2014/main" val="10004"/>
                  </a:ext>
                </a:extLst>
              </a:tr>
              <a:tr h="290000">
                <a:tc>
                  <a:txBody>
                    <a:bodyPr/>
                    <a:lstStyle/>
                    <a:p>
                      <a:r>
                        <a:rPr sz="1100" b="1">
                          <a:solidFill>
                            <a:srgbClr val="14213D"/>
                          </a:solidFill>
                          <a:latin typeface="Arial"/>
                        </a:rPr>
                        <a:t>Code memory (fragments), final</a:t>
                      </a:r>
                    </a:p>
                  </a:txBody>
                  <a:tcPr marL="60000" marR="60000" marT="30000" marB="30000">
                    <a:solidFill>
                      <a:srgbClr val="FFFFFF"/>
                    </a:solidFill>
                  </a:tcPr>
                </a:tc>
                <a:tc>
                  <a:txBody>
                    <a:bodyPr/>
                    <a:lstStyle/>
                    <a:p>
                      <a:r>
                        <a:rPr sz="1100" b="0">
                          <a:solidFill>
                            <a:srgbClr val="14213D"/>
                          </a:solidFill>
                          <a:latin typeface="Arial"/>
                        </a:rPr>
                        <a:t>Does the final method hold in other orders?</a:t>
                      </a:r>
                    </a:p>
                  </a:txBody>
                  <a:tcPr marL="60000" marR="60000" marT="30000" marB="30000">
                    <a:solidFill>
                      <a:srgbClr val="FFFFFF"/>
                    </a:solidFill>
                  </a:tcPr>
                </a:tc>
                <a:tc>
                  <a:txBody>
                    <a:bodyPr/>
                    <a:lstStyle/>
                    <a:p>
                      <a:r>
                        <a:rPr sz="1100" b="0">
                          <a:solidFill>
                            <a:srgbClr val="14213D"/>
                          </a:solidFill>
                          <a:latin typeface="Arial"/>
                        </a:rPr>
                        <a:t>Original, grouped, random (seed 47: running)</a:t>
                      </a:r>
                    </a:p>
                  </a:txBody>
                  <a:tcPr marL="60000" marR="60000" marT="30000" marB="30000">
                    <a:solidFill>
                      <a:srgbClr val="FFFFFF"/>
                    </a:solidFill>
                  </a:tcPr>
                </a:tc>
                <a:extLst>
                  <a:ext uri="{0D108BD9-81ED-4DB2-BD59-A6C34878D82A}">
                    <a16:rowId xmlns:a16="http://schemas.microsoft.com/office/drawing/2014/main" val="10005"/>
                  </a:ext>
                </a:extLst>
              </a:tr>
              <a:tr h="290000">
                <a:tc>
                  <a:txBody>
                    <a:bodyPr/>
                    <a:lstStyle/>
                    <a:p>
                      <a:r>
                        <a:rPr sz="1100" b="1">
                          <a:solidFill>
                            <a:srgbClr val="14213D"/>
                          </a:solidFill>
                          <a:latin typeface="Arial"/>
                        </a:rPr>
                        <a:t>Fixed code prefix</a:t>
                      </a:r>
                    </a:p>
                  </a:txBody>
                  <a:tcPr marL="60000" marR="60000" marT="30000" marB="30000">
                    <a:solidFill>
                      <a:srgbClr val="FFFFFF"/>
                    </a:solidFill>
                  </a:tcPr>
                </a:tc>
                <a:tc>
                  <a:txBody>
                    <a:bodyPr/>
                    <a:lstStyle/>
                    <a:p>
                      <a:r>
                        <a:rPr sz="1100" b="0">
                          <a:solidFill>
                            <a:srgbClr val="14213D"/>
                          </a:solidFill>
                          <a:latin typeface="Arial"/>
                        </a:rPr>
                        <a:t>Is it learning, or just code in the prompt?</a:t>
                      </a:r>
                    </a:p>
                  </a:txBody>
                  <a:tcPr marL="60000" marR="60000" marT="30000" marB="30000">
                    <a:solidFill>
                      <a:srgbClr val="FFFFFF"/>
                    </a:solidFill>
                  </a:tcPr>
                </a:tc>
                <a:tc>
                  <a:txBody>
                    <a:bodyPr/>
                    <a:lstStyle/>
                    <a:p>
                      <a:r>
                        <a:rPr sz="1100" b="0">
                          <a:solidFill>
                            <a:srgbClr val="14213D"/>
                          </a:solidFill>
                          <a:latin typeface="Arial"/>
                        </a:rPr>
                        <a:t>Original (queued after seed 47)</a:t>
                      </a:r>
                    </a:p>
                  </a:txBody>
                  <a:tcPr marL="60000" marR="60000" marT="30000" marB="30000">
                    <a:solidFill>
                      <a:srgbClr val="FFFFFF"/>
                    </a:solidFill>
                  </a:tcPr>
                </a:tc>
                <a:extLst>
                  <a:ext uri="{0D108BD9-81ED-4DB2-BD59-A6C34878D82A}">
                    <a16:rowId xmlns:a16="http://schemas.microsoft.com/office/drawing/2014/main" val="10006"/>
                  </a:ext>
                </a:extLst>
              </a:tr>
            </a:tbl>
          </a:graphicData>
        </a:graphic>
      </p:graphicFrame>
      <p:graphicFrame>
        <p:nvGraphicFramePr>
          <p:cNvPr id="21" name="Orders"/>
          <p:cNvGraphicFramePr>
            <a:graphicFrameLocks noGrp="1"/>
          </p:cNvGraphicFramePr>
          <p:nvPr/>
        </p:nvGraphicFramePr>
        <p:xfrm>
          <a:off x="812800" y="4000000"/>
          <a:ext cx="10900000" cy="1450000"/>
        </p:xfrm>
        <a:graphic>
          <a:graphicData uri="http://schemas.openxmlformats.org/drawingml/2006/table">
            <a:tbl>
              <a:tblPr/>
              <a:tblGrid>
                <a:gridCol w="2900000">
                  <a:extLst>
                    <a:ext uri="{9D8B030D-6E8A-4147-A177-3AD203B41FA5}">
                      <a16:colId xmlns:a16="http://schemas.microsoft.com/office/drawing/2014/main" val="20000"/>
                    </a:ext>
                  </a:extLst>
                </a:gridCol>
                <a:gridCol w="8000000">
                  <a:extLst>
                    <a:ext uri="{9D8B030D-6E8A-4147-A177-3AD203B41FA5}">
                      <a16:colId xmlns:a16="http://schemas.microsoft.com/office/drawing/2014/main" val="20001"/>
                    </a:ext>
                  </a:extLst>
                </a:gridCol>
              </a:tblGrid>
              <a:tr h="290000">
                <a:tc>
                  <a:txBody>
                    <a:bodyPr/>
                    <a:lstStyle/>
                    <a:p>
                      <a:r>
                        <a:rPr sz="1100" b="1">
                          <a:solidFill>
                            <a:srgbClr val="14213D"/>
                          </a:solidFill>
                          <a:latin typeface="Arial"/>
                        </a:rPr>
                        <a:t>Task order</a:t>
                      </a:r>
                    </a:p>
                  </a:txBody>
                  <a:tcPr marL="60000" marR="60000" marT="30000" marB="30000">
                    <a:solidFill>
                      <a:srgbClr val="EEF2F8"/>
                    </a:solidFill>
                  </a:tcPr>
                </a:tc>
                <a:tc>
                  <a:txBody>
                    <a:bodyPr/>
                    <a:lstStyle/>
                    <a:p>
                      <a:r>
                        <a:rPr sz="1100" b="1">
                          <a:solidFill>
                            <a:srgbClr val="14213D"/>
                          </a:solidFill>
                          <a:latin typeface="Arial"/>
                        </a:rPr>
                        <a:t>How the 101 tasks are arranged</a:t>
                      </a:r>
                    </a:p>
                  </a:txBody>
                  <a:tcPr marL="60000" marR="60000" marT="30000" marB="30000">
                    <a:solidFill>
                      <a:srgbClr val="EEF2F8"/>
                    </a:solidFill>
                  </a:tcPr>
                </a:tc>
                <a:extLst>
                  <a:ext uri="{0D108BD9-81ED-4DB2-BD59-A6C34878D82A}">
                    <a16:rowId xmlns:a16="http://schemas.microsoft.com/office/drawing/2014/main" val="10000"/>
                  </a:ext>
                </a:extLst>
              </a:tr>
              <a:tr h="290000">
                <a:tc>
                  <a:txBody>
                    <a:bodyPr/>
                    <a:lstStyle/>
                    <a:p>
                      <a:r>
                        <a:rPr sz="1100" b="1">
                          <a:solidFill>
                            <a:srgbClr val="14213D"/>
                          </a:solidFill>
                          <a:latin typeface="Arial"/>
                        </a:rPr>
                        <a:t>Original</a:t>
                      </a:r>
                    </a:p>
                  </a:txBody>
                  <a:tcPr marL="60000" marR="60000" marT="30000" marB="30000">
                    <a:solidFill>
                      <a:srgbClr val="FFFFFF"/>
                    </a:solidFill>
                  </a:tcPr>
                </a:tc>
                <a:tc>
                  <a:txBody>
                    <a:bodyPr/>
                    <a:lstStyle/>
                    <a:p>
                      <a:r>
                        <a:rPr sz="1100" b="0">
                          <a:solidFill>
                            <a:srgbClr val="14213D"/>
                          </a:solidFill>
                          <a:latin typeface="Arial"/>
                        </a:rPr>
                        <a:t>The benchmark list: tasks of the same domain (e.g. all e-commerce sites) come one after another</a:t>
                      </a:r>
                    </a:p>
                  </a:txBody>
                  <a:tcPr marL="60000" marR="60000" marT="30000" marB="30000">
                    <a:solidFill>
                      <a:srgbClr val="FFFFFF"/>
                    </a:solidFill>
                  </a:tcPr>
                </a:tc>
                <a:extLst>
                  <a:ext uri="{0D108BD9-81ED-4DB2-BD59-A6C34878D82A}">
                    <a16:rowId xmlns:a16="http://schemas.microsoft.com/office/drawing/2014/main" val="10001"/>
                  </a:ext>
                </a:extLst>
              </a:tr>
              <a:tr h="290000">
                <a:tc>
                  <a:txBody>
                    <a:bodyPr/>
                    <a:lstStyle/>
                    <a:p>
                      <a:r>
                        <a:rPr sz="1100" b="1">
                          <a:solidFill>
                            <a:srgbClr val="14213D"/>
                          </a:solidFill>
                          <a:latin typeface="Arial"/>
                        </a:rPr>
                        <a:t>Shuffled, domains grouped</a:t>
                      </a:r>
                    </a:p>
                  </a:txBody>
                  <a:tcPr marL="60000" marR="60000" marT="30000" marB="30000">
                    <a:solidFill>
                      <a:srgbClr val="FFFFFF"/>
                    </a:solidFill>
                  </a:tcPr>
                </a:tc>
                <a:tc>
                  <a:txBody>
                    <a:bodyPr/>
                    <a:lstStyle/>
                    <a:p>
                      <a:r>
                        <a:rPr sz="1100" b="0">
                          <a:solidFill>
                            <a:srgbClr val="14213D"/>
                          </a:solidFill>
                          <a:latin typeface="Arial"/>
                        </a:rPr>
                        <a:t>Domains in a random order, but each domain’s tasks still stay together</a:t>
                      </a:r>
                    </a:p>
                  </a:txBody>
                  <a:tcPr marL="60000" marR="60000" marT="30000" marB="30000">
                    <a:solidFill>
                      <a:srgbClr val="FFFFFF"/>
                    </a:solidFill>
                  </a:tcPr>
                </a:tc>
                <a:extLst>
                  <a:ext uri="{0D108BD9-81ED-4DB2-BD59-A6C34878D82A}">
                    <a16:rowId xmlns:a16="http://schemas.microsoft.com/office/drawing/2014/main" val="10002"/>
                  </a:ext>
                </a:extLst>
              </a:tr>
              <a:tr h="290000">
                <a:tc>
                  <a:txBody>
                    <a:bodyPr/>
                    <a:lstStyle/>
                    <a:p>
                      <a:r>
                        <a:rPr sz="1100" b="1">
                          <a:solidFill>
                            <a:srgbClr val="14213D"/>
                          </a:solidFill>
                          <a:latin typeface="Arial"/>
                        </a:rPr>
                        <a:t>Fully random</a:t>
                      </a:r>
                    </a:p>
                  </a:txBody>
                  <a:tcPr marL="60000" marR="60000" marT="30000" marB="30000">
                    <a:solidFill>
                      <a:srgbClr val="FFFFFF"/>
                    </a:solidFill>
                  </a:tcPr>
                </a:tc>
                <a:tc>
                  <a:txBody>
                    <a:bodyPr/>
                    <a:lstStyle/>
                    <a:p>
                      <a:r>
                        <a:rPr sz="1100" b="0">
                          <a:solidFill>
                            <a:srgbClr val="14213D"/>
                          </a:solidFill>
                          <a:latin typeface="Arial"/>
                        </a:rPr>
                        <a:t>All 101 tasks shuffled, so domains are mixed</a:t>
                      </a:r>
                    </a:p>
                  </a:txBody>
                  <a:tcPr marL="60000" marR="60000" marT="30000" marB="30000">
                    <a:solidFill>
                      <a:srgbClr val="FFFFFF"/>
                    </a:solidFill>
                  </a:tcPr>
                </a:tc>
                <a:extLst>
                  <a:ext uri="{0D108BD9-81ED-4DB2-BD59-A6C34878D82A}">
                    <a16:rowId xmlns:a16="http://schemas.microsoft.com/office/drawing/2014/main" val="10003"/>
                  </a:ext>
                </a:extLst>
              </a:tr>
              <a:tr h="290000">
                <a:tc>
                  <a:txBody>
                    <a:bodyPr/>
                    <a:lstStyle/>
                    <a:p>
                      <a:r>
                        <a:rPr sz="1100" b="1">
                          <a:solidFill>
                            <a:srgbClr val="14213D"/>
                          </a:solidFill>
                          <a:latin typeface="Arial"/>
                        </a:rPr>
                        <a:t>Alternating (running)</a:t>
                      </a:r>
                    </a:p>
                  </a:txBody>
                  <a:tcPr marL="60000" marR="60000" marT="30000" marB="30000">
                    <a:solidFill>
                      <a:srgbClr val="FFFFFF"/>
                    </a:solidFill>
                  </a:tcPr>
                </a:tc>
                <a:tc>
                  <a:txBody>
                    <a:bodyPr/>
                    <a:lstStyle/>
                    <a:p>
                      <a:r>
                        <a:rPr sz="1100" b="0">
                          <a:solidFill>
                            <a:srgbClr val="14213D"/>
                          </a:solidFill>
                          <a:latin typeface="Arial"/>
                        </a:rPr>
                        <a:t>Every next task comes from a different domain</a:t>
                      </a:r>
                    </a:p>
                  </a:txBody>
                  <a:tcPr marL="60000" marR="60000" marT="30000" marB="30000">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3"/>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4"/>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Code memory (fragments):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memory designs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(whole-file) → code memory (fragments)</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2365470570"/>
              </p:ext>
            </p:extLst>
          </p:nvPr>
        </p:nvGraphicFramePr>
        <p:xfrm>
          <a:off x="689113" y="2332383"/>
          <a:ext cx="10690088" cy="2600246"/>
        </p:xfrm>
        <a:graphic>
          <a:graphicData uri="http://schemas.openxmlformats.org/drawingml/2006/table">
            <a:tbl>
              <a:tblPr/>
              <a:tblGrid>
                <a:gridCol w="2138018">
                  <a:extLst>
                    <a:ext uri="{9D8B030D-6E8A-4147-A177-3AD203B41FA5}">
                      <a16:colId xmlns:a16="http://schemas.microsoft.com/office/drawing/2014/main" val="20000"/>
                    </a:ext>
                  </a:extLst>
                </a:gridCol>
                <a:gridCol w="2886324">
                  <a:extLst>
                    <a:ext uri="{9D8B030D-6E8A-4147-A177-3AD203B41FA5}">
                      <a16:colId xmlns:a16="http://schemas.microsoft.com/office/drawing/2014/main" val="20001"/>
                    </a:ext>
                  </a:extLst>
                </a:gridCol>
                <a:gridCol w="3313927">
                  <a:extLst>
                    <a:ext uri="{9D8B030D-6E8A-4147-A177-3AD203B41FA5}">
                      <a16:colId xmlns:a16="http://schemas.microsoft.com/office/drawing/2014/main" val="20002"/>
                    </a:ext>
                  </a:extLst>
                </a:gridCol>
                <a:gridCol w="2351819">
                  <a:extLst>
                    <a:ext uri="{9D8B030D-6E8A-4147-A177-3AD203B41FA5}">
                      <a16:colId xmlns:a16="http://schemas.microsoft.com/office/drawing/2014/main" val="20003"/>
                    </a:ext>
                  </a:extLst>
                </a:gridCol>
              </a:tblGrid>
              <a:tr h="442738">
                <a:tc>
                  <a:txBody>
                    <a:bodyPr/>
                    <a:lstStyle/>
                    <a:p>
                      <a:r>
                        <a:rPr sz="1200" b="1">
                          <a:solidFill>
                            <a:srgbClr val="14213D"/>
                          </a:solidFill>
                          <a:latin typeface="Arial"/>
                        </a:rPr>
                        <a:t>Design</a:t>
                      </a:r>
                    </a:p>
                  </a:txBody>
                  <a:tcPr marL="60000" marR="60000" marT="40000" marB="40000">
                    <a:solidFill>
                      <a:srgbClr val="EEF2F8"/>
                    </a:solidFill>
                  </a:tcPr>
                </a:tc>
                <a:tc>
                  <a:txBody>
                    <a:bodyPr/>
                    <a:lstStyle/>
                    <a:p>
                      <a:r>
                        <a:rPr sz="1200" b="1">
                          <a:solidFill>
                            <a:srgbClr val="14213D"/>
                          </a:solidFill>
                          <a:latin typeface="Arial"/>
                        </a:rPr>
                        <a:t>What memory gives the model</a:t>
                      </a:r>
                    </a:p>
                  </a:txBody>
                  <a:tcPr marL="60000" marR="60000" marT="40000" marB="40000">
                    <a:solidFill>
                      <a:srgbClr val="EEF2F8"/>
                    </a:solidFill>
                  </a:tcPr>
                </a:tc>
                <a:tc>
                  <a:txBody>
                    <a:bodyPr/>
                    <a:lstStyle/>
                    <a:p>
                      <a:r>
                        <a:rPr sz="1200" b="1">
                          <a:solidFill>
                            <a:srgbClr val="14213D"/>
                          </a:solidFill>
                          <a:latin typeface="Arial"/>
                        </a:rPr>
                        <a:t>Why we moved on</a:t>
                      </a:r>
                    </a:p>
                  </a:txBody>
                  <a:tcPr marL="60000" marR="60000" marT="40000" marB="40000">
                    <a:solidFill>
                      <a:srgbClr val="EEF2F8"/>
                    </a:solidFill>
                  </a:tcPr>
                </a:tc>
                <a:tc>
                  <a:txBody>
                    <a:bodyPr/>
                    <a:lstStyle/>
                    <a:p>
                      <a:r>
                        <a:rPr sz="1200" b="1">
                          <a:solidFill>
                            <a:srgbClr val="14213D"/>
                          </a:solidFill>
                          <a:latin typeface="Arial"/>
                        </a:rPr>
                        <a:t>Result (101 tasks)</a:t>
                      </a:r>
                    </a:p>
                  </a:txBody>
                  <a:tcPr marL="60000" marR="60000" marT="40000" marB="40000">
                    <a:solidFill>
                      <a:srgbClr val="EEF2F8"/>
                    </a:solidFill>
                  </a:tcPr>
                </a:tc>
                <a:extLst>
                  <a:ext uri="{0D108BD9-81ED-4DB2-BD59-A6C34878D82A}">
                    <a16:rowId xmlns:a16="http://schemas.microsoft.com/office/drawing/2014/main" val="10000"/>
                  </a:ext>
                </a:extLst>
              </a:tr>
              <a:tr h="543065">
                <a:tc>
                  <a:txBody>
                    <a:bodyPr/>
                    <a:lstStyle/>
                    <a:p>
                      <a:r>
                        <a:rPr sz="1200" b="0">
                          <a:solidFill>
                            <a:srgbClr val="14213D"/>
                          </a:solidFill>
                          <a:latin typeface="Arial"/>
                        </a:rPr>
                        <a:t>Text memory</a:t>
                      </a:r>
                    </a:p>
                  </a:txBody>
                  <a:tcPr marL="60000" marR="60000" marT="40000" marB="40000">
                    <a:solidFill>
                      <a:srgbClr val="FFFFFF"/>
                    </a:solidFill>
                  </a:tcPr>
                </a:tc>
                <a:tc>
                  <a:txBody>
                    <a:bodyPr/>
                    <a:lstStyle/>
                    <a:p>
                      <a:r>
                        <a:rPr sz="1200" b="0">
                          <a:solidFill>
                            <a:srgbClr val="14213D"/>
                          </a:solidFill>
                          <a:latin typeface="Arial"/>
                        </a:rPr>
                        <a:t>Checklist + text lessons</a:t>
                      </a:r>
                    </a:p>
                  </a:txBody>
                  <a:tcPr marL="60000" marR="60000" marT="40000" marB="40000">
                    <a:solidFill>
                      <a:srgbClr val="FFFFFF"/>
                    </a:solidFill>
                  </a:tcPr>
                </a:tc>
                <a:tc>
                  <a:txBody>
                    <a:bodyPr/>
                    <a:lstStyle/>
                    <a:p>
                      <a:r>
                        <a:rPr sz="1200" b="0">
                          <a:solidFill>
                            <a:srgbClr val="14213D"/>
                          </a:solidFill>
                          <a:latin typeface="Arial"/>
                        </a:rPr>
                        <a:t>Vague text piles up; the 7B model ignores it</a:t>
                      </a:r>
                    </a:p>
                  </a:txBody>
                  <a:tcPr marL="60000" marR="60000" marT="40000" marB="40000">
                    <a:solidFill>
                      <a:srgbClr val="FFFFFF"/>
                    </a:solidFill>
                  </a:tcPr>
                </a:tc>
                <a:tc>
                  <a:txBody>
                    <a:bodyPr/>
                    <a:lstStyle/>
                    <a:p>
                      <a:r>
                        <a:rPr sz="1200" b="0">
                          <a:solidFill>
                            <a:srgbClr val="14213D"/>
                          </a:solidFill>
                          <a:latin typeface="Arial"/>
                        </a:rPr>
                        <a:t>30.9%; below NM after task 30</a:t>
                      </a:r>
                    </a:p>
                  </a:txBody>
                  <a:tcPr marL="60000" marR="60000" marT="40000" marB="40000">
                    <a:solidFill>
                      <a:srgbClr val="FFFFFF"/>
                    </a:solidFill>
                  </a:tcPr>
                </a:tc>
                <a:extLst>
                  <a:ext uri="{0D108BD9-81ED-4DB2-BD59-A6C34878D82A}">
                    <a16:rowId xmlns:a16="http://schemas.microsoft.com/office/drawing/2014/main" val="10001"/>
                  </a:ext>
                </a:extLst>
              </a:tr>
              <a:tr h="543065">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dirty="0">
                          <a:solidFill>
                            <a:srgbClr val="14213D"/>
                          </a:solidFill>
                          <a:latin typeface="Arial"/>
                        </a:rPr>
                        <a:t>Checklist + code copied from our earlier working sites; some examples are a whole file (full </a:t>
                      </a:r>
                      <a:r>
                        <a:rPr sz="1200" b="0" dirty="0" err="1">
                          <a:solidFill>
                            <a:srgbClr val="14213D"/>
                          </a:solidFill>
                          <a:latin typeface="Arial"/>
                        </a:rPr>
                        <a:t>App.vue</a:t>
                      </a:r>
                      <a:r>
                        <a:rPr sz="1200" b="0" dirty="0">
                          <a:solidFill>
                            <a:srgbClr val="14213D"/>
                          </a:solidFill>
                          <a:latin typeface="Arial"/>
                        </a:rPr>
                        <a:t>)</a:t>
                      </a:r>
                    </a:p>
                  </a:txBody>
                  <a:tcPr marL="60000" marR="60000" marT="40000" marB="40000">
                    <a:solidFill>
                      <a:srgbClr val="FFFFFF"/>
                    </a:solidFill>
                  </a:tcPr>
                </a:tc>
                <a:tc>
                  <a:txBody>
                    <a:bodyPr/>
                    <a:lstStyle/>
                    <a:p>
                      <a:r>
                        <a:rPr sz="1200" b="0">
                          <a:solidFill>
                            <a:srgbClr val="14213D"/>
                          </a:solidFill>
                          <a:latin typeface="Arial"/>
                        </a:rPr>
                        <a:t>Whole-file examples caused blank sites in new orders</a:t>
                      </a:r>
                    </a:p>
                  </a:txBody>
                  <a:tcPr marL="60000" marR="60000" marT="40000" marB="40000">
                    <a:solidFill>
                      <a:srgbClr val="FFFFFF"/>
                    </a:solidFill>
                  </a:tcPr>
                </a:tc>
                <a:tc>
                  <a:txBody>
                    <a:bodyPr/>
                    <a:lstStyle/>
                    <a:p>
                      <a:r>
                        <a:rPr sz="1200" b="0">
                          <a:solidFill>
                            <a:srgbClr val="14213D"/>
                          </a:solidFill>
                          <a:latin typeface="Arial"/>
                        </a:rPr>
                        <a:t>40.0%, +11.5</a:t>
                      </a:r>
                    </a:p>
                  </a:txBody>
                  <a:tcPr marL="60000" marR="60000" marT="40000" marB="40000">
                    <a:solidFill>
                      <a:srgbClr val="FFFFFF"/>
                    </a:solidFill>
                  </a:tcPr>
                </a:tc>
                <a:extLst>
                  <a:ext uri="{0D108BD9-81ED-4DB2-BD59-A6C34878D82A}">
                    <a16:rowId xmlns:a16="http://schemas.microsoft.com/office/drawing/2014/main" val="10002"/>
                  </a:ext>
                </a:extLst>
              </a:tr>
              <a:tr h="543065">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Same, but each example is only the few key lines (at most 15), never a whole file</a:t>
                      </a:r>
                    </a:p>
                  </a:txBody>
                  <a:tcPr marL="60000" marR="60000" marT="40000" marB="40000">
                    <a:solidFill>
                      <a:srgbClr val="FFFFFF"/>
                    </a:solidFill>
                  </a:tcPr>
                </a:tc>
                <a:tc>
                  <a:txBody>
                    <a:bodyPr/>
                    <a:lstStyle/>
                    <a:p>
                      <a:r>
                        <a:rPr sz="1200" b="0">
                          <a:solidFill>
                            <a:srgbClr val="14213D"/>
                          </a:solidFill>
                          <a:latin typeface="Arial"/>
                        </a:rPr>
                        <a:t>Original order: below whole-file; kept for robustness across orders</a:t>
                      </a:r>
                    </a:p>
                  </a:txBody>
                  <a:tcPr marL="60000" marR="60000" marT="40000" marB="40000">
                    <a:solidFill>
                      <a:srgbClr val="FFFFFF"/>
                    </a:solidFill>
                  </a:tcPr>
                </a:tc>
                <a:tc>
                  <a:txBody>
                    <a:bodyPr/>
                    <a:lstStyle/>
                    <a:p>
                      <a:r>
                        <a:rPr sz="1200" b="1">
                          <a:solidFill>
                            <a:srgbClr val="14213D"/>
                          </a:solidFill>
                          <a:latin typeface="Arial"/>
                        </a:rPr>
                        <a:t>35.2%, +7.1; grouped +7.4; random +5.5</a:t>
                      </a:r>
                    </a:p>
                  </a:txBody>
                  <a:tcPr marL="60000" marR="60000" marT="40000" marB="40000">
                    <a:solidFill>
                      <a:srgbClr val="FFFFFF"/>
                    </a:solidFill>
                  </a:tcPr>
                </a:tc>
                <a:extLst>
                  <a:ext uri="{0D108BD9-81ED-4DB2-BD59-A6C34878D82A}">
                    <a16:rowId xmlns:a16="http://schemas.microsoft.com/office/drawing/2014/main" val="10003"/>
                  </a:ext>
                </a:extLst>
              </a:tr>
              <a:tr h="442738">
                <a:tc>
                  <a:txBody>
                    <a:bodyPr/>
                    <a:lstStyle/>
                    <a:p>
                      <a:r>
                        <a:rPr sz="1200" b="0">
                          <a:solidFill>
                            <a:srgbClr val="14213D"/>
                          </a:solidFill>
                          <a:latin typeface="Arial"/>
                        </a:rPr>
                        <a:t>Ablation: checklist only</a:t>
                      </a:r>
                    </a:p>
                  </a:txBody>
                  <a:tcPr marL="60000" marR="60000" marT="40000" marB="40000">
                    <a:solidFill>
                      <a:srgbClr val="FFFFFF"/>
                    </a:solidFill>
                  </a:tcPr>
                </a:tc>
                <a:tc>
                  <a:txBody>
                    <a:bodyPr/>
                    <a:lstStyle/>
                    <a:p>
                      <a:r>
                        <a:rPr sz="1200" b="0" dirty="0">
                          <a:solidFill>
                            <a:srgbClr val="14213D"/>
                          </a:solidFill>
                          <a:latin typeface="Arial"/>
                        </a:rPr>
                        <a:t>Checklist, memory turned off</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0" dirty="0">
                          <a:solidFill>
                            <a:srgbClr val="14213D"/>
                          </a:solidFill>
                          <a:latin typeface="Arial"/>
                        </a:rPr>
                        <a:t>31.8% (+3.4, CI includes 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Repository labels: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35–40%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Code memory (whole-file)</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Whole-file: +11.5 points (95% CI 6.0 to 16.9). Fragments (final method): 35.2%, +7.1 (0.9 to 13.1), 20 zero-score tasks.</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CI includes 0; mainly fewer blank sites.</a:t>
            </a:r>
          </a:p>
          <a:p>
            <a:pPr>
              <a:spcAft>
                <a:spcPts val="400"/>
              </a:spcAft>
            </a:pPr>
            <a:r>
              <a:rPr sz="1400" b="0">
                <a:solidFill>
                  <a:srgbClr val="14213D"/>
                </a:solidFill>
                <a:latin typeface="Arial"/>
              </a:rPr>
              <a:t>Memory on top of the checklist: +8.1 points (95% CI 2.9 to 13.2).</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two new orders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Whole-file examples caused blank sites; fragments fixed it</a:t>
            </a:r>
            <a:endParaRPr lang="en-US" sz="3000" dirty="0"/>
          </a:p>
        </p:txBody>
      </p:sp>
      <p:graphicFrame>
        <p:nvGraphicFramePr>
          <p:cNvPr id="4" name="Table 3"/>
          <p:cNvGraphicFramePr>
            <a:graphicFrameLocks noGrp="1"/>
          </p:cNvGraphicFramePr>
          <p:nvPr/>
        </p:nvGraphicFramePr>
        <p:xfrm>
          <a:off x="825500" y="1900000"/>
          <a:ext cx="10553699" cy="1650000"/>
        </p:xfrm>
        <a:graphic>
          <a:graphicData uri="http://schemas.openxmlformats.org/drawingml/2006/table">
            <a:tbl>
              <a:tblPr/>
              <a:tblGrid>
                <a:gridCol w="2388468">
                  <a:extLst>
                    <a:ext uri="{9D8B030D-6E8A-4147-A177-3AD203B41FA5}">
                      <a16:colId xmlns:a16="http://schemas.microsoft.com/office/drawing/2014/main" val="20000"/>
                    </a:ext>
                  </a:extLst>
                </a:gridCol>
                <a:gridCol w="2277377">
                  <a:extLst>
                    <a:ext uri="{9D8B030D-6E8A-4147-A177-3AD203B41FA5}">
                      <a16:colId xmlns:a16="http://schemas.microsoft.com/office/drawing/2014/main" val="20001"/>
                    </a:ext>
                  </a:extLst>
                </a:gridCol>
                <a:gridCol w="3610476">
                  <a:extLst>
                    <a:ext uri="{9D8B030D-6E8A-4147-A177-3AD203B41FA5}">
                      <a16:colId xmlns:a16="http://schemas.microsoft.com/office/drawing/2014/main" val="20002"/>
                    </a:ext>
                  </a:extLst>
                </a:gridCol>
                <a:gridCol w="2277378">
                  <a:extLst>
                    <a:ext uri="{9D8B030D-6E8A-4147-A177-3AD203B41FA5}">
                      <a16:colId xmlns:a16="http://schemas.microsoft.com/office/drawing/2014/main" val="20003"/>
                    </a:ext>
                  </a:extLst>
                </a:gridCol>
              </a:tblGrid>
              <a:tr h="330000">
                <a:tc>
                  <a:txBody>
                    <a:bodyPr/>
                    <a:lstStyle/>
                    <a:p>
                      <a:r>
                        <a:rPr sz="1200" b="1">
                          <a:solidFill>
                            <a:srgbClr val="14213D"/>
                          </a:solidFill>
                          <a:latin typeface="Arial"/>
                        </a:rPr>
                        <a:t>Task order</a:t>
                      </a:r>
                    </a:p>
                  </a:txBody>
                  <a:tcPr marL="60000" marR="60000" marT="40000" marB="40000">
                    <a:solidFill>
                      <a:srgbClr val="EEF2F8"/>
                    </a:solidFill>
                  </a:tcPr>
                </a:tc>
                <a:tc>
                  <a:txBody>
                    <a:bodyPr/>
                    <a:lstStyle/>
                    <a:p>
                      <a:r>
                        <a:rPr sz="1200" b="1">
                          <a:solidFill>
                            <a:srgbClr val="14213D"/>
                          </a:solidFill>
                          <a:latin typeface="Arial"/>
                        </a:rPr>
                        <a:t>Version</a:t>
                      </a:r>
                    </a:p>
                  </a:txBody>
                  <a:tcPr marL="60000" marR="60000" marT="40000" marB="40000">
                    <a:solidFill>
                      <a:srgbClr val="EEF2F8"/>
                    </a:solidFill>
                  </a:tcPr>
                </a:tc>
                <a:tc>
                  <a:txBody>
                    <a:bodyPr/>
                    <a:lstStyle/>
                    <a:p>
                      <a:r>
                        <a:rPr sz="1200" b="1">
                          <a:solidFill>
                            <a:srgbClr val="14213D"/>
                          </a:solidFill>
                          <a:latin typeface="Arial"/>
                        </a:rPr>
                        <a:t>Code example in memory</a:t>
                      </a:r>
                    </a:p>
                  </a:txBody>
                  <a:tcPr marL="60000" marR="60000" marT="40000" marB="40000">
                    <a:solidFill>
                      <a:srgbClr val="EEF2F8"/>
                    </a:solidFill>
                  </a:tcPr>
                </a:tc>
                <a:tc>
                  <a:txBody>
                    <a:bodyPr/>
                    <a:lstStyle/>
                    <a:p>
                      <a:r>
                        <a:rPr sz="1200" b="1">
                          <a:solidFill>
                            <a:srgbClr val="14213D"/>
                          </a:solidFill>
                          <a:latin typeface="Arial"/>
                        </a:rPr>
                        <a:t>Blank scaffolds</a:t>
                      </a:r>
                    </a:p>
                  </a:txBody>
                  <a:tcPr marL="60000" marR="60000" marT="40000" marB="40000">
                    <a:solidFill>
                      <a:srgbClr val="EEF2F8"/>
                    </a:solidFill>
                  </a:tcPr>
                </a:tc>
                <a:extLst>
                  <a:ext uri="{0D108BD9-81ED-4DB2-BD59-A6C34878D82A}">
                    <a16:rowId xmlns:a16="http://schemas.microsoft.com/office/drawing/2014/main" val="10000"/>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19</a:t>
                      </a:r>
                    </a:p>
                  </a:txBody>
                  <a:tcPr marL="60000" marR="60000" marT="40000" marB="40000">
                    <a:solidFill>
                      <a:srgbClr val="FFFFFF"/>
                    </a:solidFill>
                  </a:tcPr>
                </a:tc>
                <a:extLst>
                  <a:ext uri="{0D108BD9-81ED-4DB2-BD59-A6C34878D82A}">
                    <a16:rowId xmlns:a16="http://schemas.microsoft.com/office/drawing/2014/main" val="10001"/>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2"/>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16</a:t>
                      </a:r>
                    </a:p>
                  </a:txBody>
                  <a:tcPr marL="60000" marR="60000" marT="40000" marB="40000">
                    <a:solidFill>
                      <a:srgbClr val="FFFFFF"/>
                    </a:solidFill>
                  </a:tcPr>
                </a:tc>
                <a:extLst>
                  <a:ext uri="{0D108BD9-81ED-4DB2-BD59-A6C34878D82A}">
                    <a16:rowId xmlns:a16="http://schemas.microsoft.com/office/drawing/2014/main" val="10003"/>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pic>
        <p:nvPicPr>
          <p:cNvPr id="5" name="Picture 4" descr="gap_order_seed11_v91.png"/>
          <p:cNvPicPr>
            <a:picLocks noChangeAspect="1"/>
          </p:cNvPicPr>
          <p:nvPr/>
        </p:nvPicPr>
        <p:blipFill>
          <a:blip r:embed="rId3"/>
          <a:stretch>
            <a:fillRect/>
          </a:stretch>
        </p:blipFill>
        <p:spPr>
          <a:xfrm>
            <a:off x="692978" y="4150000"/>
            <a:ext cx="5900000" cy="2467000"/>
          </a:xfrm>
          <a:prstGeom prst="rect">
            <a:avLst/>
          </a:prstGeom>
        </p:spPr>
      </p:pic>
      <p:sp>
        <p:nvSpPr>
          <p:cNvPr id="6" name="TextBox 5"/>
          <p:cNvSpPr txBox="1"/>
          <p:nvPr/>
        </p:nvSpPr>
        <p:spPr>
          <a:xfrm>
            <a:off x="7000000" y="415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whole-file examples, the model copied a whole file as a finished answer and returned the empty starter project.</a:t>
            </a:r>
          </a:p>
          <a:p>
            <a:pPr>
              <a:spcAft>
                <a:spcPts val="400"/>
              </a:spcAft>
            </a:pPr>
            <a:r>
              <a:rPr sz="1200" b="0">
                <a:solidFill>
                  <a:srgbClr val="14213D"/>
                </a:solidFill>
                <a:latin typeface="Arial"/>
              </a:rPr>
              <a:t>With fragments: zero blank sites in both orders. In the original order they stopped vue-router less reliably (35.2% vs 40.0%).</a:t>
            </a:r>
          </a:p>
          <a:p>
            <a:pPr>
              <a:spcAft>
                <a:spcPts val="400"/>
              </a:spcAft>
            </a:pPr>
            <a:r>
              <a:rPr sz="1200" b="0">
                <a:solidFill>
                  <a:srgbClr val="14213D"/>
                </a:solidFill>
                <a:latin typeface="Arial"/>
              </a:rPr>
              <a:t>Chart: fragments version minus No Memory, averaged over the last 10 tasks; above 0 = memory scores higher.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tuned on the same 101 tasks; original order: fragments 35.2% vs whole-file 40.0%</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alternating orders: about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prefix: after seed 47</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35–40%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542</TotalTime>
  <Words>2830</Words>
  <Application>Microsoft Macintosh PowerPoint</Application>
  <PresentationFormat>宽屏</PresentationFormat>
  <Paragraphs>268</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A small model trained for this tool, on two H200 GPUs</vt:lpstr>
      <vt:lpstr>What we compare, and in which task orders</vt:lpstr>
      <vt:lpstr>Text lessons helped early, then fell below the baseline</vt:lpstr>
      <vt:lpstr>One missing package turns the whole site into an error page</vt:lpstr>
      <vt:lpstr>The small model follows code, not text</vt:lpstr>
      <vt:lpstr>Two parts: a checklist and a code pool</vt:lpstr>
      <vt:lpstr>Text memory → code memory (whole-file) → code memory (fragments)</vt:lpstr>
      <vt:lpstr>Accuracy rises from 28.5% to 40.0%</vt:lpstr>
      <vt:lpstr>Only the code-pool version keeps its lead</vt:lpstr>
      <vt:lpstr>Memory, not the checklist, drives the gain</vt:lpstr>
      <vt:lpstr>Whole-file examples caused blank sites;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8</cp:revision>
  <dcterms:created xsi:type="dcterms:W3CDTF">2026-10-13T06:48:37Z</dcterms:created>
  <dcterms:modified xsi:type="dcterms:W3CDTF">2026-10-15T21:43:57Z</dcterms:modified>
</cp:coreProperties>
</file>