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59" r:id="rId5"/>
    <p:sldId id="272" r:id="rId6"/>
    <p:sldId id="269" r:id="rId7"/>
    <p:sldId id="260" r:id="rId8"/>
    <p:sldId id="273" r:id="rId9"/>
    <p:sldId id="261" r:id="rId10"/>
    <p:sldId id="262" r:id="rId11"/>
    <p:sldId id="271" r:id="rId12"/>
    <p:sldId id="263" r:id="rId13"/>
    <p:sldId id="264" r:id="rId14"/>
    <p:sldId id="265" r:id="rId15"/>
    <p:sldId id="270" r:id="rId16"/>
    <p:sldId id="266" r:id="rId17"/>
    <p:sldId id="267" r:id="rId18"/>
    <p:sldId id="268" r:id="rId1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824"/>
    <p:restoredTop sz="91302"/>
  </p:normalViewPr>
  <p:slideViewPr>
    <p:cSldViewPr snapToGrid="0" snapToObjects="1">
      <p:cViewPr varScale="1">
        <p:scale>
          <a:sx n="125" d="100"/>
          <a:sy n="125" d="100"/>
        </p:scale>
        <p:origin x="168" y="21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839251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Good morning, everyone. I am Qiaopan. My </a:t>
            </a:r>
            <a:r>
              <a:rPr lang="en-US" altLang="zh-CN" dirty="0"/>
              <a:t>topic</a:t>
            </a:r>
            <a:r>
              <a:rPr lang="zh-CN" altLang="en-US" dirty="0"/>
              <a:t> </a:t>
            </a:r>
            <a:r>
              <a:rPr dirty="0"/>
              <a:t>: can long-term memory help a small model build better websites, and should that memory be text or code?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 7B model builds 101 websites, one after another, on WebGen-Bench. A GUI agent tests each site. With long-term memory, the system writes down what went wrong after each task, and later tasks reuse it. Does the model get better with experience?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top row is the official pipeline: request, generator, testers, score. Our memory, in blue, reflects after each task and adds a checklist and code examples before the next one. Everything else stays the same.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All models run on our own cluster. The generator gets one try with no repair. Accuracy counts pass as one and partial as half. Our No Memory baseline gives 28.5 percent; the paper reports 28.4, so the pipeline is faithful.</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generator is WebGen-LM-7B: Qwen2.5-Coder-7B fine-tuned by the benchmark authors on Bolt trajectories, so it already knows Bolt's format. Everything is self-hosted on two H200 GPUs on the school cluster, with no paid API. One task takes about twelve minutes with memory.</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table shows what we compare, and in which task orders. Every run builds all 101 websites from an empty memory. Seed 47 is still running.</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Our first attempt, text memory, used text lessons. They helped on the first 30 tasks, but by the end text memory fell below No Memory, because vague advice filled the prompt and the small model could not act on it.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Same task, a solar dashboard. Without memory, the model imports a chart library that is not installed, so the page shows only an error and every test fails. This is the most common way the 7B model scores zero. With memory, the prompt carried a short working code example, and every test passed.</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led to our key finding. Many sites were blank because they used a package that was not installed. A text tip fixed one in three. A ten-line code example fixed seven in nine. The small model follows code, not text.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 whole-file code memory has two parts. A checklist that splits the request, and a code pool: when an error appears in two tasks, we take a short working fragment from our own earlier sites, checked by a compiler.</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Three families. Text memory: lessons as text, 30.9 percent. Code memory with whole files: 40 percent. The final version uses only fragments: 35.2 percent in the original order, lower, but it removed the blank sites when the order changed, so we keep it.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Without memory: 28.5 percent. With the final code memory: 35.2 percent, plus 7.1 points, interval excludes zero. An earlier whole-file version reached 40 here, but its gain fell to about 4.5 points when the task order changed.</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learning curve. Text memory, orange, falls below No Memory. Both code memories, blue and green, stay above it to the end.</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ablation adds one part at a time. The checklist alone adds 3.4 points, and its interval includes zero. Adding memory on top adds 8.1 points, and its interval excludes zero. So most of the gain comes from memory.</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In new orders, whole files were copied as finished answers, giving blank sites; fragments removed them. In the original order, fragments stopped vue-router less well. Neither form wins in every order.</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Some limits: one run per order, gains in features not look, one model and tool, method developed on this benchmark. Next: seed 47, the alternating order and the fixed-code control.</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our main references.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For a small model, memory should give code, not advice. Accuracy rises from 28.5 to 35.2 percent, and stays positive in all three task orders so far. Thank you.</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BFBF8"/>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214090"/>
            <a:ext cx="10566400" cy="438150"/>
          </a:xfrm>
          <a:prstGeom prst="rect">
            <a:avLst/>
          </a:prstGeom>
          <a:noFill/>
          <a:ln/>
        </p:spPr>
        <p:txBody>
          <a:bodyPr wrap="square" lIns="0" tIns="0" rIns="0" bIns="0" rtlCol="0" anchor="t"/>
          <a:lstStyle>
            <a:lvl1pPr marL="0" indent="0" algn="l">
              <a:lnSpc>
                <a:spcPct val="115000"/>
              </a:lnSpc>
              <a:buNone/>
              <a:defRPr lang="en-US" sz="3000" dirty="0">
                <a:solidFill>
                  <a:srgbClr val="14213D"/>
                </a:solidFill>
                <a:latin typeface="Georgia" pitchFamily="34" charset="0"/>
                <a:ea typeface="Georgia" pitchFamily="34" charset="-122"/>
                <a:cs typeface="Georgia" pitchFamily="34" charset="-120"/>
              </a:defRPr>
            </a:lvl1pPr>
          </a:lstStyle>
          <a:p>
            <a:pPr marL="0" indent="0" algn="l">
              <a:lnSpc>
                <a:spcPct val="115000"/>
              </a:lnSpc>
              <a:buNone/>
            </a:pPr>
            <a:endParaRPr lang="en-US" sz="3000" dirty="0"/>
          </a:p>
        </p:txBody>
      </p:sp>
      <p:sp>
        <p:nvSpPr>
          <p:cNvPr id="3" name="Text Placeholder 2"/>
          <p:cNvSpPr>
            <a:spLocks noGrp="1"/>
          </p:cNvSpPr>
          <p:nvPr>
            <p:ph type="body" idx="101"/>
          </p:nvPr>
        </p:nvSpPr>
        <p:spPr>
          <a:xfrm>
            <a:off x="812800" y="1957040"/>
            <a:ext cx="10566400" cy="4088160"/>
          </a:xfrm>
          <a:prstGeom prst="rect">
            <a:avLst/>
          </a:prstGeom>
          <a:noFill/>
          <a:ln/>
        </p:spPr>
        <p:txBody>
          <a:bodyPr wrap="square" lIns="0" tIns="0" rIns="0" bIns="0" rtlCol="0" anchor="t"/>
          <a:lstStyle>
            <a:lvl1pPr marL="0" indent="0" algn="l">
              <a:lnSpc>
                <a:spcPct val="140000"/>
              </a:lnSpc>
              <a:buNone/>
              <a:defRPr lang="en-US" sz="1600" dirty="0">
                <a:solidFill>
                  <a:srgbClr val="14213D"/>
                </a:solidFill>
                <a:latin typeface="Arial" pitchFamily="34" charset="0"/>
                <a:ea typeface="Arial" pitchFamily="34" charset="-122"/>
                <a:cs typeface="Arial"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BFBF8"/>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214090"/>
            <a:ext cx="10566400" cy="438150"/>
          </a:xfrm>
          <a:prstGeom prst="rect">
            <a:avLst/>
          </a:prstGeom>
          <a:noFill/>
          <a:ln/>
        </p:spPr>
        <p:txBody>
          <a:bodyPr wrap="square" lIns="0" tIns="0" rIns="0" bIns="0" rtlCol="0" anchor="t"/>
          <a:lstStyle>
            <a:lvl1pPr marL="0" indent="0" algn="l">
              <a:lnSpc>
                <a:spcPct val="115000"/>
              </a:lnSpc>
              <a:buNone/>
              <a:defRPr lang="en-US" sz="3000" dirty="0">
                <a:solidFill>
                  <a:srgbClr val="14213D"/>
                </a:solidFill>
                <a:latin typeface="Georgia" pitchFamily="34" charset="0"/>
                <a:ea typeface="Georgia" pitchFamily="34" charset="-122"/>
                <a:cs typeface="Georgia" pitchFamily="34" charset="-120"/>
              </a:defRPr>
            </a:lvl1pPr>
          </a:lstStyle>
          <a:p>
            <a:pPr marL="0" indent="0" algn="l">
              <a:lnSpc>
                <a:spcPct val="115000"/>
              </a:lnSpc>
              <a:buNone/>
            </a:pPr>
            <a:endParaRPr lang="en-US" sz="3000" dirty="0"/>
          </a:p>
        </p:txBody>
      </p:sp>
      <p:sp>
        <p:nvSpPr>
          <p:cNvPr id="3" name="Text Placeholder 2"/>
          <p:cNvSpPr>
            <a:spLocks noGrp="1"/>
          </p:cNvSpPr>
          <p:nvPr>
            <p:ph type="body" idx="101"/>
          </p:nvPr>
        </p:nvSpPr>
        <p:spPr>
          <a:xfrm>
            <a:off x="812800" y="1957040"/>
            <a:ext cx="10566400" cy="4088160"/>
          </a:xfrm>
          <a:prstGeom prst="rect">
            <a:avLst/>
          </a:prstGeom>
          <a:noFill/>
          <a:ln/>
        </p:spPr>
        <p:txBody>
          <a:bodyPr wrap="square" lIns="0" tIns="0" rIns="0" bIns="0" rtlCol="0" anchor="t"/>
          <a:lstStyle>
            <a:lvl1pPr marL="0" indent="0" algn="l">
              <a:lnSpc>
                <a:spcPct val="140000"/>
              </a:lnSpc>
              <a:buNone/>
              <a:defRPr lang="en-US" sz="1600" dirty="0">
                <a:solidFill>
                  <a:srgbClr val="14213D"/>
                </a:solidFill>
                <a:latin typeface="Arial" pitchFamily="34" charset="0"/>
                <a:ea typeface="Arial" pitchFamily="34" charset="-122"/>
                <a:cs typeface="Arial"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a:effectLst/>
      </p:bgPr>
    </p:bg>
    <p:spTree>
      <p:nvGrpSpPr>
        <p:cNvPr id="1" name=""/>
        <p:cNvGrpSpPr/>
        <p:nvPr/>
      </p:nvGrpSpPr>
      <p:grpSpPr>
        <a:xfrm>
          <a:off x="0" y="0"/>
          <a:ext cx="0" cy="0"/>
          <a:chOff x="0" y="0"/>
          <a:chExt cx="0" cy="0"/>
        </a:xfrm>
      </p:grpSpPr>
      <p:sp>
        <p:nvSpPr>
          <p:cNvPr id="2" name="Text 0"/>
          <p:cNvSpPr/>
          <p:nvPr/>
        </p:nvSpPr>
        <p:spPr>
          <a:xfrm>
            <a:off x="812800" y="2070150"/>
            <a:ext cx="10883392"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8FB8EE"/>
                </a:solidFill>
                <a:latin typeface="Arial" pitchFamily="34" charset="0"/>
                <a:ea typeface="Arial" pitchFamily="34" charset="-122"/>
                <a:cs typeface="Arial" pitchFamily="34" charset="-120"/>
              </a:rPr>
              <a:t>Group meeting · WebGen-Bench</a:t>
            </a:r>
            <a:endParaRPr lang="en-US" sz="1400" dirty="0"/>
          </a:p>
        </p:txBody>
      </p:sp>
      <p:sp>
        <p:nvSpPr>
          <p:cNvPr id="3" name="Text 1"/>
          <p:cNvSpPr>
            <a:spLocks noGrp="1"/>
          </p:cNvSpPr>
          <p:nvPr>
            <p:ph type="title"/>
          </p:nvPr>
        </p:nvSpPr>
        <p:spPr>
          <a:xfrm>
            <a:off x="812800" y="2573040"/>
            <a:ext cx="10883392" cy="1198860"/>
          </a:xfrm>
          <a:prstGeom prst="rect">
            <a:avLst/>
          </a:prstGeom>
          <a:noFill/>
          <a:ln/>
        </p:spPr>
        <p:txBody>
          <a:bodyPr wrap="square" lIns="0" tIns="0" rIns="0" bIns="0" rtlCol="0" anchor="t">
            <a:normAutofit/>
          </a:bodyPr>
          <a:lstStyle/>
          <a:p>
            <a:pPr marL="0" indent="0" algn="l">
              <a:lnSpc>
                <a:spcPts val="4620"/>
              </a:lnSpc>
              <a:buNone/>
            </a:pPr>
            <a:r>
              <a:rPr lang="en-US" sz="4200" b="1" i="0" dirty="0">
                <a:solidFill>
                  <a:srgbClr val="F4F1EA"/>
                </a:solidFill>
                <a:latin typeface="Georgia" pitchFamily="18" charset="0"/>
                <a:ea typeface="Georgia" pitchFamily="18" charset="-122"/>
                <a:cs typeface="Georgia" pitchFamily="18" charset="-120"/>
              </a:rPr>
              <a:t>Can long-term memory help a small model build better websites?</a:t>
            </a:r>
            <a:endParaRPr lang="en-US" sz="4200" dirty="0"/>
          </a:p>
        </p:txBody>
      </p:sp>
      <p:sp>
        <p:nvSpPr>
          <p:cNvPr id="4" name="Text 2"/>
          <p:cNvSpPr/>
          <p:nvPr/>
        </p:nvSpPr>
        <p:spPr>
          <a:xfrm>
            <a:off x="812800" y="4000500"/>
            <a:ext cx="10883392"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C9D3E3"/>
                </a:solidFill>
                <a:latin typeface="Arial" pitchFamily="34" charset="0"/>
                <a:ea typeface="Arial" pitchFamily="34" charset="-122"/>
                <a:cs typeface="Arial" pitchFamily="34" charset="-120"/>
              </a:rPr>
              <a:t>Text lessons vs code examples</a:t>
            </a:r>
            <a:endParaRPr lang="en-US" sz="1600" dirty="0"/>
          </a:p>
        </p:txBody>
      </p:sp>
      <p:sp>
        <p:nvSpPr>
          <p:cNvPr id="5" name="Text 3"/>
          <p:cNvSpPr/>
          <p:nvPr/>
        </p:nvSpPr>
        <p:spPr>
          <a:xfrm>
            <a:off x="812800" y="4538960"/>
            <a:ext cx="10883392"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C9D3E3"/>
                </a:solidFill>
                <a:latin typeface="Arial" pitchFamily="34" charset="0"/>
                <a:ea typeface="Arial" pitchFamily="34" charset="-122"/>
                <a:cs typeface="Arial" pitchFamily="34" charset="-120"/>
              </a:rPr>
              <a:t>Qiaopan Ma · Supervisor: Qian Liu · 16 October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2A78D6"/>
                </a:solidFill>
                <a:latin typeface="Arial" pitchFamily="34" charset="0"/>
                <a:ea typeface="Arial" pitchFamily="34" charset="-122"/>
                <a:cs typeface="Arial" pitchFamily="34" charset="-120"/>
              </a:rPr>
              <a:t>The task and the question</a:t>
            </a:r>
            <a:endParaRPr lang="en-US" sz="1400" dirty="0"/>
          </a:p>
        </p:txBody>
      </p:sp>
      <p:sp>
        <p:nvSpPr>
          <p:cNvPr id="3" name="Text 1"/>
          <p:cNvSpPr>
            <a:spLocks noGrp="1"/>
          </p:cNvSpPr>
          <p:nvPr>
            <p:ph type="title"/>
          </p:nvPr>
        </p:nvSpPr>
        <p:spPr>
          <a:xfrm>
            <a:off x="812800" y="1214090"/>
            <a:ext cx="10883392" cy="463550"/>
          </a:xfrm>
          <a:prstGeom prst="rect">
            <a:avLst/>
          </a:prstGeom>
          <a:noFill/>
          <a:ln/>
        </p:spPr>
        <p:txBody>
          <a:bodyPr wrap="square" lIns="0" tIns="0" rIns="0" bIns="0" rtlCol="0" anchor="t">
            <a:normAutofit/>
          </a:bodyPr>
          <a:lstStyle/>
          <a:p>
            <a:pPr marL="0" indent="0" algn="l">
              <a:lnSpc>
                <a:spcPts val="3450"/>
              </a:lnSpc>
              <a:buNone/>
            </a:pPr>
            <a:r>
              <a:rPr lang="en-US" sz="3000" b="1" i="0" dirty="0">
                <a:solidFill>
                  <a:srgbClr val="14213D"/>
                </a:solidFill>
                <a:latin typeface="Georgia" pitchFamily="18" charset="0"/>
                <a:ea typeface="Georgia" pitchFamily="18" charset="-122"/>
                <a:cs typeface="Georgia" pitchFamily="18" charset="-120"/>
              </a:rPr>
              <a:t>A 7B model builds 101 websites, one after another</a:t>
            </a:r>
            <a:endParaRPr lang="en-US" sz="3000" dirty="0"/>
          </a:p>
        </p:txBody>
      </p:sp>
      <p:sp>
        <p:nvSpPr>
          <p:cNvPr id="4" name="Shape 2"/>
          <p:cNvSpPr/>
          <p:nvPr/>
        </p:nvSpPr>
        <p:spPr>
          <a:xfrm>
            <a:off x="812800" y="1906240"/>
            <a:ext cx="5181600" cy="1741140"/>
          </a:xfrm>
          <a:prstGeom prst="roundRect">
            <a:avLst>
              <a:gd name="adj" fmla="val 5835"/>
            </a:avLst>
          </a:prstGeom>
          <a:solidFill>
            <a:srgbClr val="EEF3FA"/>
          </a:solidFill>
          <a:ln/>
        </p:spPr>
        <p:txBody>
          <a:bodyPr/>
          <a:lstStyle/>
          <a:p>
            <a:endParaRPr lang="zh-CN" altLang="en-US"/>
          </a:p>
        </p:txBody>
      </p:sp>
      <p:sp>
        <p:nvSpPr>
          <p:cNvPr id="5" name="Text 3"/>
          <p:cNvSpPr/>
          <p:nvPr/>
        </p:nvSpPr>
        <p:spPr>
          <a:xfrm>
            <a:off x="1066800" y="2160240"/>
            <a:ext cx="4813808"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4213D"/>
                </a:solidFill>
                <a:latin typeface="Arial" pitchFamily="34" charset="0"/>
                <a:ea typeface="Arial" pitchFamily="34" charset="-122"/>
                <a:cs typeface="Arial" pitchFamily="34" charset="-120"/>
              </a:rPr>
              <a:t>Benchmark</a:t>
            </a:r>
            <a:endParaRPr lang="en-US" sz="1800" dirty="0"/>
          </a:p>
        </p:txBody>
      </p:sp>
      <p:sp>
        <p:nvSpPr>
          <p:cNvPr id="6" name="Text 4"/>
          <p:cNvSpPr/>
          <p:nvPr/>
        </p:nvSpPr>
        <p:spPr>
          <a:xfrm>
            <a:off x="1066800" y="2536130"/>
            <a:ext cx="4813808" cy="882650"/>
          </a:xfrm>
          <a:prstGeom prst="rect">
            <a:avLst/>
          </a:prstGeom>
          <a:noFill/>
          <a:ln/>
        </p:spPr>
        <p:txBody>
          <a:bodyPr wrap="square" lIns="0" tIns="0" rIns="0" bIns="0" rtlCol="0" anchor="t">
            <a:normAutofit/>
          </a:bodyPr>
          <a:lstStyle/>
          <a:p>
            <a:pPr marL="0" indent="0" algn="l">
              <a:lnSpc>
                <a:spcPts val="2250"/>
              </a:lnSpc>
              <a:buNone/>
            </a:pPr>
            <a:r>
              <a:rPr lang="en-US" sz="1500" dirty="0">
                <a:solidFill>
                  <a:srgbClr val="4A5568"/>
                </a:solidFill>
                <a:latin typeface="Arial" pitchFamily="34" charset="0"/>
                <a:ea typeface="Arial" pitchFamily="34" charset="-122"/>
                <a:cs typeface="Arial" pitchFamily="34" charset="-120"/>
              </a:rPr>
              <a:t>WebGen-Bench: 101 website requests from 20 areas. A GUI agent clicks through each site and checks the features.</a:t>
            </a:r>
            <a:endParaRPr lang="en-US" sz="1500" dirty="0"/>
          </a:p>
        </p:txBody>
      </p:sp>
      <p:sp>
        <p:nvSpPr>
          <p:cNvPr id="7" name="Shape 5"/>
          <p:cNvSpPr/>
          <p:nvPr/>
        </p:nvSpPr>
        <p:spPr>
          <a:xfrm>
            <a:off x="6197600" y="1906240"/>
            <a:ext cx="5181600" cy="1741140"/>
          </a:xfrm>
          <a:prstGeom prst="roundRect">
            <a:avLst>
              <a:gd name="adj" fmla="val 5835"/>
            </a:avLst>
          </a:prstGeom>
          <a:solidFill>
            <a:srgbClr val="EEF3FA"/>
          </a:solidFill>
          <a:ln/>
        </p:spPr>
        <p:txBody>
          <a:bodyPr/>
          <a:lstStyle/>
          <a:p>
            <a:endParaRPr lang="zh-CN" altLang="en-US"/>
          </a:p>
        </p:txBody>
      </p:sp>
      <p:sp>
        <p:nvSpPr>
          <p:cNvPr id="8" name="Text 6"/>
          <p:cNvSpPr/>
          <p:nvPr/>
        </p:nvSpPr>
        <p:spPr>
          <a:xfrm>
            <a:off x="6451600" y="2160240"/>
            <a:ext cx="4813808"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4213D"/>
                </a:solidFill>
                <a:latin typeface="Arial" pitchFamily="34" charset="0"/>
                <a:ea typeface="Arial" pitchFamily="34" charset="-122"/>
                <a:cs typeface="Arial" pitchFamily="34" charset="-120"/>
              </a:rPr>
              <a:t>Long-term memory</a:t>
            </a:r>
            <a:endParaRPr lang="en-US" sz="1800" dirty="0"/>
          </a:p>
        </p:txBody>
      </p:sp>
      <p:sp>
        <p:nvSpPr>
          <p:cNvPr id="9" name="Text 7"/>
          <p:cNvSpPr/>
          <p:nvPr/>
        </p:nvSpPr>
        <p:spPr>
          <a:xfrm>
            <a:off x="6451600" y="2536130"/>
            <a:ext cx="4813808" cy="596900"/>
          </a:xfrm>
          <a:prstGeom prst="rect">
            <a:avLst/>
          </a:prstGeom>
          <a:noFill/>
          <a:ln/>
        </p:spPr>
        <p:txBody>
          <a:bodyPr wrap="square" lIns="0" tIns="0" rIns="0" bIns="0" rtlCol="0" anchor="t">
            <a:normAutofit/>
          </a:bodyPr>
          <a:lstStyle/>
          <a:p>
            <a:pPr marL="0" indent="0" algn="l">
              <a:lnSpc>
                <a:spcPts val="2250"/>
              </a:lnSpc>
              <a:buNone/>
            </a:pPr>
            <a:r>
              <a:rPr lang="en-US" sz="1500" dirty="0">
                <a:solidFill>
                  <a:srgbClr val="4A5568"/>
                </a:solidFill>
                <a:latin typeface="Arial" pitchFamily="34" charset="0"/>
                <a:ea typeface="Arial" pitchFamily="34" charset="-122"/>
                <a:cs typeface="Arial" pitchFamily="34" charset="-120"/>
              </a:rPr>
              <a:t>After each task, the system writes down what went wrong. Later tasks can reuse it.</a:t>
            </a:r>
            <a:endParaRPr lang="en-US" sz="1500" dirty="0"/>
          </a:p>
        </p:txBody>
      </p:sp>
      <p:sp>
        <p:nvSpPr>
          <p:cNvPr id="10" name="Text 8"/>
          <p:cNvSpPr/>
          <p:nvPr/>
        </p:nvSpPr>
        <p:spPr>
          <a:xfrm>
            <a:off x="812800" y="3901380"/>
            <a:ext cx="10883392" cy="327620"/>
          </a:xfrm>
          <a:prstGeom prst="rect">
            <a:avLst/>
          </a:prstGeom>
          <a:noFill/>
          <a:ln/>
        </p:spPr>
        <p:txBody>
          <a:bodyPr wrap="square" lIns="0" tIns="0" rIns="0" bIns="0" rtlCol="0" anchor="t">
            <a:normAutofit/>
          </a:bodyPr>
          <a:lstStyle/>
          <a:p>
            <a:pPr marL="0" indent="0" algn="l">
              <a:lnSpc>
                <a:spcPts val="2380"/>
              </a:lnSpc>
              <a:buNone/>
            </a:pPr>
            <a:r>
              <a:rPr lang="en-US" sz="1700" b="1" dirty="0">
                <a:solidFill>
                  <a:srgbClr val="14213D"/>
                </a:solidFill>
                <a:latin typeface="Arial" pitchFamily="34" charset="0"/>
                <a:ea typeface="Arial" pitchFamily="34" charset="-122"/>
                <a:cs typeface="Arial" pitchFamily="34" charset="-120"/>
              </a:rPr>
              <a:t>Question: does the model get better as it gains experience?</a:t>
            </a:r>
            <a:endParaRPr lang="en-US" sz="1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2A78D6"/>
                </a:solidFill>
                <a:latin typeface="Arial" pitchFamily="34" charset="0"/>
                <a:ea typeface="Arial" pitchFamily="34" charset="-122"/>
                <a:cs typeface="Arial" pitchFamily="34" charset="-120"/>
              </a:rPr>
              <a:t>The big picture</a:t>
            </a:r>
            <a:endParaRPr lang="en-US" sz="1400" dirty="0"/>
          </a:p>
        </p:txBody>
      </p:sp>
      <p:sp>
        <p:nvSpPr>
          <p:cNvPr id="3" name="Text 1"/>
          <p:cNvSpPr>
            <a:spLocks noGrp="1"/>
          </p:cNvSpPr>
          <p:nvPr>
            <p:ph type="title"/>
          </p:nvPr>
        </p:nvSpPr>
        <p:spPr>
          <a:xfrm>
            <a:off x="812800" y="1061690"/>
            <a:ext cx="10883392" cy="434330"/>
          </a:xfrm>
          <a:prstGeom prst="rect">
            <a:avLst/>
          </a:prstGeom>
          <a:noFill/>
          <a:ln/>
        </p:spPr>
        <p:txBody>
          <a:bodyPr wrap="square" lIns="0" tIns="0" rIns="0" bIns="0" rtlCol="0" anchor="t">
            <a:normAutofit/>
          </a:bodyPr>
          <a:lstStyle/>
          <a:p>
            <a:pPr marL="0" indent="0" algn="l">
              <a:lnSpc>
                <a:spcPts val="3220"/>
              </a:lnSpc>
              <a:buNone/>
            </a:pPr>
            <a:r>
              <a:rPr lang="en-US" sz="2800" b="1" i="0" dirty="0">
                <a:solidFill>
                  <a:srgbClr val="14213D"/>
                </a:solidFill>
                <a:latin typeface="Georgia" pitchFamily="18" charset="0"/>
                <a:ea typeface="Georgia" pitchFamily="18" charset="-122"/>
                <a:cs typeface="Georgia" pitchFamily="18" charset="-120"/>
              </a:rPr>
              <a:t>The official pipeline, and what Long Memory adds</a:t>
            </a:r>
            <a:endParaRPr lang="en-US" sz="2800" dirty="0"/>
          </a:p>
        </p:txBody>
      </p:sp>
      <p:sp>
        <p:nvSpPr>
          <p:cNvPr id="4" name="Text 2"/>
          <p:cNvSpPr/>
          <p:nvPr/>
        </p:nvSpPr>
        <p:spPr>
          <a:xfrm>
            <a:off x="812800" y="1727200"/>
            <a:ext cx="5886450" cy="25653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6A7179"/>
                </a:solidFill>
                <a:latin typeface="Arial" pitchFamily="34" charset="0"/>
                <a:ea typeface="Arial" pitchFamily="34" charset="-122"/>
                <a:cs typeface="Arial" pitchFamily="34" charset="-120"/>
              </a:rPr>
              <a:t>WebGen-Bench baseline (No Memory)</a:t>
            </a:r>
            <a:endParaRPr lang="en-US" sz="1300" dirty="0"/>
          </a:p>
        </p:txBody>
      </p:sp>
      <p:sp>
        <p:nvSpPr>
          <p:cNvPr id="5" name="Shape 3"/>
          <p:cNvSpPr/>
          <p:nvPr/>
        </p:nvSpPr>
        <p:spPr>
          <a:xfrm>
            <a:off x="819150" y="2101850"/>
            <a:ext cx="2019300" cy="939800"/>
          </a:xfrm>
          <a:prstGeom prst="roundRect">
            <a:avLst>
              <a:gd name="adj" fmla="val 10135"/>
            </a:avLst>
          </a:prstGeom>
          <a:solidFill>
            <a:srgbClr val="FFFFFF"/>
          </a:solidFill>
          <a:ln w="12700">
            <a:solidFill>
              <a:srgbClr val="A9B6C8"/>
            </a:solidFill>
            <a:prstDash val="solid"/>
          </a:ln>
        </p:spPr>
        <p:txBody>
          <a:bodyPr/>
          <a:lstStyle/>
          <a:p>
            <a:endParaRPr lang="zh-CN" altLang="en-US"/>
          </a:p>
        </p:txBody>
      </p:sp>
      <p:sp>
        <p:nvSpPr>
          <p:cNvPr id="6" name="Text 4"/>
          <p:cNvSpPr/>
          <p:nvPr/>
        </p:nvSpPr>
        <p:spPr>
          <a:xfrm>
            <a:off x="952500" y="2340620"/>
            <a:ext cx="1805178"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4213D"/>
                </a:solidFill>
                <a:latin typeface="Arial" pitchFamily="34" charset="0"/>
                <a:ea typeface="Arial" pitchFamily="34" charset="-122"/>
                <a:cs typeface="Arial" pitchFamily="34" charset="-120"/>
              </a:rPr>
              <a:t>Website request</a:t>
            </a:r>
            <a:endParaRPr lang="en-US" sz="1400" dirty="0"/>
          </a:p>
        </p:txBody>
      </p:sp>
      <p:sp>
        <p:nvSpPr>
          <p:cNvPr id="7" name="Text 5"/>
          <p:cNvSpPr/>
          <p:nvPr/>
        </p:nvSpPr>
        <p:spPr>
          <a:xfrm>
            <a:off x="952500" y="2589510"/>
            <a:ext cx="1805178"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Arial" pitchFamily="34" charset="0"/>
                <a:ea typeface="Arial" pitchFamily="34" charset="-122"/>
                <a:cs typeface="Arial" pitchFamily="34" charset="-120"/>
              </a:rPr>
              <a:t>text from the user</a:t>
            </a:r>
            <a:endParaRPr lang="en-US" sz="1200" dirty="0"/>
          </a:p>
        </p:txBody>
      </p:sp>
      <p:sp>
        <p:nvSpPr>
          <p:cNvPr id="8" name="Shape 6"/>
          <p:cNvSpPr/>
          <p:nvPr/>
        </p:nvSpPr>
        <p:spPr>
          <a:xfrm>
            <a:off x="3486150" y="2101850"/>
            <a:ext cx="2019300" cy="939800"/>
          </a:xfrm>
          <a:prstGeom prst="roundRect">
            <a:avLst>
              <a:gd name="adj" fmla="val 10135"/>
            </a:avLst>
          </a:prstGeom>
          <a:solidFill>
            <a:srgbClr val="FFFFFF"/>
          </a:solidFill>
          <a:ln w="12700">
            <a:solidFill>
              <a:srgbClr val="A9B6C8"/>
            </a:solidFill>
            <a:prstDash val="solid"/>
          </a:ln>
        </p:spPr>
        <p:txBody>
          <a:bodyPr/>
          <a:lstStyle/>
          <a:p>
            <a:endParaRPr lang="zh-CN" altLang="en-US"/>
          </a:p>
        </p:txBody>
      </p:sp>
      <p:sp>
        <p:nvSpPr>
          <p:cNvPr id="9" name="Text 7"/>
          <p:cNvSpPr/>
          <p:nvPr/>
        </p:nvSpPr>
        <p:spPr>
          <a:xfrm>
            <a:off x="3619500" y="2358380"/>
            <a:ext cx="1805178"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4213D"/>
                </a:solidFill>
                <a:latin typeface="Arial" pitchFamily="34" charset="0"/>
                <a:ea typeface="Arial" pitchFamily="34" charset="-122"/>
                <a:cs typeface="Arial" pitchFamily="34" charset="-120"/>
              </a:rPr>
              <a:t>Generator</a:t>
            </a:r>
            <a:endParaRPr lang="en-US" sz="1400" dirty="0"/>
          </a:p>
        </p:txBody>
      </p:sp>
      <p:sp>
        <p:nvSpPr>
          <p:cNvPr id="10" name="Text 8"/>
          <p:cNvSpPr/>
          <p:nvPr/>
        </p:nvSpPr>
        <p:spPr>
          <a:xfrm>
            <a:off x="3619500" y="2607270"/>
            <a:ext cx="1805178" cy="203200"/>
          </a:xfrm>
          <a:prstGeom prst="rect">
            <a:avLst/>
          </a:prstGeom>
          <a:noFill/>
          <a:ln/>
        </p:spPr>
        <p:txBody>
          <a:bodyPr wrap="square" lIns="0" tIns="0" rIns="0" bIns="0" rtlCol="0" anchor="t">
            <a:normAutofit/>
          </a:bodyPr>
          <a:lstStyle/>
          <a:p>
            <a:pPr marL="0" indent="0" algn="l">
              <a:lnSpc>
                <a:spcPts val="1400"/>
              </a:lnSpc>
              <a:buNone/>
            </a:pPr>
            <a:r>
              <a:rPr lang="en-US" sz="1000" dirty="0">
                <a:solidFill>
                  <a:srgbClr val="4A5568"/>
                </a:solidFill>
                <a:latin typeface="Arial" pitchFamily="34" charset="0"/>
                <a:ea typeface="Arial" pitchFamily="34" charset="-122"/>
                <a:cs typeface="Arial" pitchFamily="34" charset="-120"/>
              </a:rPr>
              <a:t>Bolt agent + WebGen-LM-7B</a:t>
            </a:r>
            <a:endParaRPr lang="en-US" sz="1000" dirty="0"/>
          </a:p>
        </p:txBody>
      </p:sp>
      <p:sp>
        <p:nvSpPr>
          <p:cNvPr id="11" name="Shape 9"/>
          <p:cNvSpPr/>
          <p:nvPr/>
        </p:nvSpPr>
        <p:spPr>
          <a:xfrm>
            <a:off x="6153150" y="2101850"/>
            <a:ext cx="2019300" cy="939800"/>
          </a:xfrm>
          <a:prstGeom prst="roundRect">
            <a:avLst>
              <a:gd name="adj" fmla="val 10135"/>
            </a:avLst>
          </a:prstGeom>
          <a:solidFill>
            <a:srgbClr val="FFFFFF"/>
          </a:solidFill>
          <a:ln w="12700">
            <a:solidFill>
              <a:srgbClr val="A9B6C8"/>
            </a:solidFill>
            <a:prstDash val="solid"/>
          </a:ln>
        </p:spPr>
        <p:txBody>
          <a:bodyPr/>
          <a:lstStyle/>
          <a:p>
            <a:endParaRPr lang="zh-CN" altLang="en-US"/>
          </a:p>
        </p:txBody>
      </p:sp>
      <p:sp>
        <p:nvSpPr>
          <p:cNvPr id="12" name="Text 10"/>
          <p:cNvSpPr/>
          <p:nvPr/>
        </p:nvSpPr>
        <p:spPr>
          <a:xfrm>
            <a:off x="6286500" y="2269480"/>
            <a:ext cx="1805178"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4213D"/>
                </a:solidFill>
                <a:latin typeface="Arial" pitchFamily="34" charset="0"/>
                <a:ea typeface="Arial" pitchFamily="34" charset="-122"/>
                <a:cs typeface="Arial" pitchFamily="34" charset="-120"/>
              </a:rPr>
              <a:t>Testers</a:t>
            </a:r>
            <a:endParaRPr lang="en-US" sz="1400" dirty="0"/>
          </a:p>
        </p:txBody>
      </p:sp>
      <p:sp>
        <p:nvSpPr>
          <p:cNvPr id="13" name="Text 11"/>
          <p:cNvSpPr/>
          <p:nvPr/>
        </p:nvSpPr>
        <p:spPr>
          <a:xfrm>
            <a:off x="6286500" y="2518370"/>
            <a:ext cx="1805178" cy="381000"/>
          </a:xfrm>
          <a:prstGeom prst="rect">
            <a:avLst/>
          </a:prstGeom>
          <a:noFill/>
          <a:ln/>
        </p:spPr>
        <p:txBody>
          <a:bodyPr wrap="square" lIns="0" tIns="0" rIns="0" bIns="0" rtlCol="0" anchor="t">
            <a:normAutofit/>
          </a:bodyPr>
          <a:lstStyle/>
          <a:p>
            <a:pPr marL="0" indent="0" algn="l">
              <a:lnSpc>
                <a:spcPts val="1400"/>
              </a:lnSpc>
              <a:buNone/>
            </a:pPr>
            <a:r>
              <a:rPr lang="en-US" sz="1000" dirty="0">
                <a:solidFill>
                  <a:srgbClr val="4A5568"/>
                </a:solidFill>
                <a:latin typeface="Arial" pitchFamily="34" charset="0"/>
                <a:ea typeface="Arial" pitchFamily="34" charset="-122"/>
                <a:cs typeface="Arial" pitchFamily="34" charset="-120"/>
              </a:rPr>
              <a:t>WebVoyager + Qwen2.5-VL-32B; screenshot grader</a:t>
            </a:r>
            <a:endParaRPr lang="en-US" sz="1000" dirty="0"/>
          </a:p>
        </p:txBody>
      </p:sp>
      <p:sp>
        <p:nvSpPr>
          <p:cNvPr id="14" name="Shape 12"/>
          <p:cNvSpPr/>
          <p:nvPr/>
        </p:nvSpPr>
        <p:spPr>
          <a:xfrm>
            <a:off x="8820150" y="2101850"/>
            <a:ext cx="1739900" cy="939800"/>
          </a:xfrm>
          <a:prstGeom prst="roundRect">
            <a:avLst>
              <a:gd name="adj" fmla="val 10135"/>
            </a:avLst>
          </a:prstGeom>
          <a:solidFill>
            <a:srgbClr val="FFFFFF"/>
          </a:solidFill>
          <a:ln w="12700">
            <a:solidFill>
              <a:srgbClr val="A9B6C8"/>
            </a:solidFill>
            <a:prstDash val="solid"/>
          </a:ln>
        </p:spPr>
        <p:txBody>
          <a:bodyPr/>
          <a:lstStyle/>
          <a:p>
            <a:endParaRPr lang="zh-CN" altLang="en-US"/>
          </a:p>
        </p:txBody>
      </p:sp>
      <p:sp>
        <p:nvSpPr>
          <p:cNvPr id="15" name="Text 13"/>
          <p:cNvSpPr/>
          <p:nvPr/>
        </p:nvSpPr>
        <p:spPr>
          <a:xfrm>
            <a:off x="8953500" y="2340620"/>
            <a:ext cx="1524000"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4213D"/>
                </a:solidFill>
                <a:latin typeface="Arial" pitchFamily="34" charset="0"/>
                <a:ea typeface="Arial" pitchFamily="34" charset="-122"/>
                <a:cs typeface="Arial" pitchFamily="34" charset="-120"/>
              </a:rPr>
              <a:t>Score</a:t>
            </a:r>
            <a:endParaRPr lang="en-US" sz="1400" dirty="0"/>
          </a:p>
        </p:txBody>
      </p:sp>
      <p:sp>
        <p:nvSpPr>
          <p:cNvPr id="16" name="Text 14"/>
          <p:cNvSpPr/>
          <p:nvPr/>
        </p:nvSpPr>
        <p:spPr>
          <a:xfrm>
            <a:off x="8953500" y="2589510"/>
            <a:ext cx="15240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Arial" pitchFamily="34" charset="0"/>
                <a:ea typeface="Arial" pitchFamily="34" charset="-122"/>
                <a:cs typeface="Arial" pitchFamily="34" charset="-120"/>
              </a:rPr>
              <a:t>pass / partial / fail</a:t>
            </a:r>
            <a:endParaRPr lang="en-US" sz="1200" dirty="0"/>
          </a:p>
        </p:txBody>
      </p:sp>
      <p:pic>
        <p:nvPicPr>
          <p:cNvPr id="17" name="Image 0" descr="connector"/>
          <p:cNvPicPr>
            <a:picLocks noChangeAspect="1"/>
          </p:cNvPicPr>
          <p:nvPr/>
        </p:nvPicPr>
        <p:blipFill>
          <a:blip r:embed="rId3"/>
          <a:srcRect/>
          <a:stretch/>
        </p:blipFill>
        <p:spPr>
          <a:xfrm>
            <a:off x="2794000" y="2520950"/>
            <a:ext cx="736600" cy="101600"/>
          </a:xfrm>
          <a:prstGeom prst="rect">
            <a:avLst/>
          </a:prstGeom>
        </p:spPr>
      </p:pic>
      <p:pic>
        <p:nvPicPr>
          <p:cNvPr id="18" name="Image 1" descr="connector"/>
          <p:cNvPicPr>
            <a:picLocks noChangeAspect="1"/>
          </p:cNvPicPr>
          <p:nvPr/>
        </p:nvPicPr>
        <p:blipFill>
          <a:blip r:embed="rId3"/>
          <a:srcRect/>
          <a:stretch/>
        </p:blipFill>
        <p:spPr>
          <a:xfrm>
            <a:off x="5461000" y="2520950"/>
            <a:ext cx="736600" cy="101600"/>
          </a:xfrm>
          <a:prstGeom prst="rect">
            <a:avLst/>
          </a:prstGeom>
        </p:spPr>
      </p:pic>
      <p:pic>
        <p:nvPicPr>
          <p:cNvPr id="19" name="Image 2" descr="connector"/>
          <p:cNvPicPr>
            <a:picLocks noChangeAspect="1"/>
          </p:cNvPicPr>
          <p:nvPr/>
        </p:nvPicPr>
        <p:blipFill>
          <a:blip r:embed="rId3"/>
          <a:srcRect/>
          <a:stretch/>
        </p:blipFill>
        <p:spPr>
          <a:xfrm>
            <a:off x="8128000" y="2520950"/>
            <a:ext cx="736600" cy="101600"/>
          </a:xfrm>
          <a:prstGeom prst="rect">
            <a:avLst/>
          </a:prstGeom>
        </p:spPr>
      </p:pic>
      <p:sp>
        <p:nvSpPr>
          <p:cNvPr id="20" name="Shape 15"/>
          <p:cNvSpPr/>
          <p:nvPr/>
        </p:nvSpPr>
        <p:spPr>
          <a:xfrm>
            <a:off x="4454525" y="4391025"/>
            <a:ext cx="2393950" cy="933450"/>
          </a:xfrm>
          <a:prstGeom prst="roundRect">
            <a:avLst>
              <a:gd name="adj" fmla="val 9864"/>
            </a:avLst>
          </a:prstGeom>
          <a:solidFill>
            <a:srgbClr val="DCE8F8"/>
          </a:solidFill>
          <a:ln w="19050">
            <a:solidFill>
              <a:srgbClr val="2A78D6"/>
            </a:solidFill>
            <a:prstDash val="solid"/>
          </a:ln>
        </p:spPr>
        <p:txBody>
          <a:bodyPr/>
          <a:lstStyle/>
          <a:p>
            <a:endParaRPr lang="zh-CN" altLang="en-US"/>
          </a:p>
        </p:txBody>
      </p:sp>
      <p:sp>
        <p:nvSpPr>
          <p:cNvPr id="21" name="Text 16"/>
          <p:cNvSpPr/>
          <p:nvPr/>
        </p:nvSpPr>
        <p:spPr>
          <a:xfrm>
            <a:off x="4591050" y="4635500"/>
            <a:ext cx="2184527"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F5FAF"/>
                </a:solidFill>
                <a:latin typeface="Arial" pitchFamily="34" charset="0"/>
                <a:ea typeface="Arial" pitchFamily="34" charset="-122"/>
                <a:cs typeface="Arial" pitchFamily="34" charset="-120"/>
              </a:rPr>
              <a:t>Memory bank</a:t>
            </a:r>
            <a:endParaRPr lang="en-US" sz="1500" dirty="0"/>
          </a:p>
        </p:txBody>
      </p:sp>
      <p:sp>
        <p:nvSpPr>
          <p:cNvPr id="22" name="Text 17"/>
          <p:cNvSpPr/>
          <p:nvPr/>
        </p:nvSpPr>
        <p:spPr>
          <a:xfrm>
            <a:off x="4591050" y="4902200"/>
            <a:ext cx="2184527" cy="203200"/>
          </a:xfrm>
          <a:prstGeom prst="rect">
            <a:avLst/>
          </a:prstGeom>
          <a:noFill/>
          <a:ln/>
        </p:spPr>
        <p:txBody>
          <a:bodyPr wrap="square" lIns="0" tIns="0" rIns="0" bIns="0" rtlCol="0" anchor="t">
            <a:normAutofit/>
          </a:bodyPr>
          <a:lstStyle/>
          <a:p>
            <a:pPr marL="0" indent="0" algn="l">
              <a:lnSpc>
                <a:spcPts val="1400"/>
              </a:lnSpc>
              <a:buNone/>
            </a:pPr>
            <a:r>
              <a:rPr lang="en-US" sz="1000" dirty="0">
                <a:solidFill>
                  <a:srgbClr val="14213D"/>
                </a:solidFill>
                <a:latin typeface="Arial" pitchFamily="34" charset="0"/>
                <a:ea typeface="Arial" pitchFamily="34" charset="-122"/>
                <a:cs typeface="Arial" pitchFamily="34" charset="-120"/>
              </a:rPr>
              <a:t>Qwen2.5-VL-72B + bge-m3</a:t>
            </a:r>
            <a:endParaRPr lang="en-US" sz="1000" dirty="0"/>
          </a:p>
        </p:txBody>
      </p:sp>
      <p:pic>
        <p:nvPicPr>
          <p:cNvPr id="23" name="Image 3" descr="connector"/>
          <p:cNvPicPr>
            <a:picLocks noChangeAspect="1"/>
          </p:cNvPicPr>
          <p:nvPr/>
        </p:nvPicPr>
        <p:blipFill>
          <a:blip r:embed="rId4"/>
          <a:srcRect/>
          <a:stretch/>
        </p:blipFill>
        <p:spPr>
          <a:xfrm>
            <a:off x="6794500" y="2984500"/>
            <a:ext cx="431800" cy="1936750"/>
          </a:xfrm>
          <a:prstGeom prst="rect">
            <a:avLst/>
          </a:prstGeom>
        </p:spPr>
      </p:pic>
      <p:pic>
        <p:nvPicPr>
          <p:cNvPr id="24" name="Image 4" descr="connector"/>
          <p:cNvPicPr>
            <a:picLocks noChangeAspect="1"/>
          </p:cNvPicPr>
          <p:nvPr/>
        </p:nvPicPr>
        <p:blipFill>
          <a:blip r:embed="rId5"/>
          <a:srcRect/>
          <a:stretch/>
        </p:blipFill>
        <p:spPr>
          <a:xfrm>
            <a:off x="1765300" y="2984500"/>
            <a:ext cx="2743200" cy="1936750"/>
          </a:xfrm>
          <a:prstGeom prst="rect">
            <a:avLst/>
          </a:prstGeom>
        </p:spPr>
      </p:pic>
      <p:sp>
        <p:nvSpPr>
          <p:cNvPr id="25" name="Text 18"/>
          <p:cNvSpPr/>
          <p:nvPr/>
        </p:nvSpPr>
        <p:spPr>
          <a:xfrm>
            <a:off x="7366000" y="3556000"/>
            <a:ext cx="3270250" cy="48766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F5FAF"/>
                </a:solidFill>
                <a:latin typeface="Arial" pitchFamily="34" charset="0"/>
                <a:ea typeface="Arial" pitchFamily="34" charset="-122"/>
                <a:cs typeface="Arial" pitchFamily="34" charset="-120"/>
              </a:rPr>
              <a:t>After each task: reflect on the test, find code errors, save short fixes</a:t>
            </a:r>
            <a:endParaRPr lang="en-US" sz="1300" dirty="0"/>
          </a:p>
        </p:txBody>
      </p:sp>
      <p:sp>
        <p:nvSpPr>
          <p:cNvPr id="26" name="Text 19"/>
          <p:cNvSpPr/>
          <p:nvPr/>
        </p:nvSpPr>
        <p:spPr>
          <a:xfrm>
            <a:off x="2032000" y="3429000"/>
            <a:ext cx="2354580" cy="48766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F5FAF"/>
                </a:solidFill>
                <a:latin typeface="Arial" pitchFamily="34" charset="0"/>
                <a:ea typeface="Arial" pitchFamily="34" charset="-122"/>
                <a:cs typeface="Arial" pitchFamily="34" charset="-120"/>
              </a:rPr>
              <a:t>Before the next task: add a checklist and code examples</a:t>
            </a:r>
            <a:endParaRPr lang="en-US" sz="1300" dirty="0"/>
          </a:p>
        </p:txBody>
      </p:sp>
      <p:sp>
        <p:nvSpPr>
          <p:cNvPr id="27" name="Text 20"/>
          <p:cNvSpPr/>
          <p:nvPr/>
        </p:nvSpPr>
        <p:spPr>
          <a:xfrm>
            <a:off x="812800" y="6220470"/>
            <a:ext cx="10883392" cy="25653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8"/>
                </a:solidFill>
                <a:latin typeface="Arial" pitchFamily="34" charset="0"/>
                <a:ea typeface="Arial" pitchFamily="34" charset="-122"/>
                <a:cs typeface="Arial" pitchFamily="34" charset="-120"/>
              </a:rPr>
              <a:t>Same generator, same tester, same rules. Long Memory (blue) only changes the text the generator reads.</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2A78D6"/>
                </a:solidFill>
                <a:latin typeface="Arial" pitchFamily="34" charset="0"/>
                <a:ea typeface="Arial" pitchFamily="34" charset="-122"/>
                <a:cs typeface="Arial" pitchFamily="34" charset="-120"/>
              </a:rPr>
              <a:t>Setup</a:t>
            </a:r>
            <a:endParaRPr lang="en-US" sz="1400" dirty="0"/>
          </a:p>
        </p:txBody>
      </p:sp>
      <p:sp>
        <p:nvSpPr>
          <p:cNvPr id="3" name="Text 1"/>
          <p:cNvSpPr>
            <a:spLocks noGrp="1"/>
          </p:cNvSpPr>
          <p:nvPr>
            <p:ph type="title"/>
          </p:nvPr>
        </p:nvSpPr>
        <p:spPr>
          <a:xfrm>
            <a:off x="812800" y="1214090"/>
            <a:ext cx="10883392" cy="463550"/>
          </a:xfrm>
          <a:prstGeom prst="rect">
            <a:avLst/>
          </a:prstGeom>
          <a:noFill/>
          <a:ln/>
        </p:spPr>
        <p:txBody>
          <a:bodyPr wrap="square" lIns="0" tIns="0" rIns="0" bIns="0" rtlCol="0" anchor="t">
            <a:normAutofit/>
          </a:bodyPr>
          <a:lstStyle/>
          <a:p>
            <a:pPr marL="0" indent="0" algn="l">
              <a:lnSpc>
                <a:spcPts val="3450"/>
              </a:lnSpc>
              <a:buNone/>
            </a:pPr>
            <a:r>
              <a:rPr lang="en-US" sz="3000" b="1" i="0" dirty="0">
                <a:solidFill>
                  <a:srgbClr val="14213D"/>
                </a:solidFill>
                <a:latin typeface="Georgia" pitchFamily="18" charset="0"/>
                <a:ea typeface="Georgia" pitchFamily="18" charset="-122"/>
                <a:cs typeface="Georgia" pitchFamily="18" charset="-120"/>
              </a:rPr>
              <a:t>Official rules, and our baseline matches the paper</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918940"/>
          <a:ext cx="10553700" cy="1796605"/>
        </p:xfrm>
        <a:graphic>
          <a:graphicData uri="http://schemas.openxmlformats.org/drawingml/2006/table">
            <a:tbl>
              <a:tblPr/>
              <a:tblGrid>
                <a:gridCol w="633222">
                  <a:extLst>
                    <a:ext uri="{9D8B030D-6E8A-4147-A177-3AD203B41FA5}">
                      <a16:colId xmlns:a16="http://schemas.microsoft.com/office/drawing/2014/main" val="20000"/>
                    </a:ext>
                  </a:extLst>
                </a:gridCol>
                <a:gridCol w="2532888">
                  <a:extLst>
                    <a:ext uri="{9D8B030D-6E8A-4147-A177-3AD203B41FA5}">
                      <a16:colId xmlns:a16="http://schemas.microsoft.com/office/drawing/2014/main" val="20001"/>
                    </a:ext>
                  </a:extLst>
                </a:gridCol>
                <a:gridCol w="3166110">
                  <a:extLst>
                    <a:ext uri="{9D8B030D-6E8A-4147-A177-3AD203B41FA5}">
                      <a16:colId xmlns:a16="http://schemas.microsoft.com/office/drawing/2014/main" val="20002"/>
                    </a:ext>
                  </a:extLst>
                </a:gridCol>
                <a:gridCol w="4221480">
                  <a:extLst>
                    <a:ext uri="{9D8B030D-6E8A-4147-A177-3AD203B41FA5}">
                      <a16:colId xmlns:a16="http://schemas.microsoft.com/office/drawing/2014/main" val="20003"/>
                    </a:ext>
                  </a:extLst>
                </a:gridCol>
              </a:tblGrid>
              <a:tr h="359321">
                <a:tc>
                  <a:txBody>
                    <a:bodyPr/>
                    <a:lstStyle/>
                    <a:p>
                      <a:pPr marL="0" indent="0">
                        <a:lnSpc>
                          <a:spcPts val="1820"/>
                        </a:lnSpc>
                        <a:buNone/>
                      </a:pPr>
                      <a:r>
                        <a:rPr lang="en-US" sz="1300" b="1" dirty="0">
                          <a:solidFill>
                            <a:srgbClr val="14213D"/>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BABAB8"/>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ABAB8"/>
                      </a:solidFill>
                      <a:prstDash val="solid"/>
                      <a:round/>
                      <a:headEnd type="none" w="med" len="med"/>
                      <a:tailEnd type="none" w="med" len="med"/>
                    </a:lnB>
                    <a:solidFill>
                      <a:srgbClr val="E9E9E6"/>
                    </a:solidFill>
                  </a:tcPr>
                </a:tc>
                <a:tc>
                  <a:txBody>
                    <a:bodyPr/>
                    <a:lstStyle/>
                    <a:p>
                      <a:pPr marL="0" indent="0">
                        <a:lnSpc>
                          <a:spcPts val="1820"/>
                        </a:lnSpc>
                        <a:buNone/>
                      </a:pPr>
                      <a:r>
                        <a:rPr lang="en-US" sz="1300" b="1" dirty="0">
                          <a:solidFill>
                            <a:srgbClr val="14213D"/>
                          </a:solidFill>
                          <a:latin typeface="Arial" pitchFamily="34" charset="0"/>
                          <a:ea typeface="Arial" pitchFamily="34" charset="-122"/>
                          <a:cs typeface="Arial" pitchFamily="34" charset="-120"/>
                        </a:rPr>
                        <a:t>Step</a:t>
                      </a:r>
                      <a:endParaRPr lang="en-US" sz="1300" dirty="0">
                        <a:latin typeface="Arial" charset="0"/>
                        <a:ea typeface="Arial" charset="0"/>
                        <a:cs typeface="Arial" charset="0"/>
                      </a:endParaRPr>
                    </a:p>
                  </a:txBody>
                  <a:tcPr marL="57785" marR="57785" marT="57785" marB="57785">
                    <a:lnL w="12700" cap="flat" cmpd="sng" algn="ctr">
                      <a:solidFill>
                        <a:srgbClr val="BABAB8"/>
                      </a:solidFill>
                      <a:prstDash val="solid"/>
                      <a:round/>
                      <a:headEnd type="none" w="med" len="med"/>
                      <a:tailEnd type="none" w="med" len="med"/>
                    </a:lnL>
                    <a:lnR w="12700" cap="flat" cmpd="sng" algn="ctr">
                      <a:solidFill>
                        <a:srgbClr val="BABAB8"/>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ABAB8"/>
                      </a:solidFill>
                      <a:prstDash val="solid"/>
                      <a:round/>
                      <a:headEnd type="none" w="med" len="med"/>
                      <a:tailEnd type="none" w="med" len="med"/>
                    </a:lnB>
                    <a:solidFill>
                      <a:srgbClr val="E9E9E6"/>
                    </a:solidFill>
                  </a:tcPr>
                </a:tc>
                <a:tc>
                  <a:txBody>
                    <a:bodyPr/>
                    <a:lstStyle/>
                    <a:p>
                      <a:pPr marL="0" indent="0">
                        <a:lnSpc>
                          <a:spcPts val="1820"/>
                        </a:lnSpc>
                        <a:buNone/>
                      </a:pPr>
                      <a:r>
                        <a:rPr lang="en-US" sz="1300" b="1" dirty="0">
                          <a:solidFill>
                            <a:srgbClr val="14213D"/>
                          </a:solidFill>
                          <a:latin typeface="Arial" pitchFamily="34" charset="0"/>
                          <a:ea typeface="Arial" pitchFamily="34" charset="-122"/>
                          <a:cs typeface="Arial" pitchFamily="34" charset="-120"/>
                        </a:rPr>
                        <a:t>Agent / tool</a:t>
                      </a:r>
                      <a:endParaRPr lang="en-US" sz="1300" dirty="0">
                        <a:latin typeface="Arial" charset="0"/>
                        <a:ea typeface="Arial" charset="0"/>
                        <a:cs typeface="Arial" charset="0"/>
                      </a:endParaRPr>
                    </a:p>
                  </a:txBody>
                  <a:tcPr marL="57785" marR="57785" marT="57785" marB="57785">
                    <a:lnL w="12700" cap="flat" cmpd="sng" algn="ctr">
                      <a:solidFill>
                        <a:srgbClr val="BABAB8"/>
                      </a:solidFill>
                      <a:prstDash val="solid"/>
                      <a:round/>
                      <a:headEnd type="none" w="med" len="med"/>
                      <a:tailEnd type="none" w="med" len="med"/>
                    </a:lnL>
                    <a:lnR w="12700" cap="flat" cmpd="sng" algn="ctr">
                      <a:solidFill>
                        <a:srgbClr val="BABAB8"/>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ABAB8"/>
                      </a:solidFill>
                      <a:prstDash val="solid"/>
                      <a:round/>
                      <a:headEnd type="none" w="med" len="med"/>
                      <a:tailEnd type="none" w="med" len="med"/>
                    </a:lnB>
                    <a:solidFill>
                      <a:srgbClr val="E9E9E6"/>
                    </a:solidFill>
                  </a:tcPr>
                </a:tc>
                <a:tc>
                  <a:txBody>
                    <a:bodyPr/>
                    <a:lstStyle/>
                    <a:p>
                      <a:pPr marL="0" indent="0">
                        <a:lnSpc>
                          <a:spcPts val="1820"/>
                        </a:lnSpc>
                        <a:buNone/>
                      </a:pPr>
                      <a:r>
                        <a:rPr lang="en-US" sz="1300" b="1" dirty="0">
                          <a:solidFill>
                            <a:srgbClr val="14213D"/>
                          </a:solidFill>
                          <a:latin typeface="Arial" pitchFamily="34" charset="0"/>
                          <a:ea typeface="Arial" pitchFamily="34" charset="-122"/>
                          <a:cs typeface="Arial" pitchFamily="34" charset="-120"/>
                        </a:rPr>
                        <a:t>Model (LLM)</a:t>
                      </a:r>
                      <a:endParaRPr lang="en-US" sz="1300" dirty="0">
                        <a:latin typeface="Arial" charset="0"/>
                        <a:ea typeface="Arial" charset="0"/>
                        <a:cs typeface="Arial" charset="0"/>
                      </a:endParaRPr>
                    </a:p>
                  </a:txBody>
                  <a:tcPr marL="57785" marR="57785" marT="57785" marB="57785">
                    <a:lnL w="12700" cap="flat" cmpd="sng" algn="ctr">
                      <a:solidFill>
                        <a:srgbClr val="BABAB8"/>
                      </a:solidFill>
                      <a:prstDash val="solid"/>
                      <a:round/>
                      <a:headEnd type="none" w="med" len="med"/>
                      <a:tailEnd type="none" w="med" len="med"/>
                    </a:lnL>
                    <a:lnR w="12700" cap="flat" cmpd="sng" algn="ctr">
                      <a:solidFill>
                        <a:srgbClr val="BABAB8"/>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ABAB8"/>
                      </a:solidFill>
                      <a:prstDash val="solid"/>
                      <a:round/>
                      <a:headEnd type="none" w="med" len="med"/>
                      <a:tailEnd type="none" w="med" len="med"/>
                    </a:lnB>
                    <a:solidFill>
                      <a:srgbClr val="E9E9E6"/>
                    </a:solidFill>
                  </a:tcPr>
                </a:tc>
                <a:extLst>
                  <a:ext uri="{0D108BD9-81ED-4DB2-BD59-A6C34878D82A}">
                    <a16:rowId xmlns:a16="http://schemas.microsoft.com/office/drawing/2014/main" val="10000"/>
                  </a:ext>
                </a:extLst>
              </a:tr>
              <a:tr h="359321">
                <a:tc>
                  <a:txBody>
                    <a:bodyPr/>
                    <a:lstStyle/>
                    <a:p>
                      <a:pPr marL="0" indent="0">
                        <a:lnSpc>
                          <a:spcPts val="1820"/>
                        </a:lnSpc>
                        <a:buNone/>
                      </a:pPr>
                      <a:r>
                        <a:rPr lang="en-US" sz="1300" dirty="0">
                          <a:solidFill>
                            <a:srgbClr val="14213D"/>
                          </a:solidFill>
                          <a:latin typeface="Arial" pitchFamily="34" charset="0"/>
                          <a:ea typeface="Arial" pitchFamily="34" charset="-122"/>
                          <a:cs typeface="Arial" pitchFamily="34" charset="-120"/>
                        </a:rPr>
                        <a:t>1</a:t>
                      </a:r>
                      <a:endParaRPr lang="en-US" sz="1300" dirty="0">
                        <a:latin typeface="Arial" charset="0"/>
                        <a:ea typeface="Arial" charset="0"/>
                        <a:cs typeface="Arial"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ABAB8"/>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820"/>
                        </a:lnSpc>
                        <a:buNone/>
                      </a:pPr>
                      <a:r>
                        <a:rPr lang="en-US" sz="1300" dirty="0">
                          <a:solidFill>
                            <a:srgbClr val="14213D"/>
                          </a:solidFill>
                          <a:latin typeface="Arial" pitchFamily="34" charset="0"/>
                          <a:ea typeface="Arial" pitchFamily="34" charset="-122"/>
                          <a:cs typeface="Arial" pitchFamily="34" charset="-120"/>
                        </a:rPr>
                        <a:t>Build website</a:t>
                      </a:r>
                      <a:endParaRPr lang="en-US" sz="1300" dirty="0">
                        <a:latin typeface="Arial" charset="0"/>
                        <a:ea typeface="Arial" charset="0"/>
                        <a:cs typeface="Arial"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ABAB8"/>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820"/>
                        </a:lnSpc>
                        <a:buNone/>
                      </a:pPr>
                      <a:r>
                        <a:rPr lang="en-US" sz="1300" dirty="0">
                          <a:solidFill>
                            <a:srgbClr val="14213D"/>
                          </a:solidFill>
                          <a:latin typeface="Arial" pitchFamily="34" charset="0"/>
                          <a:ea typeface="Arial" pitchFamily="34" charset="-122"/>
                          <a:cs typeface="Arial" pitchFamily="34" charset="-120"/>
                        </a:rPr>
                        <a:t>Bolt agent (coding)</a:t>
                      </a:r>
                      <a:endParaRPr lang="en-US" sz="1300" dirty="0">
                        <a:latin typeface="Arial" charset="0"/>
                        <a:ea typeface="Arial" charset="0"/>
                        <a:cs typeface="Arial"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ABAB8"/>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820"/>
                        </a:lnSpc>
                        <a:buNone/>
                      </a:pPr>
                      <a:r>
                        <a:rPr lang="en-US" sz="1300" dirty="0">
                          <a:solidFill>
                            <a:srgbClr val="14213D"/>
                          </a:solidFill>
                          <a:latin typeface="Arial" pitchFamily="34" charset="0"/>
                          <a:ea typeface="Arial" pitchFamily="34" charset="-122"/>
                          <a:cs typeface="Arial" pitchFamily="34" charset="-120"/>
                        </a:rPr>
                        <a:t>WebGen-LM-7B, one try, no repair</a:t>
                      </a:r>
                      <a:endParaRPr lang="en-US" sz="1300" dirty="0">
                        <a:latin typeface="Arial" charset="0"/>
                        <a:ea typeface="Arial" charset="0"/>
                        <a:cs typeface="Arial"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ABAB8"/>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1"/>
                  </a:ext>
                </a:extLst>
              </a:tr>
              <a:tr h="359321">
                <a:tc>
                  <a:txBody>
                    <a:bodyPr/>
                    <a:lstStyle/>
                    <a:p>
                      <a:pPr marL="0" indent="0">
                        <a:lnSpc>
                          <a:spcPts val="1820"/>
                        </a:lnSpc>
                        <a:buNone/>
                      </a:pPr>
                      <a:r>
                        <a:rPr lang="en-US" sz="1300" dirty="0">
                          <a:solidFill>
                            <a:srgbClr val="14213D"/>
                          </a:solidFill>
                          <a:latin typeface="Arial" pitchFamily="34" charset="0"/>
                          <a:ea typeface="Arial" pitchFamily="34" charset="-122"/>
                          <a:cs typeface="Arial" pitchFamily="34" charset="-120"/>
                        </a:rPr>
                        <a:t>2</a:t>
                      </a:r>
                      <a:endParaRPr lang="en-US" sz="1300" dirty="0">
                        <a:latin typeface="Arial" charset="0"/>
                        <a:ea typeface="Arial" charset="0"/>
                        <a:cs typeface="Arial"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820"/>
                        </a:lnSpc>
                        <a:buNone/>
                      </a:pPr>
                      <a:r>
                        <a:rPr lang="en-US" sz="1300" dirty="0">
                          <a:solidFill>
                            <a:srgbClr val="14213D"/>
                          </a:solidFill>
                          <a:latin typeface="Arial" pitchFamily="34" charset="0"/>
                          <a:ea typeface="Arial" pitchFamily="34" charset="-122"/>
                          <a:cs typeface="Arial" pitchFamily="34" charset="-120"/>
                        </a:rPr>
                        <a:t>Test features</a:t>
                      </a:r>
                      <a:endParaRPr lang="en-US" sz="1300" dirty="0">
                        <a:latin typeface="Arial" charset="0"/>
                        <a:ea typeface="Arial" charset="0"/>
                        <a:cs typeface="Arial"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820"/>
                        </a:lnSpc>
                        <a:buNone/>
                      </a:pPr>
                      <a:r>
                        <a:rPr lang="en-US" sz="1300" dirty="0">
                          <a:solidFill>
                            <a:srgbClr val="14213D"/>
                          </a:solidFill>
                          <a:latin typeface="Arial" pitchFamily="34" charset="0"/>
                          <a:ea typeface="Arial" pitchFamily="34" charset="-122"/>
                          <a:cs typeface="Arial" pitchFamily="34" charset="-120"/>
                        </a:rPr>
                        <a:t>WebVoyager (GUI agent)</a:t>
                      </a:r>
                      <a:endParaRPr lang="en-US" sz="1300" dirty="0">
                        <a:latin typeface="Arial" charset="0"/>
                        <a:ea typeface="Arial" charset="0"/>
                        <a:cs typeface="Arial"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820"/>
                        </a:lnSpc>
                        <a:buNone/>
                      </a:pPr>
                      <a:r>
                        <a:rPr lang="en-US" sz="1300" dirty="0">
                          <a:solidFill>
                            <a:srgbClr val="14213D"/>
                          </a:solidFill>
                          <a:latin typeface="Arial" pitchFamily="34" charset="0"/>
                          <a:ea typeface="Arial" pitchFamily="34" charset="-122"/>
                          <a:cs typeface="Arial" pitchFamily="34" charset="-120"/>
                        </a:rPr>
                        <a:t>Qwen2.5-VL-32B</a:t>
                      </a:r>
                      <a:endParaRPr lang="en-US" sz="1300" dirty="0">
                        <a:latin typeface="Arial" charset="0"/>
                        <a:ea typeface="Arial" charset="0"/>
                        <a:cs typeface="Arial"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2"/>
                  </a:ext>
                </a:extLst>
              </a:tr>
              <a:tr h="359321">
                <a:tc>
                  <a:txBody>
                    <a:bodyPr/>
                    <a:lstStyle/>
                    <a:p>
                      <a:pPr marL="0" indent="0">
                        <a:lnSpc>
                          <a:spcPts val="1820"/>
                        </a:lnSpc>
                        <a:buNone/>
                      </a:pPr>
                      <a:r>
                        <a:rPr lang="en-US" sz="1300" dirty="0">
                          <a:solidFill>
                            <a:srgbClr val="14213D"/>
                          </a:solidFill>
                          <a:latin typeface="Arial" pitchFamily="34" charset="0"/>
                          <a:ea typeface="Arial" pitchFamily="34" charset="-122"/>
                          <a:cs typeface="Arial" pitchFamily="34" charset="-120"/>
                        </a:rPr>
                        <a:t>3</a:t>
                      </a:r>
                      <a:endParaRPr lang="en-US" sz="1300" dirty="0">
                        <a:latin typeface="Arial" charset="0"/>
                        <a:ea typeface="Arial" charset="0"/>
                        <a:cs typeface="Arial"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820"/>
                        </a:lnSpc>
                        <a:buNone/>
                      </a:pPr>
                      <a:r>
                        <a:rPr lang="en-US" sz="1300" dirty="0">
                          <a:solidFill>
                            <a:srgbClr val="14213D"/>
                          </a:solidFill>
                          <a:latin typeface="Arial" pitchFamily="34" charset="0"/>
                          <a:ea typeface="Arial" pitchFamily="34" charset="-122"/>
                          <a:cs typeface="Arial" pitchFamily="34" charset="-120"/>
                        </a:rPr>
                        <a:t>Grade appearance</a:t>
                      </a:r>
                      <a:endParaRPr lang="en-US" sz="1300" dirty="0">
                        <a:latin typeface="Arial" charset="0"/>
                        <a:ea typeface="Arial" charset="0"/>
                        <a:cs typeface="Arial"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820"/>
                        </a:lnSpc>
                        <a:buNone/>
                      </a:pPr>
                      <a:r>
                        <a:rPr lang="en-US" sz="1300" dirty="0">
                          <a:solidFill>
                            <a:srgbClr val="14213D"/>
                          </a:solidFill>
                          <a:latin typeface="Arial" pitchFamily="34" charset="0"/>
                          <a:ea typeface="Arial" pitchFamily="34" charset="-122"/>
                          <a:cs typeface="Arial" pitchFamily="34" charset="-120"/>
                        </a:rPr>
                        <a:t>Screenshot grader (one call)</a:t>
                      </a:r>
                      <a:endParaRPr lang="en-US" sz="1300" dirty="0">
                        <a:latin typeface="Arial" charset="0"/>
                        <a:ea typeface="Arial" charset="0"/>
                        <a:cs typeface="Arial"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820"/>
                        </a:lnSpc>
                        <a:buNone/>
                      </a:pPr>
                      <a:r>
                        <a:rPr lang="en-US" sz="1300" dirty="0">
                          <a:solidFill>
                            <a:srgbClr val="14213D"/>
                          </a:solidFill>
                          <a:latin typeface="Arial" pitchFamily="34" charset="0"/>
                          <a:ea typeface="Arial" pitchFamily="34" charset="-122"/>
                          <a:cs typeface="Arial" pitchFamily="34" charset="-120"/>
                        </a:rPr>
                        <a:t>Qwen2.5-VL-32B (paper: GPT-4o)</a:t>
                      </a:r>
                      <a:endParaRPr lang="en-US" sz="1300" dirty="0">
                        <a:latin typeface="Arial" charset="0"/>
                        <a:ea typeface="Arial" charset="0"/>
                        <a:cs typeface="Arial"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3"/>
                  </a:ext>
                </a:extLst>
              </a:tr>
              <a:tr h="359321">
                <a:tc>
                  <a:txBody>
                    <a:bodyPr/>
                    <a:lstStyle/>
                    <a:p>
                      <a:pPr marL="0" indent="0">
                        <a:lnSpc>
                          <a:spcPts val="1820"/>
                        </a:lnSpc>
                        <a:buNone/>
                      </a:pPr>
                      <a:r>
                        <a:rPr lang="en-US" sz="1300" dirty="0">
                          <a:solidFill>
                            <a:srgbClr val="14213D"/>
                          </a:solidFill>
                          <a:latin typeface="Arial" pitchFamily="34" charset="0"/>
                          <a:ea typeface="Arial" pitchFamily="34" charset="-122"/>
                          <a:cs typeface="Arial" pitchFamily="34" charset="-120"/>
                        </a:rPr>
                        <a:t>4</a:t>
                      </a:r>
                      <a:endParaRPr lang="en-US" sz="1300" dirty="0">
                        <a:latin typeface="Arial" charset="0"/>
                        <a:ea typeface="Arial" charset="0"/>
                        <a:cs typeface="Arial"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820"/>
                        </a:lnSpc>
                        <a:buNone/>
                      </a:pPr>
                      <a:r>
                        <a:rPr lang="en-US" sz="1300" dirty="0">
                          <a:solidFill>
                            <a:srgbClr val="14213D"/>
                          </a:solidFill>
                          <a:latin typeface="Arial" pitchFamily="34" charset="0"/>
                          <a:ea typeface="Arial" pitchFamily="34" charset="-122"/>
                          <a:cs typeface="Arial" pitchFamily="34" charset="-120"/>
                        </a:rPr>
                        <a:t>Write and pick memory</a:t>
                      </a:r>
                      <a:endParaRPr lang="en-US" sz="1300" dirty="0">
                        <a:latin typeface="Arial" charset="0"/>
                        <a:ea typeface="Arial" charset="0"/>
                        <a:cs typeface="Arial"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820"/>
                        </a:lnSpc>
                        <a:buNone/>
                      </a:pPr>
                      <a:r>
                        <a:rPr lang="en-US" sz="1300" dirty="0">
                          <a:solidFill>
                            <a:srgbClr val="14213D"/>
                          </a:solidFill>
                          <a:latin typeface="Arial" pitchFamily="34" charset="0"/>
                          <a:ea typeface="Arial" pitchFamily="34" charset="-122"/>
                          <a:cs typeface="Arial" pitchFamily="34" charset="-120"/>
                        </a:rPr>
                        <a:t>Our Long Memory module</a:t>
                      </a:r>
                      <a:endParaRPr lang="en-US" sz="1300" dirty="0">
                        <a:latin typeface="Arial" charset="0"/>
                        <a:ea typeface="Arial" charset="0"/>
                        <a:cs typeface="Arial"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820"/>
                        </a:lnSpc>
                        <a:buNone/>
                      </a:pPr>
                      <a:r>
                        <a:rPr lang="en-US" sz="1300" dirty="0">
                          <a:solidFill>
                            <a:srgbClr val="14213D"/>
                          </a:solidFill>
                          <a:latin typeface="Arial" pitchFamily="34" charset="0"/>
                          <a:ea typeface="Arial" pitchFamily="34" charset="-122"/>
                          <a:cs typeface="Arial" pitchFamily="34" charset="-120"/>
                        </a:rPr>
                        <a:t>Qwen2.5-VL-72B-AWQ + bge-m3 embedding</a:t>
                      </a:r>
                      <a:endParaRPr lang="en-US" sz="1300" dirty="0">
                        <a:latin typeface="Arial" charset="0"/>
                        <a:ea typeface="Arial" charset="0"/>
                        <a:cs typeface="Arial"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5" name="Text 2"/>
          <p:cNvSpPr/>
          <p:nvPr/>
        </p:nvSpPr>
        <p:spPr>
          <a:xfrm>
            <a:off x="812800" y="3969544"/>
            <a:ext cx="10883392" cy="25653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8"/>
                </a:solidFill>
                <a:latin typeface="Arial" pitchFamily="34" charset="0"/>
                <a:ea typeface="Arial" pitchFamily="34" charset="-122"/>
                <a:cs typeface="Arial" pitchFamily="34" charset="-120"/>
              </a:rPr>
              <a:t>Score = (pass + 0.5 × partial) / checks · No Memory baseline 28.5% (paper: 28.4%)</a:t>
            </a:r>
            <a:endParaRPr lang="en-US" sz="1300" dirty="0"/>
          </a:p>
        </p:txBody>
      </p:sp>
      <p:sp>
        <p:nvSpPr>
          <p:cNvPr id="6" name="Shape 3"/>
          <p:cNvSpPr/>
          <p:nvPr/>
        </p:nvSpPr>
        <p:spPr>
          <a:xfrm>
            <a:off x="825500" y="4454674"/>
            <a:ext cx="0" cy="220960"/>
          </a:xfrm>
          <a:prstGeom prst="line">
            <a:avLst/>
          </a:prstGeom>
          <a:noFill/>
          <a:ln w="25400">
            <a:solidFill>
              <a:srgbClr val="2A78D6"/>
            </a:solidFill>
            <a:prstDash val="solid"/>
          </a:ln>
        </p:spPr>
        <p:txBody>
          <a:bodyPr/>
          <a:lstStyle/>
          <a:p>
            <a:endParaRPr lang="zh-CN" altLang="en-US"/>
          </a:p>
        </p:txBody>
      </p:sp>
      <p:sp>
        <p:nvSpPr>
          <p:cNvPr id="7" name="Text 4"/>
          <p:cNvSpPr/>
          <p:nvPr/>
        </p:nvSpPr>
        <p:spPr>
          <a:xfrm>
            <a:off x="939800" y="4454674"/>
            <a:ext cx="10752582" cy="246360"/>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4A5568"/>
                </a:solidFill>
                <a:latin typeface="Arial" pitchFamily="34" charset="0"/>
                <a:ea typeface="Arial" pitchFamily="34" charset="-122"/>
                <a:cs typeface="Arial" pitchFamily="34" charset="-120"/>
              </a:rPr>
              <a:t>Check results: pass = the feature works; partial = it works only in part (counts 0.5); fail = 0. Accuracy is summed over all 647 checks.</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7">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2A78D6"/>
                </a:solidFill>
                <a:latin typeface="Arial" pitchFamily="34" charset="0"/>
                <a:ea typeface="Arial" pitchFamily="34" charset="-122"/>
                <a:cs typeface="Arial" pitchFamily="34" charset="-120"/>
              </a:rPr>
              <a:t>Models and compute</a:t>
            </a:r>
            <a:endParaRPr lang="en-US" sz="1400" dirty="0"/>
          </a:p>
        </p:txBody>
      </p:sp>
      <p:sp>
        <p:nvSpPr>
          <p:cNvPr id="3" name="Text 1"/>
          <p:cNvSpPr>
            <a:spLocks noGrp="1"/>
          </p:cNvSpPr>
          <p:nvPr>
            <p:ph type="title"/>
          </p:nvPr>
        </p:nvSpPr>
        <p:spPr>
          <a:xfrm>
            <a:off x="812800" y="1214090"/>
            <a:ext cx="10883392" cy="463550"/>
          </a:xfrm>
          <a:prstGeom prst="rect">
            <a:avLst/>
          </a:prstGeom>
          <a:noFill/>
          <a:ln/>
        </p:spPr>
        <p:txBody>
          <a:bodyPr wrap="square" lIns="0" tIns="0" rIns="0" bIns="0" rtlCol="0" anchor="t">
            <a:normAutofit/>
          </a:bodyPr>
          <a:lstStyle/>
          <a:p>
            <a:pPr marL="0" indent="0" algn="l">
              <a:lnSpc>
                <a:spcPts val="3450"/>
              </a:lnSpc>
              <a:buNone/>
            </a:pPr>
            <a:r>
              <a:rPr lang="en-US" sz="3000" b="1" i="0" dirty="0">
                <a:solidFill>
                  <a:srgbClr val="14213D"/>
                </a:solidFill>
                <a:latin typeface="Georgia" pitchFamily="18" charset="0"/>
                <a:ea typeface="Georgia" pitchFamily="18" charset="-122"/>
                <a:cs typeface="Georgia" pitchFamily="18" charset="-120"/>
              </a:rPr>
              <a:t>A small model trained for this tool, on two H200 GPUs</a:t>
            </a:r>
            <a:endParaRPr lang="en-US" sz="3000" dirty="0"/>
          </a:p>
        </p:txBody>
      </p:sp>
      <p:sp>
        <p:nvSpPr>
          <p:cNvPr id="4" name="Shape 2"/>
          <p:cNvSpPr/>
          <p:nvPr/>
        </p:nvSpPr>
        <p:spPr>
          <a:xfrm>
            <a:off x="812800" y="1906240"/>
            <a:ext cx="5181600" cy="4004621"/>
          </a:xfrm>
          <a:prstGeom prst="roundRect">
            <a:avLst>
              <a:gd name="adj" fmla="val 5835"/>
            </a:avLst>
          </a:prstGeom>
          <a:solidFill>
            <a:srgbClr val="EEF3FA"/>
          </a:solidFill>
          <a:ln/>
        </p:spPr>
        <p:txBody>
          <a:bodyPr/>
          <a:lstStyle/>
          <a:p>
            <a:endParaRPr lang="zh-CN" altLang="en-US"/>
          </a:p>
        </p:txBody>
      </p:sp>
      <p:sp>
        <p:nvSpPr>
          <p:cNvPr id="5" name="Text 3"/>
          <p:cNvSpPr/>
          <p:nvPr/>
        </p:nvSpPr>
        <p:spPr>
          <a:xfrm>
            <a:off x="1066800" y="2160240"/>
            <a:ext cx="4813808"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4213D"/>
                </a:solidFill>
                <a:latin typeface="Arial" pitchFamily="34" charset="0"/>
                <a:ea typeface="Arial" pitchFamily="34" charset="-122"/>
                <a:cs typeface="Arial" pitchFamily="34" charset="-120"/>
              </a:rPr>
              <a:t>WebGen-LM-7B (the generator)</a:t>
            </a:r>
            <a:endParaRPr lang="en-US" sz="1800" dirty="0"/>
          </a:p>
        </p:txBody>
      </p:sp>
      <p:sp>
        <p:nvSpPr>
          <p:cNvPr id="6" name="Text 4"/>
          <p:cNvSpPr/>
          <p:nvPr/>
        </p:nvSpPr>
        <p:spPr>
          <a:xfrm>
            <a:off x="1066800" y="2536130"/>
            <a:ext cx="4813808" cy="2294890"/>
          </a:xfrm>
          <a:prstGeom prst="rect">
            <a:avLst/>
          </a:prstGeom>
          <a:noFill/>
          <a:ln/>
        </p:spPr>
        <p:txBody>
          <a:bodyPr wrap="square" lIns="0" tIns="0" rIns="0" bIns="0" rtlCol="0" anchor="t">
            <a:noAutofit/>
          </a:bodyPr>
          <a:lstStyle/>
          <a:p>
            <a:pPr marL="0" indent="0" algn="l">
              <a:lnSpc>
                <a:spcPts val="2250"/>
              </a:lnSpc>
              <a:spcAft>
                <a:spcPts val="600"/>
              </a:spcAft>
              <a:buNone/>
            </a:pPr>
            <a:r>
              <a:rPr lang="en-US" sz="1400" dirty="0">
                <a:solidFill>
                  <a:srgbClr val="4A5568"/>
                </a:solidFill>
                <a:latin typeface="Arial" pitchFamily="34" charset="0"/>
                <a:ea typeface="Arial" pitchFamily="34" charset="-122"/>
                <a:cs typeface="Arial" pitchFamily="34" charset="-120"/>
              </a:rPr>
              <a:t>• Built by the WebGen-Bench authors</a:t>
            </a:r>
            <a:endParaRPr lang="en-US" sz="1500" dirty="0"/>
          </a:p>
          <a:p>
            <a:pPr marL="0" indent="0" algn="l">
              <a:lnSpc>
                <a:spcPts val="2250"/>
              </a:lnSpc>
              <a:spcAft>
                <a:spcPts val="600"/>
              </a:spcAft>
              <a:buNone/>
            </a:pPr>
            <a:r>
              <a:rPr lang="en-US" sz="1400" dirty="0">
                <a:solidFill>
                  <a:srgbClr val="4A5568"/>
                </a:solidFill>
                <a:latin typeface="Arial" pitchFamily="34" charset="0"/>
                <a:ea typeface="Arial" pitchFamily="34" charset="-122"/>
                <a:cs typeface="Arial" pitchFamily="34" charset="-120"/>
              </a:rPr>
              <a:t>• Base: Qwen2.5-Coder-7B-Instruct</a:t>
            </a:r>
            <a:endParaRPr lang="en-US" sz="1500" dirty="0"/>
          </a:p>
          <a:p>
            <a:pPr marL="0" indent="0" algn="l">
              <a:lnSpc>
                <a:spcPts val="2250"/>
              </a:lnSpc>
              <a:spcAft>
                <a:spcPts val="600"/>
              </a:spcAft>
              <a:buNone/>
            </a:pPr>
            <a:r>
              <a:rPr lang="en-US" sz="1400" dirty="0">
                <a:solidFill>
                  <a:srgbClr val="4A5568"/>
                </a:solidFill>
                <a:latin typeface="Arial" pitchFamily="34" charset="0"/>
                <a:ea typeface="Arial" pitchFamily="34" charset="-122"/>
                <a:cs typeface="Arial" pitchFamily="34" charset="-120"/>
              </a:rPr>
              <a:t>• Fine-tuning only (SFT), no RL</a:t>
            </a:r>
            <a:endParaRPr lang="en-US" sz="1500" dirty="0"/>
          </a:p>
          <a:p>
            <a:pPr marL="0" indent="0" algn="l">
              <a:lnSpc>
                <a:spcPts val="2250"/>
              </a:lnSpc>
              <a:spcAft>
                <a:spcPts val="600"/>
              </a:spcAft>
              <a:buNone/>
            </a:pPr>
            <a:r>
              <a:rPr lang="en-US" sz="1400" dirty="0">
                <a:solidFill>
                  <a:srgbClr val="4A5568"/>
                </a:solidFill>
                <a:latin typeface="Arial" pitchFamily="34" charset="0"/>
                <a:ea typeface="Arial" pitchFamily="34" charset="-122"/>
                <a:cs typeface="Arial" pitchFamily="34" charset="-120"/>
              </a:rPr>
              <a:t>• Data: DeepSeek-V3 built sites in Bolt for 2,000 requests; kept the 600 best (look ≥ 3/5)</a:t>
            </a:r>
            <a:endParaRPr lang="en-US" sz="1500" dirty="0"/>
          </a:p>
          <a:p>
            <a:pPr marL="0" indent="0" algn="l">
              <a:lnSpc>
                <a:spcPts val="2250"/>
              </a:lnSpc>
              <a:spcAft>
                <a:spcPts val="600"/>
              </a:spcAft>
              <a:buNone/>
            </a:pPr>
            <a:r>
              <a:rPr lang="en-US" sz="1400" dirty="0">
                <a:solidFill>
                  <a:srgbClr val="4A5568"/>
                </a:solidFill>
                <a:latin typeface="Arial" pitchFamily="34" charset="0"/>
                <a:ea typeface="Arial" pitchFamily="34" charset="-122"/>
                <a:cs typeface="Arial" pitchFamily="34" charset="-120"/>
              </a:rPr>
              <a:t>• So it already knows Bolt’s output format</a:t>
            </a:r>
            <a:endParaRPr lang="en-US" sz="1500" dirty="0"/>
          </a:p>
          <a:p>
            <a:pPr marL="0" indent="0" algn="l">
              <a:lnSpc>
                <a:spcPts val="2250"/>
              </a:lnSpc>
              <a:spcAft>
                <a:spcPts val="600"/>
              </a:spcAft>
              <a:buNone/>
            </a:pPr>
            <a:r>
              <a:rPr lang="en-US" sz="1400" dirty="0">
                <a:solidFill>
                  <a:srgbClr val="4A5568"/>
                </a:solidFill>
                <a:latin typeface="Arial" pitchFamily="34" charset="0"/>
                <a:ea typeface="Arial" pitchFamily="34" charset="-122"/>
                <a:cs typeface="Arial" pitchFamily="34" charset="-120"/>
              </a:rPr>
              <a:t>• Paper baseline: 28.4%</a:t>
            </a:r>
            <a:endParaRPr lang="en-US" sz="1500" dirty="0"/>
          </a:p>
        </p:txBody>
      </p:sp>
      <p:sp>
        <p:nvSpPr>
          <p:cNvPr id="7" name="Shape 5"/>
          <p:cNvSpPr/>
          <p:nvPr/>
        </p:nvSpPr>
        <p:spPr>
          <a:xfrm>
            <a:off x="6197600" y="1906240"/>
            <a:ext cx="5181600" cy="4004621"/>
          </a:xfrm>
          <a:prstGeom prst="roundRect">
            <a:avLst>
              <a:gd name="adj" fmla="val 5835"/>
            </a:avLst>
          </a:prstGeom>
          <a:solidFill>
            <a:srgbClr val="EEF3FA"/>
          </a:solidFill>
          <a:ln/>
        </p:spPr>
        <p:txBody>
          <a:bodyPr/>
          <a:lstStyle/>
          <a:p>
            <a:endParaRPr lang="zh-CN" altLang="en-US"/>
          </a:p>
        </p:txBody>
      </p:sp>
      <p:sp>
        <p:nvSpPr>
          <p:cNvPr id="8" name="Text 6"/>
          <p:cNvSpPr/>
          <p:nvPr/>
        </p:nvSpPr>
        <p:spPr>
          <a:xfrm>
            <a:off x="6451600" y="2160240"/>
            <a:ext cx="4813808"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4213D"/>
                </a:solidFill>
                <a:latin typeface="Arial" pitchFamily="34" charset="0"/>
                <a:ea typeface="Arial" pitchFamily="34" charset="-122"/>
                <a:cs typeface="Arial" pitchFamily="34" charset="-120"/>
              </a:rPr>
              <a:t>Hardware: 2 × NVIDIA H200 (141 GB each)</a:t>
            </a:r>
            <a:endParaRPr lang="en-US" sz="1800" dirty="0"/>
          </a:p>
        </p:txBody>
      </p:sp>
      <p:sp>
        <p:nvSpPr>
          <p:cNvPr id="9" name="Text 7"/>
          <p:cNvSpPr/>
          <p:nvPr/>
        </p:nvSpPr>
        <p:spPr>
          <a:xfrm>
            <a:off x="6451600" y="2536130"/>
            <a:ext cx="4813808" cy="2294890"/>
          </a:xfrm>
          <a:prstGeom prst="rect">
            <a:avLst/>
          </a:prstGeom>
          <a:noFill/>
          <a:ln/>
        </p:spPr>
        <p:txBody>
          <a:bodyPr wrap="square" lIns="0" tIns="0" rIns="0" bIns="0" rtlCol="0" anchor="t">
            <a:noAutofit/>
          </a:bodyPr>
          <a:lstStyle/>
          <a:p>
            <a:pPr marL="0" indent="0" algn="l">
              <a:lnSpc>
                <a:spcPts val="2250"/>
              </a:lnSpc>
              <a:spcAft>
                <a:spcPts val="600"/>
              </a:spcAft>
              <a:buNone/>
            </a:pPr>
            <a:r>
              <a:rPr lang="en-US" sz="1400" dirty="0">
                <a:solidFill>
                  <a:srgbClr val="4A5568"/>
                </a:solidFill>
                <a:latin typeface="Arial" pitchFamily="34" charset="0"/>
                <a:ea typeface="Arial" pitchFamily="34" charset="-122"/>
                <a:cs typeface="Arial" pitchFamily="34" charset="-120"/>
              </a:rPr>
              <a:t>• GPU 0: 32B tester (83 GB) + 7B generator (26 GB)</a:t>
            </a:r>
            <a:endParaRPr lang="en-US" sz="1500" dirty="0"/>
          </a:p>
          <a:p>
            <a:pPr marL="0" indent="0" algn="l">
              <a:lnSpc>
                <a:spcPts val="2250"/>
              </a:lnSpc>
              <a:spcAft>
                <a:spcPts val="600"/>
              </a:spcAft>
              <a:buNone/>
            </a:pPr>
            <a:r>
              <a:rPr lang="en-US" sz="1400" dirty="0">
                <a:solidFill>
                  <a:srgbClr val="4A5568"/>
                </a:solidFill>
                <a:latin typeface="Arial" pitchFamily="34" charset="0"/>
                <a:ea typeface="Arial" pitchFamily="34" charset="-122"/>
                <a:cs typeface="Arial" pitchFamily="34" charset="-120"/>
              </a:rPr>
              <a:t>• GPU 1: 72B memory model (113 GB) + bge-m3 (2 GB)</a:t>
            </a:r>
            <a:endParaRPr lang="en-US" sz="1500" dirty="0"/>
          </a:p>
          <a:p>
            <a:pPr marL="0" indent="0" algn="l">
              <a:lnSpc>
                <a:spcPts val="2250"/>
              </a:lnSpc>
              <a:spcAft>
                <a:spcPts val="600"/>
              </a:spcAft>
              <a:buNone/>
            </a:pPr>
            <a:r>
              <a:rPr lang="en-US" sz="1400" dirty="0">
                <a:solidFill>
                  <a:srgbClr val="4A5568"/>
                </a:solidFill>
                <a:latin typeface="Arial" pitchFamily="34" charset="0"/>
                <a:ea typeface="Arial" pitchFamily="34" charset="-122"/>
                <a:cs typeface="Arial" pitchFamily="34" charset="-120"/>
              </a:rPr>
              <a:t>• All self-hosted with vLLM; no paid API</a:t>
            </a:r>
            <a:endParaRPr lang="en-US" sz="1500" dirty="0"/>
          </a:p>
          <a:p>
            <a:pPr marL="0" indent="0" algn="l">
              <a:lnSpc>
                <a:spcPts val="2250"/>
              </a:lnSpc>
              <a:spcAft>
                <a:spcPts val="600"/>
              </a:spcAft>
              <a:buNone/>
            </a:pPr>
            <a:r>
              <a:rPr lang="en-US" sz="1400" dirty="0">
                <a:solidFill>
                  <a:srgbClr val="4A5568"/>
                </a:solidFill>
                <a:latin typeface="Arial" pitchFamily="34" charset="0"/>
                <a:ea typeface="Arial" pitchFamily="34" charset="-122"/>
                <a:cs typeface="Arial" pitchFamily="34" charset="-120"/>
              </a:rPr>
              <a:t>• Two tasks in parallel, about 12 min each</a:t>
            </a:r>
            <a:endParaRPr lang="en-US" sz="1500" dirty="0"/>
          </a:p>
          <a:p>
            <a:pPr marL="0" indent="0" algn="l">
              <a:lnSpc>
                <a:spcPts val="2250"/>
              </a:lnSpc>
              <a:spcAft>
                <a:spcPts val="600"/>
              </a:spcAft>
              <a:buNone/>
            </a:pPr>
            <a:r>
              <a:rPr lang="en-US" sz="1400" dirty="0">
                <a:solidFill>
                  <a:srgbClr val="4A5568"/>
                </a:solidFill>
                <a:latin typeface="Arial" pitchFamily="34" charset="0"/>
                <a:ea typeface="Arial" pitchFamily="34" charset="-122"/>
                <a:cs typeface="Arial" pitchFamily="34" charset="-120"/>
              </a:rPr>
              <a:t>• About 470 GPU-hours since 5 Oct</a:t>
            </a:r>
            <a:endParaRPr lang="en-US" sz="1500" dirty="0"/>
          </a:p>
          <a:p>
            <a:pPr marL="0" indent="0" algn="l">
              <a:lnSpc>
                <a:spcPts val="2250"/>
              </a:lnSpc>
              <a:spcAft>
                <a:spcPts val="600"/>
              </a:spcAft>
              <a:buNone/>
            </a:pPr>
            <a:r>
              <a:rPr lang="en-US" sz="1400" dirty="0">
                <a:solidFill>
                  <a:srgbClr val="4A5568"/>
                </a:solidFill>
                <a:latin typeface="Arial" pitchFamily="34" charset="0"/>
                <a:ea typeface="Arial" pitchFamily="34" charset="-122"/>
                <a:cs typeface="Arial" pitchFamily="34" charset="-120"/>
              </a:rPr>
              <a:t>• All runs finished in about 2 weeks</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11">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2A78D6"/>
                </a:solidFill>
                <a:latin typeface="Arial" pitchFamily="34" charset="0"/>
                <a:ea typeface="Arial" pitchFamily="34" charset="-122"/>
                <a:cs typeface="Arial" pitchFamily="34" charset="-120"/>
              </a:rPr>
              <a:t>Experiments</a:t>
            </a:r>
            <a:endParaRPr lang="en-US" sz="1400" dirty="0"/>
          </a:p>
        </p:txBody>
      </p:sp>
      <p:sp>
        <p:nvSpPr>
          <p:cNvPr id="3" name="Text 1"/>
          <p:cNvSpPr>
            <a:spLocks noGrp="1"/>
          </p:cNvSpPr>
          <p:nvPr>
            <p:ph type="title"/>
          </p:nvPr>
        </p:nvSpPr>
        <p:spPr>
          <a:xfrm>
            <a:off x="812800" y="982315"/>
            <a:ext cx="10883392" cy="463550"/>
          </a:xfrm>
          <a:prstGeom prst="rect">
            <a:avLst/>
          </a:prstGeom>
          <a:noFill/>
          <a:ln/>
        </p:spPr>
        <p:txBody>
          <a:bodyPr wrap="square" lIns="0" tIns="0" rIns="0" bIns="0" rtlCol="0" anchor="t">
            <a:normAutofit fontScale="90000"/>
          </a:bodyPr>
          <a:lstStyle/>
          <a:p>
            <a:pPr marL="0" indent="0" algn="l">
              <a:lnSpc>
                <a:spcPts val="3450"/>
              </a:lnSpc>
              <a:buNone/>
            </a:pPr>
            <a:r>
              <a:rPr lang="en-US" sz="3000" b="1" i="0" dirty="0">
                <a:solidFill>
                  <a:srgbClr val="14213D"/>
                </a:solidFill>
                <a:latin typeface="Georgia" pitchFamily="18" charset="0"/>
                <a:ea typeface="Georgia" pitchFamily="18" charset="-122"/>
                <a:cs typeface="Georgia" pitchFamily="18" charset="-120"/>
              </a:rPr>
              <a:t>What we compare, and in which task orders</a:t>
            </a:r>
            <a:endParaRPr lang="en-US" sz="3000" dirty="0"/>
          </a:p>
        </p:txBody>
      </p:sp>
      <p:graphicFrame>
        <p:nvGraphicFramePr>
          <p:cNvPr id="20" name="Arms"/>
          <p:cNvGraphicFramePr>
            <a:graphicFrameLocks noGrp="1"/>
          </p:cNvGraphicFramePr>
          <p:nvPr/>
        </p:nvGraphicFramePr>
        <p:xfrm>
          <a:off x="812800" y="1650000"/>
          <a:ext cx="10900000" cy="2030000"/>
        </p:xfrm>
        <a:graphic>
          <a:graphicData uri="http://schemas.openxmlformats.org/drawingml/2006/table">
            <a:tbl>
              <a:tblPr/>
              <a:tblGrid>
                <a:gridCol w="2900000">
                  <a:extLst>
                    <a:ext uri="{9D8B030D-6E8A-4147-A177-3AD203B41FA5}">
                      <a16:colId xmlns:a16="http://schemas.microsoft.com/office/drawing/2014/main" val="20000"/>
                    </a:ext>
                  </a:extLst>
                </a:gridCol>
                <a:gridCol w="4900000">
                  <a:extLst>
                    <a:ext uri="{9D8B030D-6E8A-4147-A177-3AD203B41FA5}">
                      <a16:colId xmlns:a16="http://schemas.microsoft.com/office/drawing/2014/main" val="20001"/>
                    </a:ext>
                  </a:extLst>
                </a:gridCol>
                <a:gridCol w="3100000">
                  <a:extLst>
                    <a:ext uri="{9D8B030D-6E8A-4147-A177-3AD203B41FA5}">
                      <a16:colId xmlns:a16="http://schemas.microsoft.com/office/drawing/2014/main" val="20002"/>
                    </a:ext>
                  </a:extLst>
                </a:gridCol>
              </a:tblGrid>
              <a:tr h="290000">
                <a:tc>
                  <a:txBody>
                    <a:bodyPr/>
                    <a:lstStyle/>
                    <a:p>
                      <a:r>
                        <a:rPr sz="1100" b="1">
                          <a:solidFill>
                            <a:srgbClr val="14213D"/>
                          </a:solidFill>
                          <a:latin typeface="Arial"/>
                        </a:rPr>
                        <a:t>Arm</a:t>
                      </a:r>
                    </a:p>
                  </a:txBody>
                  <a:tcPr marL="60000" marR="60000" marT="30000" marB="30000">
                    <a:solidFill>
                      <a:srgbClr val="EEF2F8"/>
                    </a:solidFill>
                  </a:tcPr>
                </a:tc>
                <a:tc>
                  <a:txBody>
                    <a:bodyPr/>
                    <a:lstStyle/>
                    <a:p>
                      <a:r>
                        <a:rPr sz="1100" b="1">
                          <a:solidFill>
                            <a:srgbClr val="14213D"/>
                          </a:solidFill>
                          <a:latin typeface="Arial"/>
                        </a:rPr>
                        <a:t>Question it answers</a:t>
                      </a:r>
                    </a:p>
                  </a:txBody>
                  <a:tcPr marL="60000" marR="60000" marT="30000" marB="30000">
                    <a:solidFill>
                      <a:srgbClr val="EEF2F8"/>
                    </a:solidFill>
                  </a:tcPr>
                </a:tc>
                <a:tc>
                  <a:txBody>
                    <a:bodyPr/>
                    <a:lstStyle/>
                    <a:p>
                      <a:r>
                        <a:rPr sz="1100" b="1">
                          <a:solidFill>
                            <a:srgbClr val="14213D"/>
                          </a:solidFill>
                          <a:latin typeface="Arial"/>
                        </a:rPr>
                        <a:t>Task orders</a:t>
                      </a:r>
                    </a:p>
                  </a:txBody>
                  <a:tcPr marL="60000" marR="60000" marT="30000" marB="30000">
                    <a:solidFill>
                      <a:srgbClr val="EEF2F8"/>
                    </a:solidFill>
                  </a:tcPr>
                </a:tc>
                <a:extLst>
                  <a:ext uri="{0D108BD9-81ED-4DB2-BD59-A6C34878D82A}">
                    <a16:rowId xmlns:a16="http://schemas.microsoft.com/office/drawing/2014/main" val="10000"/>
                  </a:ext>
                </a:extLst>
              </a:tr>
              <a:tr h="290000">
                <a:tc>
                  <a:txBody>
                    <a:bodyPr/>
                    <a:lstStyle/>
                    <a:p>
                      <a:r>
                        <a:rPr sz="1100" b="1">
                          <a:solidFill>
                            <a:srgbClr val="14213D"/>
                          </a:solidFill>
                          <a:latin typeface="Arial"/>
                        </a:rPr>
                        <a:t>No Memory</a:t>
                      </a:r>
                    </a:p>
                  </a:txBody>
                  <a:tcPr marL="60000" marR="60000" marT="30000" marB="30000">
                    <a:solidFill>
                      <a:srgbClr val="FFFFFF"/>
                    </a:solidFill>
                  </a:tcPr>
                </a:tc>
                <a:tc>
                  <a:txBody>
                    <a:bodyPr/>
                    <a:lstStyle/>
                    <a:p>
                      <a:r>
                        <a:rPr sz="1100" b="0">
                          <a:solidFill>
                            <a:srgbClr val="14213D"/>
                          </a:solidFill>
                          <a:latin typeface="Arial"/>
                        </a:rPr>
                        <a:t>Baseline: does it match the paper (28.4%)?</a:t>
                      </a:r>
                    </a:p>
                  </a:txBody>
                  <a:tcPr marL="60000" marR="60000" marT="30000" marB="30000">
                    <a:solidFill>
                      <a:srgbClr val="FFFFFF"/>
                    </a:solidFill>
                  </a:tcPr>
                </a:tc>
                <a:tc>
                  <a:txBody>
                    <a:bodyPr/>
                    <a:lstStyle/>
                    <a:p>
                      <a:r>
                        <a:rPr sz="1100" b="0">
                          <a:solidFill>
                            <a:srgbClr val="14213D"/>
                          </a:solidFill>
                          <a:latin typeface="Arial"/>
                        </a:rPr>
                        <a:t>Original, grouped, random</a:t>
                      </a:r>
                    </a:p>
                  </a:txBody>
                  <a:tcPr marL="60000" marR="60000" marT="30000" marB="30000">
                    <a:solidFill>
                      <a:srgbClr val="FFFFFF"/>
                    </a:solidFill>
                  </a:tcPr>
                </a:tc>
                <a:extLst>
                  <a:ext uri="{0D108BD9-81ED-4DB2-BD59-A6C34878D82A}">
                    <a16:rowId xmlns:a16="http://schemas.microsoft.com/office/drawing/2014/main" val="10001"/>
                  </a:ext>
                </a:extLst>
              </a:tr>
              <a:tr h="290000">
                <a:tc>
                  <a:txBody>
                    <a:bodyPr/>
                    <a:lstStyle/>
                    <a:p>
                      <a:r>
                        <a:rPr sz="1100" b="1">
                          <a:solidFill>
                            <a:srgbClr val="14213D"/>
                          </a:solidFill>
                          <a:latin typeface="Arial"/>
                        </a:rPr>
                        <a:t>Text memory</a:t>
                      </a:r>
                    </a:p>
                  </a:txBody>
                  <a:tcPr marL="60000" marR="60000" marT="30000" marB="30000">
                    <a:solidFill>
                      <a:srgbClr val="FFFFFF"/>
                    </a:solidFill>
                  </a:tcPr>
                </a:tc>
                <a:tc>
                  <a:txBody>
                    <a:bodyPr/>
                    <a:lstStyle/>
                    <a:p>
                      <a:r>
                        <a:rPr sz="1100" b="0">
                          <a:solidFill>
                            <a:srgbClr val="14213D"/>
                          </a:solidFill>
                          <a:latin typeface="Arial"/>
                        </a:rPr>
                        <a:t>Do written lessons help?</a:t>
                      </a:r>
                    </a:p>
                  </a:txBody>
                  <a:tcPr marL="60000" marR="60000" marT="30000" marB="30000">
                    <a:solidFill>
                      <a:srgbClr val="FFFFFF"/>
                    </a:solidFill>
                  </a:tcPr>
                </a:tc>
                <a:tc>
                  <a:txBody>
                    <a:bodyPr/>
                    <a:lstStyle/>
                    <a:p>
                      <a:r>
                        <a:rPr sz="1100" b="0">
                          <a:solidFill>
                            <a:srgbClr val="14213D"/>
                          </a:solidFill>
                          <a:latin typeface="Arial"/>
                        </a:rPr>
                        <a:t>Original</a:t>
                      </a:r>
                    </a:p>
                  </a:txBody>
                  <a:tcPr marL="60000" marR="60000" marT="30000" marB="30000">
                    <a:solidFill>
                      <a:srgbClr val="FFFFFF"/>
                    </a:solidFill>
                  </a:tcPr>
                </a:tc>
                <a:extLst>
                  <a:ext uri="{0D108BD9-81ED-4DB2-BD59-A6C34878D82A}">
                    <a16:rowId xmlns:a16="http://schemas.microsoft.com/office/drawing/2014/main" val="10002"/>
                  </a:ext>
                </a:extLst>
              </a:tr>
              <a:tr h="290000">
                <a:tc>
                  <a:txBody>
                    <a:bodyPr/>
                    <a:lstStyle/>
                    <a:p>
                      <a:r>
                        <a:rPr sz="1100" b="1">
                          <a:solidFill>
                            <a:srgbClr val="14213D"/>
                          </a:solidFill>
                          <a:latin typeface="Arial"/>
                        </a:rPr>
                        <a:t>Checklist only</a:t>
                      </a:r>
                    </a:p>
                  </a:txBody>
                  <a:tcPr marL="60000" marR="60000" marT="30000" marB="30000">
                    <a:solidFill>
                      <a:srgbClr val="FFFFFF"/>
                    </a:solidFill>
                  </a:tcPr>
                </a:tc>
                <a:tc>
                  <a:txBody>
                    <a:bodyPr/>
                    <a:lstStyle/>
                    <a:p>
                      <a:r>
                        <a:rPr sz="1100" b="0">
                          <a:solidFill>
                            <a:srgbClr val="14213D"/>
                          </a:solidFill>
                          <a:latin typeface="Arial"/>
                        </a:rPr>
                        <a:t>Does splitting the request into a list help?</a:t>
                      </a:r>
                    </a:p>
                  </a:txBody>
                  <a:tcPr marL="60000" marR="60000" marT="30000" marB="30000">
                    <a:solidFill>
                      <a:srgbClr val="FFFFFF"/>
                    </a:solidFill>
                  </a:tcPr>
                </a:tc>
                <a:tc>
                  <a:txBody>
                    <a:bodyPr/>
                    <a:lstStyle/>
                    <a:p>
                      <a:r>
                        <a:rPr sz="1100" b="0">
                          <a:solidFill>
                            <a:srgbClr val="14213D"/>
                          </a:solidFill>
                          <a:latin typeface="Arial"/>
                        </a:rPr>
                        <a:t>Original</a:t>
                      </a:r>
                    </a:p>
                  </a:txBody>
                  <a:tcPr marL="60000" marR="60000" marT="30000" marB="30000">
                    <a:solidFill>
                      <a:srgbClr val="FFFFFF"/>
                    </a:solidFill>
                  </a:tcPr>
                </a:tc>
                <a:extLst>
                  <a:ext uri="{0D108BD9-81ED-4DB2-BD59-A6C34878D82A}">
                    <a16:rowId xmlns:a16="http://schemas.microsoft.com/office/drawing/2014/main" val="10003"/>
                  </a:ext>
                </a:extLst>
              </a:tr>
              <a:tr h="290000">
                <a:tc>
                  <a:txBody>
                    <a:bodyPr/>
                    <a:lstStyle/>
                    <a:p>
                      <a:r>
                        <a:rPr sz="1100" b="1">
                          <a:solidFill>
                            <a:srgbClr val="14213D"/>
                          </a:solidFill>
                          <a:latin typeface="Arial"/>
                        </a:rPr>
                        <a:t>Code memory (whole-file)</a:t>
                      </a:r>
                    </a:p>
                  </a:txBody>
                  <a:tcPr marL="60000" marR="60000" marT="30000" marB="30000">
                    <a:solidFill>
                      <a:srgbClr val="FFFFFF"/>
                    </a:solidFill>
                  </a:tcPr>
                </a:tc>
                <a:tc>
                  <a:txBody>
                    <a:bodyPr/>
                    <a:lstStyle/>
                    <a:p>
                      <a:r>
                        <a:rPr sz="1100" b="0">
                          <a:solidFill>
                            <a:srgbClr val="14213D"/>
                          </a:solidFill>
                          <a:latin typeface="Arial"/>
                        </a:rPr>
                        <a:t>Do code examples help?</a:t>
                      </a:r>
                    </a:p>
                  </a:txBody>
                  <a:tcPr marL="60000" marR="60000" marT="30000" marB="30000">
                    <a:solidFill>
                      <a:srgbClr val="FFFFFF"/>
                    </a:solidFill>
                  </a:tcPr>
                </a:tc>
                <a:tc>
                  <a:txBody>
                    <a:bodyPr/>
                    <a:lstStyle/>
                    <a:p>
                      <a:r>
                        <a:rPr sz="1100" b="0">
                          <a:solidFill>
                            <a:srgbClr val="14213D"/>
                          </a:solidFill>
                          <a:latin typeface="Arial"/>
                        </a:rPr>
                        <a:t>Original, grouped, random</a:t>
                      </a:r>
                    </a:p>
                  </a:txBody>
                  <a:tcPr marL="60000" marR="60000" marT="30000" marB="30000">
                    <a:solidFill>
                      <a:srgbClr val="FFFFFF"/>
                    </a:solidFill>
                  </a:tcPr>
                </a:tc>
                <a:extLst>
                  <a:ext uri="{0D108BD9-81ED-4DB2-BD59-A6C34878D82A}">
                    <a16:rowId xmlns:a16="http://schemas.microsoft.com/office/drawing/2014/main" val="10004"/>
                  </a:ext>
                </a:extLst>
              </a:tr>
              <a:tr h="290000">
                <a:tc>
                  <a:txBody>
                    <a:bodyPr/>
                    <a:lstStyle/>
                    <a:p>
                      <a:r>
                        <a:rPr sz="1100" b="1">
                          <a:solidFill>
                            <a:srgbClr val="14213D"/>
                          </a:solidFill>
                          <a:latin typeface="Arial"/>
                        </a:rPr>
                        <a:t>Code memory (fragments), final</a:t>
                      </a:r>
                    </a:p>
                  </a:txBody>
                  <a:tcPr marL="60000" marR="60000" marT="30000" marB="30000">
                    <a:solidFill>
                      <a:srgbClr val="FFFFFF"/>
                    </a:solidFill>
                  </a:tcPr>
                </a:tc>
                <a:tc>
                  <a:txBody>
                    <a:bodyPr/>
                    <a:lstStyle/>
                    <a:p>
                      <a:r>
                        <a:rPr sz="1100" b="0">
                          <a:solidFill>
                            <a:srgbClr val="14213D"/>
                          </a:solidFill>
                          <a:latin typeface="Arial"/>
                        </a:rPr>
                        <a:t>Does the final method hold in other orders?</a:t>
                      </a:r>
                    </a:p>
                  </a:txBody>
                  <a:tcPr marL="60000" marR="60000" marT="30000" marB="30000">
                    <a:solidFill>
                      <a:srgbClr val="FFFFFF"/>
                    </a:solidFill>
                  </a:tcPr>
                </a:tc>
                <a:tc>
                  <a:txBody>
                    <a:bodyPr/>
                    <a:lstStyle/>
                    <a:p>
                      <a:r>
                        <a:rPr sz="1100" b="0">
                          <a:solidFill>
                            <a:srgbClr val="14213D"/>
                          </a:solidFill>
                          <a:latin typeface="Arial"/>
                        </a:rPr>
                        <a:t>Original, grouped, random (seed 47: running)</a:t>
                      </a:r>
                    </a:p>
                  </a:txBody>
                  <a:tcPr marL="60000" marR="60000" marT="30000" marB="30000">
                    <a:solidFill>
                      <a:srgbClr val="FFFFFF"/>
                    </a:solidFill>
                  </a:tcPr>
                </a:tc>
                <a:extLst>
                  <a:ext uri="{0D108BD9-81ED-4DB2-BD59-A6C34878D82A}">
                    <a16:rowId xmlns:a16="http://schemas.microsoft.com/office/drawing/2014/main" val="10005"/>
                  </a:ext>
                </a:extLst>
              </a:tr>
              <a:tr h="290000">
                <a:tc>
                  <a:txBody>
                    <a:bodyPr/>
                    <a:lstStyle/>
                    <a:p>
                      <a:r>
                        <a:rPr sz="1100" b="1">
                          <a:solidFill>
                            <a:srgbClr val="14213D"/>
                          </a:solidFill>
                          <a:latin typeface="Arial"/>
                        </a:rPr>
                        <a:t>Fixed code prefix</a:t>
                      </a:r>
                    </a:p>
                  </a:txBody>
                  <a:tcPr marL="60000" marR="60000" marT="30000" marB="30000">
                    <a:solidFill>
                      <a:srgbClr val="FFFFFF"/>
                    </a:solidFill>
                  </a:tcPr>
                </a:tc>
                <a:tc>
                  <a:txBody>
                    <a:bodyPr/>
                    <a:lstStyle/>
                    <a:p>
                      <a:r>
                        <a:rPr sz="1100" b="0">
                          <a:solidFill>
                            <a:srgbClr val="14213D"/>
                          </a:solidFill>
                          <a:latin typeface="Arial"/>
                        </a:rPr>
                        <a:t>Is it learning, or just code in the prompt?</a:t>
                      </a:r>
                    </a:p>
                  </a:txBody>
                  <a:tcPr marL="60000" marR="60000" marT="30000" marB="30000">
                    <a:solidFill>
                      <a:srgbClr val="FFFFFF"/>
                    </a:solidFill>
                  </a:tcPr>
                </a:tc>
                <a:tc>
                  <a:txBody>
                    <a:bodyPr/>
                    <a:lstStyle/>
                    <a:p>
                      <a:r>
                        <a:rPr sz="1100" b="0">
                          <a:solidFill>
                            <a:srgbClr val="14213D"/>
                          </a:solidFill>
                          <a:latin typeface="Arial"/>
                        </a:rPr>
                        <a:t>Original (queued after seed 47)</a:t>
                      </a:r>
                    </a:p>
                  </a:txBody>
                  <a:tcPr marL="60000" marR="60000" marT="30000" marB="30000">
                    <a:solidFill>
                      <a:srgbClr val="FFFFFF"/>
                    </a:solidFill>
                  </a:tcPr>
                </a:tc>
                <a:extLst>
                  <a:ext uri="{0D108BD9-81ED-4DB2-BD59-A6C34878D82A}">
                    <a16:rowId xmlns:a16="http://schemas.microsoft.com/office/drawing/2014/main" val="10006"/>
                  </a:ext>
                </a:extLst>
              </a:tr>
            </a:tbl>
          </a:graphicData>
        </a:graphic>
      </p:graphicFrame>
      <p:graphicFrame>
        <p:nvGraphicFramePr>
          <p:cNvPr id="21" name="Orders"/>
          <p:cNvGraphicFramePr>
            <a:graphicFrameLocks noGrp="1"/>
          </p:cNvGraphicFramePr>
          <p:nvPr/>
        </p:nvGraphicFramePr>
        <p:xfrm>
          <a:off x="812800" y="4000000"/>
          <a:ext cx="10900000" cy="1450000"/>
        </p:xfrm>
        <a:graphic>
          <a:graphicData uri="http://schemas.openxmlformats.org/drawingml/2006/table">
            <a:tbl>
              <a:tblPr/>
              <a:tblGrid>
                <a:gridCol w="2900000">
                  <a:extLst>
                    <a:ext uri="{9D8B030D-6E8A-4147-A177-3AD203B41FA5}">
                      <a16:colId xmlns:a16="http://schemas.microsoft.com/office/drawing/2014/main" val="20000"/>
                    </a:ext>
                  </a:extLst>
                </a:gridCol>
                <a:gridCol w="8000000">
                  <a:extLst>
                    <a:ext uri="{9D8B030D-6E8A-4147-A177-3AD203B41FA5}">
                      <a16:colId xmlns:a16="http://schemas.microsoft.com/office/drawing/2014/main" val="20001"/>
                    </a:ext>
                  </a:extLst>
                </a:gridCol>
              </a:tblGrid>
              <a:tr h="290000">
                <a:tc>
                  <a:txBody>
                    <a:bodyPr/>
                    <a:lstStyle/>
                    <a:p>
                      <a:r>
                        <a:rPr sz="1100" b="1">
                          <a:solidFill>
                            <a:srgbClr val="14213D"/>
                          </a:solidFill>
                          <a:latin typeface="Arial"/>
                        </a:rPr>
                        <a:t>Task order</a:t>
                      </a:r>
                    </a:p>
                  </a:txBody>
                  <a:tcPr marL="60000" marR="60000" marT="30000" marB="30000">
                    <a:solidFill>
                      <a:srgbClr val="EEF2F8"/>
                    </a:solidFill>
                  </a:tcPr>
                </a:tc>
                <a:tc>
                  <a:txBody>
                    <a:bodyPr/>
                    <a:lstStyle/>
                    <a:p>
                      <a:r>
                        <a:rPr sz="1100" b="1">
                          <a:solidFill>
                            <a:srgbClr val="14213D"/>
                          </a:solidFill>
                          <a:latin typeface="Arial"/>
                        </a:rPr>
                        <a:t>How the 101 tasks are arranged</a:t>
                      </a:r>
                    </a:p>
                  </a:txBody>
                  <a:tcPr marL="60000" marR="60000" marT="30000" marB="30000">
                    <a:solidFill>
                      <a:srgbClr val="EEF2F8"/>
                    </a:solidFill>
                  </a:tcPr>
                </a:tc>
                <a:extLst>
                  <a:ext uri="{0D108BD9-81ED-4DB2-BD59-A6C34878D82A}">
                    <a16:rowId xmlns:a16="http://schemas.microsoft.com/office/drawing/2014/main" val="10000"/>
                  </a:ext>
                </a:extLst>
              </a:tr>
              <a:tr h="290000">
                <a:tc>
                  <a:txBody>
                    <a:bodyPr/>
                    <a:lstStyle/>
                    <a:p>
                      <a:r>
                        <a:rPr sz="1100" b="1">
                          <a:solidFill>
                            <a:srgbClr val="14213D"/>
                          </a:solidFill>
                          <a:latin typeface="Arial"/>
                        </a:rPr>
                        <a:t>Original</a:t>
                      </a:r>
                    </a:p>
                  </a:txBody>
                  <a:tcPr marL="60000" marR="60000" marT="30000" marB="30000">
                    <a:solidFill>
                      <a:srgbClr val="FFFFFF"/>
                    </a:solidFill>
                  </a:tcPr>
                </a:tc>
                <a:tc>
                  <a:txBody>
                    <a:bodyPr/>
                    <a:lstStyle/>
                    <a:p>
                      <a:r>
                        <a:rPr sz="1100" b="0">
                          <a:solidFill>
                            <a:srgbClr val="14213D"/>
                          </a:solidFill>
                          <a:latin typeface="Arial"/>
                        </a:rPr>
                        <a:t>The benchmark list: tasks of the same domain (e.g. all e-commerce sites) come one after another</a:t>
                      </a:r>
                    </a:p>
                  </a:txBody>
                  <a:tcPr marL="60000" marR="60000" marT="30000" marB="30000">
                    <a:solidFill>
                      <a:srgbClr val="FFFFFF"/>
                    </a:solidFill>
                  </a:tcPr>
                </a:tc>
                <a:extLst>
                  <a:ext uri="{0D108BD9-81ED-4DB2-BD59-A6C34878D82A}">
                    <a16:rowId xmlns:a16="http://schemas.microsoft.com/office/drawing/2014/main" val="10001"/>
                  </a:ext>
                </a:extLst>
              </a:tr>
              <a:tr h="290000">
                <a:tc>
                  <a:txBody>
                    <a:bodyPr/>
                    <a:lstStyle/>
                    <a:p>
                      <a:r>
                        <a:rPr sz="1100" b="1">
                          <a:solidFill>
                            <a:srgbClr val="14213D"/>
                          </a:solidFill>
                          <a:latin typeface="Arial"/>
                        </a:rPr>
                        <a:t>Shuffled, domains grouped</a:t>
                      </a:r>
                    </a:p>
                  </a:txBody>
                  <a:tcPr marL="60000" marR="60000" marT="30000" marB="30000">
                    <a:solidFill>
                      <a:srgbClr val="FFFFFF"/>
                    </a:solidFill>
                  </a:tcPr>
                </a:tc>
                <a:tc>
                  <a:txBody>
                    <a:bodyPr/>
                    <a:lstStyle/>
                    <a:p>
                      <a:r>
                        <a:rPr sz="1100" b="0">
                          <a:solidFill>
                            <a:srgbClr val="14213D"/>
                          </a:solidFill>
                          <a:latin typeface="Arial"/>
                        </a:rPr>
                        <a:t>Domains in a random order, but each domain’s tasks still stay together</a:t>
                      </a:r>
                    </a:p>
                  </a:txBody>
                  <a:tcPr marL="60000" marR="60000" marT="30000" marB="30000">
                    <a:solidFill>
                      <a:srgbClr val="FFFFFF"/>
                    </a:solidFill>
                  </a:tcPr>
                </a:tc>
                <a:extLst>
                  <a:ext uri="{0D108BD9-81ED-4DB2-BD59-A6C34878D82A}">
                    <a16:rowId xmlns:a16="http://schemas.microsoft.com/office/drawing/2014/main" val="10002"/>
                  </a:ext>
                </a:extLst>
              </a:tr>
              <a:tr h="290000">
                <a:tc>
                  <a:txBody>
                    <a:bodyPr/>
                    <a:lstStyle/>
                    <a:p>
                      <a:r>
                        <a:rPr sz="1100" b="1">
                          <a:solidFill>
                            <a:srgbClr val="14213D"/>
                          </a:solidFill>
                          <a:latin typeface="Arial"/>
                        </a:rPr>
                        <a:t>Fully random</a:t>
                      </a:r>
                    </a:p>
                  </a:txBody>
                  <a:tcPr marL="60000" marR="60000" marT="30000" marB="30000">
                    <a:solidFill>
                      <a:srgbClr val="FFFFFF"/>
                    </a:solidFill>
                  </a:tcPr>
                </a:tc>
                <a:tc>
                  <a:txBody>
                    <a:bodyPr/>
                    <a:lstStyle/>
                    <a:p>
                      <a:r>
                        <a:rPr sz="1100" b="0">
                          <a:solidFill>
                            <a:srgbClr val="14213D"/>
                          </a:solidFill>
                          <a:latin typeface="Arial"/>
                        </a:rPr>
                        <a:t>All 101 tasks shuffled, so domains are mixed</a:t>
                      </a:r>
                    </a:p>
                  </a:txBody>
                  <a:tcPr marL="60000" marR="60000" marT="30000" marB="30000">
                    <a:solidFill>
                      <a:srgbClr val="FFFFFF"/>
                    </a:solidFill>
                  </a:tcPr>
                </a:tc>
                <a:extLst>
                  <a:ext uri="{0D108BD9-81ED-4DB2-BD59-A6C34878D82A}">
                    <a16:rowId xmlns:a16="http://schemas.microsoft.com/office/drawing/2014/main" val="10003"/>
                  </a:ext>
                </a:extLst>
              </a:tr>
              <a:tr h="290000">
                <a:tc>
                  <a:txBody>
                    <a:bodyPr/>
                    <a:lstStyle/>
                    <a:p>
                      <a:r>
                        <a:rPr sz="1100" b="1">
                          <a:solidFill>
                            <a:srgbClr val="14213D"/>
                          </a:solidFill>
                          <a:latin typeface="Arial"/>
                        </a:rPr>
                        <a:t>Alternating (running)</a:t>
                      </a:r>
                    </a:p>
                  </a:txBody>
                  <a:tcPr marL="60000" marR="60000" marT="30000" marB="30000">
                    <a:solidFill>
                      <a:srgbClr val="FFFFFF"/>
                    </a:solidFill>
                  </a:tcPr>
                </a:tc>
                <a:tc>
                  <a:txBody>
                    <a:bodyPr/>
                    <a:lstStyle/>
                    <a:p>
                      <a:r>
                        <a:rPr sz="1100" b="0">
                          <a:solidFill>
                            <a:srgbClr val="14213D"/>
                          </a:solidFill>
                          <a:latin typeface="Arial"/>
                        </a:rPr>
                        <a:t>Every next task comes from a different domain</a:t>
                      </a:r>
                    </a:p>
                  </a:txBody>
                  <a:tcPr marL="60000" marR="60000" marT="30000" marB="30000">
                    <a:solidFill>
                      <a:srgbClr val="FFFFFF"/>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5">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2A78D6"/>
                </a:solidFill>
                <a:latin typeface="Arial" pitchFamily="34" charset="0"/>
                <a:ea typeface="Arial" pitchFamily="34" charset="-122"/>
                <a:cs typeface="Arial" pitchFamily="34" charset="-120"/>
              </a:rPr>
              <a:t>First attempt: text lessons</a:t>
            </a:r>
            <a:endParaRPr lang="en-US" sz="1400" dirty="0"/>
          </a:p>
        </p:txBody>
      </p:sp>
      <p:sp>
        <p:nvSpPr>
          <p:cNvPr id="3" name="Text 1"/>
          <p:cNvSpPr>
            <a:spLocks noGrp="1"/>
          </p:cNvSpPr>
          <p:nvPr>
            <p:ph type="title"/>
          </p:nvPr>
        </p:nvSpPr>
        <p:spPr>
          <a:xfrm>
            <a:off x="812800" y="1214090"/>
            <a:ext cx="11379200" cy="463550"/>
          </a:xfrm>
          <a:prstGeom prst="rect">
            <a:avLst/>
          </a:prstGeom>
          <a:noFill/>
          <a:ln/>
        </p:spPr>
        <p:txBody>
          <a:bodyPr wrap="square" lIns="0" tIns="0" rIns="0" bIns="0" rtlCol="0" anchor="t">
            <a:normAutofit/>
          </a:bodyPr>
          <a:lstStyle/>
          <a:p>
            <a:pPr marL="0" indent="0" algn="l">
              <a:lnSpc>
                <a:spcPts val="3450"/>
              </a:lnSpc>
              <a:buNone/>
            </a:pPr>
            <a:r>
              <a:rPr lang="en-US" sz="3000" b="1" i="0" dirty="0">
                <a:solidFill>
                  <a:srgbClr val="14213D"/>
                </a:solidFill>
                <a:latin typeface="Georgia" pitchFamily="18" charset="0"/>
                <a:ea typeface="Georgia" pitchFamily="18" charset="-122"/>
                <a:cs typeface="Georgia" pitchFamily="18" charset="-120"/>
              </a:rPr>
              <a:t>Text lessons helped early, then fell below the baseline</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918940"/>
          <a:ext cx="10553700" cy="1318023"/>
        </p:xfrm>
        <a:graphic>
          <a:graphicData uri="http://schemas.openxmlformats.org/drawingml/2006/table">
            <a:tbl>
              <a:tblPr/>
              <a:tblGrid>
                <a:gridCol w="4221480">
                  <a:extLst>
                    <a:ext uri="{9D8B030D-6E8A-4147-A177-3AD203B41FA5}">
                      <a16:colId xmlns:a16="http://schemas.microsoft.com/office/drawing/2014/main" val="20000"/>
                    </a:ext>
                  </a:extLst>
                </a:gridCol>
                <a:gridCol w="3166110">
                  <a:extLst>
                    <a:ext uri="{9D8B030D-6E8A-4147-A177-3AD203B41FA5}">
                      <a16:colId xmlns:a16="http://schemas.microsoft.com/office/drawing/2014/main" val="20001"/>
                    </a:ext>
                  </a:extLst>
                </a:gridCol>
                <a:gridCol w="3166110">
                  <a:extLst>
                    <a:ext uri="{9D8B030D-6E8A-4147-A177-3AD203B41FA5}">
                      <a16:colId xmlns:a16="http://schemas.microsoft.com/office/drawing/2014/main" val="20002"/>
                    </a:ext>
                  </a:extLst>
                </a:gridCol>
              </a:tblGrid>
              <a:tr h="439341">
                <a:tc>
                  <a:txBody>
                    <a:bodyPr/>
                    <a:lstStyle/>
                    <a:p>
                      <a:pPr marL="0" indent="0">
                        <a:lnSpc>
                          <a:spcPts val="2240"/>
                        </a:lnSpc>
                        <a:buNone/>
                      </a:pPr>
                      <a:r>
                        <a:rPr lang="en-US" sz="1600" b="1" dirty="0">
                          <a:solidFill>
                            <a:srgbClr val="14213D"/>
                          </a:solidFill>
                          <a:latin typeface="Arial" pitchFamily="34" charset="0"/>
                          <a:ea typeface="Arial" pitchFamily="34" charset="-122"/>
                          <a:cs typeface="Arial" pitchFamily="34" charset="-120"/>
                        </a:rPr>
                        <a:t>Tasks</a:t>
                      </a:r>
                      <a:endParaRPr lang="en-US" sz="1600" dirty="0">
                        <a:latin typeface="Arial" charset="0"/>
                        <a:ea typeface="Arial" charset="0"/>
                        <a:cs typeface="Arial" charset="0"/>
                      </a:endParaRPr>
                    </a:p>
                  </a:txBody>
                  <a:tcPr marL="71120" marR="71120" marT="71120" marB="71120">
                    <a:lnL w="12700" cap="flat" cmpd="sng" algn="ctr">
                      <a:solidFill>
                        <a:srgbClr val="C8C8C6"/>
                      </a:solidFill>
                      <a:prstDash val="solid"/>
                      <a:round/>
                      <a:headEnd type="none" w="med" len="med"/>
                      <a:tailEnd type="none" w="med" len="med"/>
                    </a:lnL>
                    <a:lnR w="12700" cap="flat" cmpd="sng" algn="ctr">
                      <a:solidFill>
                        <a:srgbClr val="BABAB8"/>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ABAB8"/>
                      </a:solidFill>
                      <a:prstDash val="solid"/>
                      <a:round/>
                      <a:headEnd type="none" w="med" len="med"/>
                      <a:tailEnd type="none" w="med" len="med"/>
                    </a:lnB>
                    <a:solidFill>
                      <a:srgbClr val="E9E9E6"/>
                    </a:solidFill>
                  </a:tcPr>
                </a:tc>
                <a:tc>
                  <a:txBody>
                    <a:bodyPr/>
                    <a:lstStyle/>
                    <a:p>
                      <a:pPr marL="0" indent="0" algn="r">
                        <a:lnSpc>
                          <a:spcPts val="2240"/>
                        </a:lnSpc>
                        <a:buNone/>
                      </a:pPr>
                      <a:r>
                        <a:rPr lang="en-US" sz="1600" b="1" dirty="0">
                          <a:solidFill>
                            <a:srgbClr val="14213D"/>
                          </a:solidFill>
                          <a:latin typeface="Arial" pitchFamily="34" charset="0"/>
                          <a:ea typeface="Arial" pitchFamily="34" charset="-122"/>
                          <a:cs typeface="Arial" pitchFamily="34" charset="-120"/>
                        </a:rPr>
                        <a:t>No Memory</a:t>
                      </a:r>
                      <a:endParaRPr lang="en-US" sz="1600" dirty="0">
                        <a:latin typeface="Arial" charset="0"/>
                        <a:ea typeface="Arial" charset="0"/>
                        <a:cs typeface="Arial" charset="0"/>
                      </a:endParaRPr>
                    </a:p>
                  </a:txBody>
                  <a:tcPr marL="71120" marR="71120" marT="71120" marB="71120">
                    <a:lnL w="12700" cap="flat" cmpd="sng" algn="ctr">
                      <a:solidFill>
                        <a:srgbClr val="BABAB8"/>
                      </a:solidFill>
                      <a:prstDash val="solid"/>
                      <a:round/>
                      <a:headEnd type="none" w="med" len="med"/>
                      <a:tailEnd type="none" w="med" len="med"/>
                    </a:lnL>
                    <a:lnR w="12700" cap="flat" cmpd="sng" algn="ctr">
                      <a:solidFill>
                        <a:srgbClr val="BABAB8"/>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ABAB8"/>
                      </a:solidFill>
                      <a:prstDash val="solid"/>
                      <a:round/>
                      <a:headEnd type="none" w="med" len="med"/>
                      <a:tailEnd type="none" w="med" len="med"/>
                    </a:lnB>
                    <a:solidFill>
                      <a:srgbClr val="E9E9E6"/>
                    </a:solidFill>
                  </a:tcPr>
                </a:tc>
                <a:tc>
                  <a:txBody>
                    <a:bodyPr/>
                    <a:lstStyle/>
                    <a:p>
                      <a:pPr marL="0" indent="0" algn="r">
                        <a:lnSpc>
                          <a:spcPts val="2240"/>
                        </a:lnSpc>
                        <a:buNone/>
                      </a:pPr>
                      <a:r>
                        <a:rPr lang="en-US" sz="1600" b="1" dirty="0">
                          <a:solidFill>
                            <a:srgbClr val="14213D"/>
                          </a:solidFill>
                          <a:latin typeface="Arial" pitchFamily="34" charset="0"/>
                          <a:ea typeface="Arial" pitchFamily="34" charset="-122"/>
                          <a:cs typeface="Arial" pitchFamily="34" charset="-120"/>
                        </a:rPr>
                        <a:t>Text memory</a:t>
                      </a:r>
                      <a:endParaRPr lang="en-US" sz="1600" dirty="0">
                        <a:latin typeface="Arial" charset="0"/>
                        <a:ea typeface="Arial" charset="0"/>
                        <a:cs typeface="Arial" charset="0"/>
                      </a:endParaRPr>
                    </a:p>
                  </a:txBody>
                  <a:tcPr marL="71120" marR="71120" marT="71120" marB="71120">
                    <a:lnL w="12700" cap="flat" cmpd="sng" algn="ctr">
                      <a:solidFill>
                        <a:srgbClr val="BABAB8"/>
                      </a:solidFill>
                      <a:prstDash val="solid"/>
                      <a:round/>
                      <a:headEnd type="none" w="med" len="med"/>
                      <a:tailEnd type="none" w="med" len="med"/>
                    </a:lnL>
                    <a:lnR w="12700" cap="flat" cmpd="sng" algn="ctr">
                      <a:solidFill>
                        <a:srgbClr val="BABAB8"/>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ABAB8"/>
                      </a:solidFill>
                      <a:prstDash val="solid"/>
                      <a:round/>
                      <a:headEnd type="none" w="med" len="med"/>
                      <a:tailEnd type="none" w="med" len="med"/>
                    </a:lnB>
                    <a:solidFill>
                      <a:srgbClr val="E9E9E6"/>
                    </a:solidFill>
                  </a:tcPr>
                </a:tc>
                <a:extLst>
                  <a:ext uri="{0D108BD9-81ED-4DB2-BD59-A6C34878D82A}">
                    <a16:rowId xmlns:a16="http://schemas.microsoft.com/office/drawing/2014/main" val="10000"/>
                  </a:ext>
                </a:extLst>
              </a:tr>
              <a:tr h="439341">
                <a:tc>
                  <a:txBody>
                    <a:bodyPr/>
                    <a:lstStyle/>
                    <a:p>
                      <a:pPr marL="0" indent="0">
                        <a:lnSpc>
                          <a:spcPts val="2240"/>
                        </a:lnSpc>
                        <a:buNone/>
                      </a:pPr>
                      <a:r>
                        <a:rPr lang="en-US" sz="1600" dirty="0">
                          <a:solidFill>
                            <a:srgbClr val="14213D"/>
                          </a:solidFill>
                          <a:latin typeface="Arial" pitchFamily="34" charset="0"/>
                          <a:ea typeface="Arial" pitchFamily="34" charset="-122"/>
                          <a:cs typeface="Arial" pitchFamily="34" charset="-120"/>
                        </a:rPr>
                        <a:t>Tasks 1–30</a:t>
                      </a:r>
                      <a:endParaRPr lang="en-US" sz="1600" dirty="0">
                        <a:latin typeface="Arial" charset="0"/>
                        <a:ea typeface="Arial" charset="0"/>
                        <a:cs typeface="Arial" charset="0"/>
                      </a:endParaRPr>
                    </a:p>
                  </a:txBody>
                  <a:tcPr marL="71120" marR="71120" marT="71120" marB="7112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ABAB8"/>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gn="r">
                        <a:lnSpc>
                          <a:spcPts val="2240"/>
                        </a:lnSpc>
                        <a:buNone/>
                      </a:pPr>
                      <a:r>
                        <a:rPr lang="en-US" sz="1600" dirty="0">
                          <a:solidFill>
                            <a:srgbClr val="14213D"/>
                          </a:solidFill>
                          <a:latin typeface="Arial" pitchFamily="34" charset="0"/>
                          <a:ea typeface="Arial" pitchFamily="34" charset="-122"/>
                          <a:cs typeface="Arial" pitchFamily="34" charset="-120"/>
                        </a:rPr>
                        <a:t>26.0%</a:t>
                      </a:r>
                      <a:endParaRPr lang="en-US" sz="1600" dirty="0">
                        <a:latin typeface="Arial" charset="0"/>
                        <a:ea typeface="Arial" charset="0"/>
                        <a:cs typeface="Arial" charset="0"/>
                      </a:endParaRPr>
                    </a:p>
                  </a:txBody>
                  <a:tcPr marL="71120" marR="71120" marT="71120" marB="7112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ABAB8"/>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gn="r">
                        <a:lnSpc>
                          <a:spcPts val="2240"/>
                        </a:lnSpc>
                        <a:buNone/>
                      </a:pPr>
                      <a:r>
                        <a:rPr lang="en-US" sz="1600" dirty="0">
                          <a:solidFill>
                            <a:srgbClr val="14213D"/>
                          </a:solidFill>
                          <a:latin typeface="Arial" pitchFamily="34" charset="0"/>
                          <a:ea typeface="Arial" pitchFamily="34" charset="-122"/>
                          <a:cs typeface="Arial" pitchFamily="34" charset="-120"/>
                        </a:rPr>
                        <a:t>39.3%</a:t>
                      </a:r>
                      <a:endParaRPr lang="en-US" sz="1600" dirty="0">
                        <a:latin typeface="Arial" charset="0"/>
                        <a:ea typeface="Arial" charset="0"/>
                        <a:cs typeface="Arial" charset="0"/>
                      </a:endParaRPr>
                    </a:p>
                  </a:txBody>
                  <a:tcPr marL="71120" marR="71120" marT="71120" marB="7112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ABAB8"/>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1"/>
                  </a:ext>
                </a:extLst>
              </a:tr>
              <a:tr h="439341">
                <a:tc>
                  <a:txBody>
                    <a:bodyPr/>
                    <a:lstStyle/>
                    <a:p>
                      <a:pPr marL="0" indent="0">
                        <a:lnSpc>
                          <a:spcPts val="2240"/>
                        </a:lnSpc>
                        <a:buNone/>
                      </a:pPr>
                      <a:r>
                        <a:rPr lang="en-US" sz="1600" dirty="0">
                          <a:solidFill>
                            <a:srgbClr val="14213D"/>
                          </a:solidFill>
                          <a:latin typeface="Arial" pitchFamily="34" charset="0"/>
                          <a:ea typeface="Arial" pitchFamily="34" charset="-122"/>
                          <a:cs typeface="Arial" pitchFamily="34" charset="-120"/>
                        </a:rPr>
                        <a:t>Tasks 61–101</a:t>
                      </a:r>
                      <a:endParaRPr lang="en-US" sz="1600" dirty="0">
                        <a:latin typeface="Arial" charset="0"/>
                        <a:ea typeface="Arial" charset="0"/>
                        <a:cs typeface="Arial" charset="0"/>
                      </a:endParaRPr>
                    </a:p>
                  </a:txBody>
                  <a:tcPr marL="71120" marR="71120" marT="71120" marB="7112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gn="r">
                        <a:lnSpc>
                          <a:spcPts val="2240"/>
                        </a:lnSpc>
                        <a:buNone/>
                      </a:pPr>
                      <a:r>
                        <a:rPr lang="en-US" sz="1600" dirty="0">
                          <a:solidFill>
                            <a:srgbClr val="14213D"/>
                          </a:solidFill>
                          <a:latin typeface="Arial" pitchFamily="34" charset="0"/>
                          <a:ea typeface="Arial" pitchFamily="34" charset="-122"/>
                          <a:cs typeface="Arial" pitchFamily="34" charset="-120"/>
                        </a:rPr>
                        <a:t>24.8%</a:t>
                      </a:r>
                      <a:endParaRPr lang="en-US" sz="1600" dirty="0">
                        <a:latin typeface="Arial" charset="0"/>
                        <a:ea typeface="Arial" charset="0"/>
                        <a:cs typeface="Arial" charset="0"/>
                      </a:endParaRPr>
                    </a:p>
                  </a:txBody>
                  <a:tcPr marL="71120" marR="71120" marT="71120" marB="7112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gn="r">
                        <a:lnSpc>
                          <a:spcPts val="2240"/>
                        </a:lnSpc>
                        <a:buNone/>
                      </a:pPr>
                      <a:r>
                        <a:rPr lang="en-US" sz="1600" dirty="0">
                          <a:solidFill>
                            <a:srgbClr val="14213D"/>
                          </a:solidFill>
                          <a:latin typeface="Arial" pitchFamily="34" charset="0"/>
                          <a:ea typeface="Arial" pitchFamily="34" charset="-122"/>
                          <a:cs typeface="Arial" pitchFamily="34" charset="-120"/>
                        </a:rPr>
                        <a:t>22.9%</a:t>
                      </a:r>
                      <a:endParaRPr lang="en-US" sz="1600" dirty="0">
                        <a:latin typeface="Arial" charset="0"/>
                        <a:ea typeface="Arial" charset="0"/>
                        <a:cs typeface="Arial" charset="0"/>
                      </a:endParaRPr>
                    </a:p>
                  </a:txBody>
                  <a:tcPr marL="71120" marR="71120" marT="71120" marB="7112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5" name="Text 2"/>
          <p:cNvSpPr/>
          <p:nvPr/>
        </p:nvSpPr>
        <p:spPr>
          <a:xfrm>
            <a:off x="812800" y="3490962"/>
            <a:ext cx="10883392" cy="596900"/>
          </a:xfrm>
          <a:prstGeom prst="rect">
            <a:avLst/>
          </a:prstGeom>
          <a:noFill/>
          <a:ln/>
        </p:spPr>
        <p:txBody>
          <a:bodyPr wrap="square" lIns="0" tIns="0" rIns="0" bIns="0" rtlCol="0" anchor="t">
            <a:normAutofit/>
          </a:bodyPr>
          <a:lstStyle/>
          <a:p>
            <a:pPr marL="0" indent="0" algn="l">
              <a:lnSpc>
                <a:spcPts val="2250"/>
              </a:lnSpc>
              <a:buNone/>
            </a:pPr>
            <a:r>
              <a:rPr lang="en-US" sz="1500" dirty="0">
                <a:solidFill>
                  <a:srgbClr val="4A5568"/>
                </a:solidFill>
                <a:latin typeface="Arial" pitchFamily="34" charset="0"/>
                <a:ea typeface="Arial" pitchFamily="34" charset="-122"/>
                <a:cs typeface="Arial" pitchFamily="34" charset="-120"/>
              </a:rPr>
              <a:t>Over time, more and more vague advice filled the prompt, such as "make sure the form works". The small model could not act on it.</a:t>
            </a:r>
            <a:endParaRPr lang="en-US" sz="1500" dirty="0"/>
          </a:p>
        </p:txBody>
      </p:sp>
      <p:sp>
        <p:nvSpPr>
          <p:cNvPr id="6" name="Shape 3"/>
          <p:cNvSpPr/>
          <p:nvPr/>
        </p:nvSpPr>
        <p:spPr>
          <a:xfrm>
            <a:off x="825500" y="4316462"/>
            <a:ext cx="0" cy="220960"/>
          </a:xfrm>
          <a:prstGeom prst="line">
            <a:avLst/>
          </a:prstGeom>
          <a:noFill/>
          <a:ln w="25400">
            <a:solidFill>
              <a:srgbClr val="2A78D6"/>
            </a:solidFill>
            <a:prstDash val="solid"/>
          </a:ln>
        </p:spPr>
        <p:txBody>
          <a:bodyPr/>
          <a:lstStyle/>
          <a:p>
            <a:endParaRPr lang="zh-CN" altLang="en-US"/>
          </a:p>
        </p:txBody>
      </p:sp>
      <p:sp>
        <p:nvSpPr>
          <p:cNvPr id="7" name="Text 4"/>
          <p:cNvSpPr/>
          <p:nvPr/>
        </p:nvSpPr>
        <p:spPr>
          <a:xfrm>
            <a:off x="939800" y="4316462"/>
            <a:ext cx="10752582" cy="246360"/>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4A5568"/>
                </a:solidFill>
                <a:latin typeface="Arial" pitchFamily="34" charset="0"/>
                <a:ea typeface="Arial" pitchFamily="34" charset="-122"/>
                <a:cs typeface="Arial" pitchFamily="34" charset="-120"/>
              </a:rPr>
              <a:t>Each number is the accuracy on that group of tasks, in execution order. Tasks 31–60 are left out to show the start and the end clearly.</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2A78D6"/>
                </a:solidFill>
                <a:latin typeface="Arial" pitchFamily="34" charset="0"/>
                <a:ea typeface="Arial" pitchFamily="34" charset="-122"/>
                <a:cs typeface="Arial" pitchFamily="34" charset="-120"/>
              </a:rPr>
              <a:t>What the tester sees · task 000006, a solar dashboard</a:t>
            </a:r>
            <a:endParaRPr lang="en-US" sz="1400" dirty="0"/>
          </a:p>
        </p:txBody>
      </p:sp>
      <p:sp>
        <p:nvSpPr>
          <p:cNvPr id="3" name="Text 1"/>
          <p:cNvSpPr>
            <a:spLocks noGrp="1"/>
          </p:cNvSpPr>
          <p:nvPr>
            <p:ph type="title"/>
          </p:nvPr>
        </p:nvSpPr>
        <p:spPr>
          <a:xfrm>
            <a:off x="812800" y="1214090"/>
            <a:ext cx="10883392" cy="463550"/>
          </a:xfrm>
          <a:prstGeom prst="rect">
            <a:avLst/>
          </a:prstGeom>
          <a:noFill/>
          <a:ln/>
        </p:spPr>
        <p:txBody>
          <a:bodyPr wrap="square" lIns="0" tIns="0" rIns="0" bIns="0" rtlCol="0" anchor="t">
            <a:normAutofit/>
          </a:bodyPr>
          <a:lstStyle/>
          <a:p>
            <a:pPr marL="0" indent="0" algn="l">
              <a:lnSpc>
                <a:spcPts val="3450"/>
              </a:lnSpc>
              <a:buNone/>
            </a:pPr>
            <a:r>
              <a:rPr lang="en-US" sz="3000" b="1" i="0" dirty="0">
                <a:solidFill>
                  <a:srgbClr val="14213D"/>
                </a:solidFill>
                <a:latin typeface="Georgia" pitchFamily="18" charset="0"/>
                <a:ea typeface="Georgia" pitchFamily="18" charset="-122"/>
                <a:cs typeface="Georgia" pitchFamily="18" charset="-120"/>
              </a:rPr>
              <a:t>One missing package turns the whole site into an error page</a:t>
            </a:r>
            <a:endParaRPr lang="en-US" sz="3000" dirty="0"/>
          </a:p>
        </p:txBody>
      </p:sp>
      <p:pic>
        <p:nvPicPr>
          <p:cNvPr id="4" name="Picture 3" descr="006_nomem.png"/>
          <p:cNvPicPr>
            <a:picLocks noChangeAspect="1"/>
          </p:cNvPicPr>
          <p:nvPr/>
        </p:nvPicPr>
        <p:blipFill>
          <a:blip r:embed="rId3"/>
          <a:stretch>
            <a:fillRect/>
          </a:stretch>
        </p:blipFill>
        <p:spPr>
          <a:xfrm>
            <a:off x="609600" y="1827640"/>
            <a:ext cx="5242560" cy="3199805"/>
          </a:xfrm>
          <a:prstGeom prst="rect">
            <a:avLst/>
          </a:prstGeom>
        </p:spPr>
      </p:pic>
      <p:pic>
        <p:nvPicPr>
          <p:cNvPr id="5" name="Picture 4" descr="006_longmem_v9_1.png"/>
          <p:cNvPicPr>
            <a:picLocks noChangeAspect="1"/>
          </p:cNvPicPr>
          <p:nvPr/>
        </p:nvPicPr>
        <p:blipFill>
          <a:blip r:embed="rId4"/>
          <a:stretch>
            <a:fillRect/>
          </a:stretch>
        </p:blipFill>
        <p:spPr>
          <a:xfrm>
            <a:off x="6339840" y="1827640"/>
            <a:ext cx="5242560" cy="3199805"/>
          </a:xfrm>
          <a:prstGeom prst="rect">
            <a:avLst/>
          </a:prstGeom>
        </p:spPr>
      </p:pic>
      <p:sp>
        <p:nvSpPr>
          <p:cNvPr id="6" name="TextBox 5"/>
          <p:cNvSpPr txBox="1"/>
          <p:nvPr/>
        </p:nvSpPr>
        <p:spPr>
          <a:xfrm>
            <a:off x="609600" y="5087445"/>
            <a:ext cx="5242560" cy="400000"/>
          </a:xfrm>
          <a:prstGeom prst="rect">
            <a:avLst/>
          </a:prstGeom>
          <a:noFill/>
        </p:spPr>
        <p:txBody>
          <a:bodyPr wrap="square">
            <a:spAutoFit/>
          </a:bodyPr>
          <a:lstStyle/>
          <a:p>
            <a:r>
              <a:rPr sz="1200"/>
              <a:t>No Memory: imports vue-chartjs, which is not installed → score 0</a:t>
            </a:r>
          </a:p>
        </p:txBody>
      </p:sp>
      <p:sp>
        <p:nvSpPr>
          <p:cNvPr id="7" name="TextBox 6"/>
          <p:cNvSpPr txBox="1"/>
          <p:nvPr/>
        </p:nvSpPr>
        <p:spPr>
          <a:xfrm>
            <a:off x="6339840" y="5087445"/>
            <a:ext cx="5242560" cy="400000"/>
          </a:xfrm>
          <a:prstGeom prst="rect">
            <a:avLst/>
          </a:prstGeom>
          <a:noFill/>
        </p:spPr>
        <p:txBody>
          <a:bodyPr wrap="square">
            <a:spAutoFit/>
          </a:bodyPr>
          <a:lstStyle/>
          <a:p>
            <a:r>
              <a:rPr sz="1200"/>
              <a:t>Code memory (fragments): three working views → score 1.0</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6">
    <p:bg>
      <p:bgPr>
        <a:solidFill>
          <a:srgbClr val="14213D"/>
        </a:solidFill>
        <a:effectLst/>
      </p:bgPr>
    </p:bg>
    <p:spTree>
      <p:nvGrpSpPr>
        <p:cNvPr id="1" name=""/>
        <p:cNvGrpSpPr/>
        <p:nvPr/>
      </p:nvGrpSpPr>
      <p:grpSpPr>
        <a:xfrm>
          <a:off x="0" y="0"/>
          <a:ext cx="0" cy="0"/>
          <a:chOff x="0" y="0"/>
          <a:chExt cx="0" cy="0"/>
        </a:xfrm>
      </p:grpSpPr>
      <p:sp>
        <p:nvSpPr>
          <p:cNvPr id="2" name="Text 0"/>
          <p:cNvSpPr/>
          <p:nvPr/>
        </p:nvSpPr>
        <p:spPr>
          <a:xfrm>
            <a:off x="812800" y="1748830"/>
            <a:ext cx="10883392"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8FB8EE"/>
                </a:solidFill>
                <a:latin typeface="Arial" pitchFamily="34" charset="0"/>
                <a:ea typeface="Arial" pitchFamily="34" charset="-122"/>
                <a:cs typeface="Arial" pitchFamily="34" charset="-120"/>
              </a:rPr>
              <a:t>Key finding</a:t>
            </a:r>
            <a:endParaRPr lang="en-US" sz="1400" dirty="0"/>
          </a:p>
        </p:txBody>
      </p:sp>
      <p:sp>
        <p:nvSpPr>
          <p:cNvPr id="3" name="Text 1"/>
          <p:cNvSpPr>
            <a:spLocks noGrp="1"/>
          </p:cNvSpPr>
          <p:nvPr>
            <p:ph type="title"/>
          </p:nvPr>
        </p:nvSpPr>
        <p:spPr>
          <a:xfrm>
            <a:off x="812800" y="2302520"/>
            <a:ext cx="10883392" cy="609600"/>
          </a:xfrm>
          <a:prstGeom prst="rect">
            <a:avLst/>
          </a:prstGeom>
          <a:noFill/>
          <a:ln/>
        </p:spPr>
        <p:txBody>
          <a:bodyPr wrap="square" lIns="0" tIns="0" rIns="0" bIns="0" rtlCol="0" anchor="t">
            <a:normAutofit/>
          </a:bodyPr>
          <a:lstStyle/>
          <a:p>
            <a:pPr marL="0" indent="0" algn="l">
              <a:lnSpc>
                <a:spcPts val="4600"/>
              </a:lnSpc>
              <a:buNone/>
            </a:pPr>
            <a:r>
              <a:rPr lang="en-US" sz="4000" b="1" i="0" dirty="0">
                <a:solidFill>
                  <a:srgbClr val="F4F1EA"/>
                </a:solidFill>
                <a:latin typeface="Georgia" pitchFamily="18" charset="0"/>
                <a:ea typeface="Georgia" pitchFamily="18" charset="-122"/>
                <a:cs typeface="Georgia" pitchFamily="18" charset="-120"/>
              </a:rPr>
              <a:t>The small model follows code, not text</a:t>
            </a:r>
            <a:endParaRPr lang="en-US" sz="4000" dirty="0"/>
          </a:p>
        </p:txBody>
      </p:sp>
      <p:sp>
        <p:nvSpPr>
          <p:cNvPr id="4" name="Text 2"/>
          <p:cNvSpPr/>
          <p:nvPr/>
        </p:nvSpPr>
        <p:spPr>
          <a:xfrm>
            <a:off x="812800" y="3191520"/>
            <a:ext cx="5284724" cy="878830"/>
          </a:xfrm>
          <a:prstGeom prst="rect">
            <a:avLst/>
          </a:prstGeom>
          <a:noFill/>
          <a:ln/>
        </p:spPr>
        <p:txBody>
          <a:bodyPr wrap="square" lIns="0" tIns="0" rIns="0" bIns="0" rtlCol="0" anchor="t">
            <a:normAutofit/>
          </a:bodyPr>
          <a:lstStyle/>
          <a:p>
            <a:pPr marL="0" indent="0" algn="l">
              <a:lnSpc>
                <a:spcPts val="6720"/>
              </a:lnSpc>
              <a:buNone/>
            </a:pPr>
            <a:r>
              <a:rPr lang="en-US" sz="4800" b="1" dirty="0">
                <a:solidFill>
                  <a:srgbClr val="F2A97F"/>
                </a:solidFill>
                <a:latin typeface="Arial" pitchFamily="34" charset="0"/>
                <a:ea typeface="Arial" pitchFamily="34" charset="-122"/>
                <a:cs typeface="Arial" pitchFamily="34" charset="-120"/>
              </a:rPr>
              <a:t>1 / 3</a:t>
            </a:r>
            <a:endParaRPr lang="en-US" sz="4800" dirty="0"/>
          </a:p>
        </p:txBody>
      </p:sp>
      <p:sp>
        <p:nvSpPr>
          <p:cNvPr id="5" name="Text 3"/>
          <p:cNvSpPr/>
          <p:nvPr/>
        </p:nvSpPr>
        <p:spPr>
          <a:xfrm>
            <a:off x="812800" y="4095750"/>
            <a:ext cx="5284724"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C9D3E3"/>
                </a:solidFill>
                <a:latin typeface="Arial" pitchFamily="34" charset="0"/>
                <a:ea typeface="Arial" pitchFamily="34" charset="-122"/>
                <a:cs typeface="Arial" pitchFamily="34" charset="-120"/>
              </a:rPr>
              <a:t>blank-page sites fixed by a text tip</a:t>
            </a:r>
            <a:endParaRPr lang="en-US" sz="1500" dirty="0"/>
          </a:p>
        </p:txBody>
      </p:sp>
      <p:sp>
        <p:nvSpPr>
          <p:cNvPr id="6" name="Text 4"/>
          <p:cNvSpPr/>
          <p:nvPr/>
        </p:nvSpPr>
        <p:spPr>
          <a:xfrm>
            <a:off x="6248400" y="3191520"/>
            <a:ext cx="5284724" cy="878830"/>
          </a:xfrm>
          <a:prstGeom prst="rect">
            <a:avLst/>
          </a:prstGeom>
          <a:noFill/>
          <a:ln/>
        </p:spPr>
        <p:txBody>
          <a:bodyPr wrap="square" lIns="0" tIns="0" rIns="0" bIns="0" rtlCol="0" anchor="t">
            <a:normAutofit/>
          </a:bodyPr>
          <a:lstStyle/>
          <a:p>
            <a:pPr marL="0" indent="0" algn="l">
              <a:lnSpc>
                <a:spcPts val="6720"/>
              </a:lnSpc>
              <a:buNone/>
            </a:pPr>
            <a:r>
              <a:rPr lang="en-US" sz="4800" b="1" dirty="0">
                <a:solidFill>
                  <a:srgbClr val="8FB8EE"/>
                </a:solidFill>
                <a:latin typeface="Arial" pitchFamily="34" charset="0"/>
                <a:ea typeface="Arial" pitchFamily="34" charset="-122"/>
                <a:cs typeface="Arial" pitchFamily="34" charset="-120"/>
              </a:rPr>
              <a:t>7 / 9</a:t>
            </a:r>
            <a:endParaRPr lang="en-US" sz="4800" dirty="0"/>
          </a:p>
        </p:txBody>
      </p:sp>
      <p:sp>
        <p:nvSpPr>
          <p:cNvPr id="7" name="Text 5"/>
          <p:cNvSpPr/>
          <p:nvPr/>
        </p:nvSpPr>
        <p:spPr>
          <a:xfrm>
            <a:off x="6248400" y="4095750"/>
            <a:ext cx="5284724"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C9D3E3"/>
                </a:solidFill>
                <a:latin typeface="Arial" pitchFamily="34" charset="0"/>
                <a:ea typeface="Arial" pitchFamily="34" charset="-122"/>
                <a:cs typeface="Arial" pitchFamily="34" charset="-120"/>
              </a:rPr>
              <a:t>fixed by a 10-line code example</a:t>
            </a:r>
            <a:endParaRPr lang="en-US" sz="1500" dirty="0"/>
          </a:p>
        </p:txBody>
      </p:sp>
      <p:sp>
        <p:nvSpPr>
          <p:cNvPr id="8" name="Shape 6"/>
          <p:cNvSpPr/>
          <p:nvPr/>
        </p:nvSpPr>
        <p:spPr>
          <a:xfrm>
            <a:off x="825500" y="4667250"/>
            <a:ext cx="0" cy="441920"/>
          </a:xfrm>
          <a:prstGeom prst="line">
            <a:avLst/>
          </a:prstGeom>
          <a:noFill/>
          <a:ln w="25400">
            <a:solidFill>
              <a:srgbClr val="2A78D6"/>
            </a:solidFill>
            <a:prstDash val="solid"/>
          </a:ln>
        </p:spPr>
        <p:txBody>
          <a:bodyPr/>
          <a:lstStyle/>
          <a:p>
            <a:endParaRPr lang="zh-CN" altLang="en-US"/>
          </a:p>
        </p:txBody>
      </p:sp>
      <p:sp>
        <p:nvSpPr>
          <p:cNvPr id="9" name="Text 7"/>
          <p:cNvSpPr/>
          <p:nvPr/>
        </p:nvSpPr>
        <p:spPr>
          <a:xfrm>
            <a:off x="939800" y="4667250"/>
            <a:ext cx="10752582" cy="467320"/>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4A5568"/>
                </a:solidFill>
                <a:latin typeface="Arial" pitchFamily="34" charset="0"/>
                <a:ea typeface="Arial" pitchFamily="34" charset="-122"/>
                <a:cs typeface="Arial" pitchFamily="34" charset="-120"/>
              </a:rPr>
              <a:t>Blank page: the site imports a package that is not installed (for example vue-router), so nothing is shown. Test: generate only, same prompts, check the code.</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7">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2A78D6"/>
                </a:solidFill>
                <a:latin typeface="Arial" pitchFamily="34" charset="0"/>
                <a:ea typeface="Arial" pitchFamily="34" charset="-122"/>
                <a:cs typeface="Arial" pitchFamily="34" charset="-120"/>
              </a:rPr>
              <a:t>Method · code memory</a:t>
            </a:r>
            <a:endParaRPr lang="en-US" sz="1400" dirty="0"/>
          </a:p>
        </p:txBody>
      </p:sp>
      <p:sp>
        <p:nvSpPr>
          <p:cNvPr id="3" name="Text 1"/>
          <p:cNvSpPr>
            <a:spLocks noGrp="1"/>
          </p:cNvSpPr>
          <p:nvPr>
            <p:ph type="title"/>
          </p:nvPr>
        </p:nvSpPr>
        <p:spPr>
          <a:xfrm>
            <a:off x="812800" y="1214090"/>
            <a:ext cx="10883392" cy="463550"/>
          </a:xfrm>
          <a:prstGeom prst="rect">
            <a:avLst/>
          </a:prstGeom>
          <a:noFill/>
          <a:ln/>
        </p:spPr>
        <p:txBody>
          <a:bodyPr wrap="square" lIns="0" tIns="0" rIns="0" bIns="0" rtlCol="0" anchor="t">
            <a:normAutofit/>
          </a:bodyPr>
          <a:lstStyle/>
          <a:p>
            <a:pPr marL="0" indent="0" algn="l">
              <a:lnSpc>
                <a:spcPts val="3450"/>
              </a:lnSpc>
              <a:buNone/>
            </a:pPr>
            <a:r>
              <a:rPr lang="en-US" sz="3000" b="1" i="0" dirty="0">
                <a:solidFill>
                  <a:srgbClr val="14213D"/>
                </a:solidFill>
                <a:latin typeface="Georgia" pitchFamily="18" charset="0"/>
                <a:ea typeface="Georgia" pitchFamily="18" charset="-122"/>
                <a:cs typeface="Georgia" pitchFamily="18" charset="-120"/>
              </a:rPr>
              <a:t>Two parts: a checklist and a code pool</a:t>
            </a:r>
            <a:endParaRPr lang="en-US" sz="3000" dirty="0"/>
          </a:p>
        </p:txBody>
      </p:sp>
      <p:sp>
        <p:nvSpPr>
          <p:cNvPr id="4" name="Shape 2"/>
          <p:cNvSpPr/>
          <p:nvPr/>
        </p:nvSpPr>
        <p:spPr>
          <a:xfrm>
            <a:off x="812800" y="1906240"/>
            <a:ext cx="5181600" cy="1741140"/>
          </a:xfrm>
          <a:prstGeom prst="roundRect">
            <a:avLst>
              <a:gd name="adj" fmla="val 5835"/>
            </a:avLst>
          </a:prstGeom>
          <a:solidFill>
            <a:srgbClr val="EEF3FA"/>
          </a:solidFill>
          <a:ln/>
        </p:spPr>
        <p:txBody>
          <a:bodyPr/>
          <a:lstStyle/>
          <a:p>
            <a:endParaRPr lang="zh-CN" altLang="en-US"/>
          </a:p>
        </p:txBody>
      </p:sp>
      <p:sp>
        <p:nvSpPr>
          <p:cNvPr id="5" name="Text 3"/>
          <p:cNvSpPr/>
          <p:nvPr/>
        </p:nvSpPr>
        <p:spPr>
          <a:xfrm>
            <a:off x="1066800" y="2160240"/>
            <a:ext cx="4813808"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4213D"/>
                </a:solidFill>
                <a:latin typeface="Arial" pitchFamily="34" charset="0"/>
                <a:ea typeface="Arial" pitchFamily="34" charset="-122"/>
                <a:cs typeface="Arial" pitchFamily="34" charset="-120"/>
              </a:rPr>
              <a:t>1. Requirement checklist</a:t>
            </a:r>
            <a:endParaRPr lang="en-US" sz="1800" dirty="0"/>
          </a:p>
        </p:txBody>
      </p:sp>
      <p:sp>
        <p:nvSpPr>
          <p:cNvPr id="6" name="Text 4"/>
          <p:cNvSpPr/>
          <p:nvPr/>
        </p:nvSpPr>
        <p:spPr>
          <a:xfrm>
            <a:off x="1066800" y="2536130"/>
            <a:ext cx="4813808" cy="882650"/>
          </a:xfrm>
          <a:prstGeom prst="rect">
            <a:avLst/>
          </a:prstGeom>
          <a:noFill/>
          <a:ln/>
        </p:spPr>
        <p:txBody>
          <a:bodyPr wrap="square" lIns="0" tIns="0" rIns="0" bIns="0" rtlCol="0" anchor="t">
            <a:normAutofit/>
          </a:bodyPr>
          <a:lstStyle/>
          <a:p>
            <a:pPr marL="0" indent="0" algn="l">
              <a:lnSpc>
                <a:spcPts val="2250"/>
              </a:lnSpc>
              <a:buNone/>
            </a:pPr>
            <a:r>
              <a:rPr lang="en-US" sz="1500" dirty="0">
                <a:solidFill>
                  <a:srgbClr val="4A5568"/>
                </a:solidFill>
                <a:latin typeface="Arial" pitchFamily="34" charset="0"/>
                <a:ea typeface="Arial" pitchFamily="34" charset="-122"/>
                <a:cs typeface="Arial" pitchFamily="34" charset="-120"/>
              </a:rPr>
              <a:t>The memory model splits the request into a list. Each lesson sits under the item it belongs to. The request always comes first.</a:t>
            </a:r>
            <a:endParaRPr lang="en-US" sz="1500" dirty="0"/>
          </a:p>
        </p:txBody>
      </p:sp>
      <p:sp>
        <p:nvSpPr>
          <p:cNvPr id="7" name="Shape 5"/>
          <p:cNvSpPr/>
          <p:nvPr/>
        </p:nvSpPr>
        <p:spPr>
          <a:xfrm>
            <a:off x="6197600" y="1906240"/>
            <a:ext cx="5181600" cy="1741140"/>
          </a:xfrm>
          <a:prstGeom prst="roundRect">
            <a:avLst>
              <a:gd name="adj" fmla="val 5835"/>
            </a:avLst>
          </a:prstGeom>
          <a:solidFill>
            <a:srgbClr val="EEF3FA"/>
          </a:solidFill>
          <a:ln/>
        </p:spPr>
        <p:txBody>
          <a:bodyPr/>
          <a:lstStyle/>
          <a:p>
            <a:endParaRPr lang="zh-CN" altLang="en-US"/>
          </a:p>
        </p:txBody>
      </p:sp>
      <p:sp>
        <p:nvSpPr>
          <p:cNvPr id="8" name="Text 6"/>
          <p:cNvSpPr/>
          <p:nvPr/>
        </p:nvSpPr>
        <p:spPr>
          <a:xfrm>
            <a:off x="6451600" y="2160240"/>
            <a:ext cx="4813808"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4213D"/>
                </a:solidFill>
                <a:latin typeface="Arial" pitchFamily="34" charset="0"/>
                <a:ea typeface="Arial" pitchFamily="34" charset="-122"/>
                <a:cs typeface="Arial" pitchFamily="34" charset="-120"/>
              </a:rPr>
              <a:t>2. Code pool</a:t>
            </a:r>
            <a:endParaRPr lang="en-US" sz="1800" dirty="0"/>
          </a:p>
        </p:txBody>
      </p:sp>
      <p:sp>
        <p:nvSpPr>
          <p:cNvPr id="9" name="Text 7"/>
          <p:cNvSpPr/>
          <p:nvPr/>
        </p:nvSpPr>
        <p:spPr>
          <a:xfrm>
            <a:off x="6451600" y="2536130"/>
            <a:ext cx="4813808" cy="882650"/>
          </a:xfrm>
          <a:prstGeom prst="rect">
            <a:avLst/>
          </a:prstGeom>
          <a:noFill/>
          <a:ln/>
        </p:spPr>
        <p:txBody>
          <a:bodyPr wrap="square" lIns="0" tIns="0" rIns="0" bIns="0" rtlCol="0" anchor="t">
            <a:normAutofit/>
          </a:bodyPr>
          <a:lstStyle/>
          <a:p>
            <a:pPr marL="0" indent="0" algn="l">
              <a:lnSpc>
                <a:spcPts val="2250"/>
              </a:lnSpc>
              <a:buNone/>
            </a:pPr>
            <a:r>
              <a:rPr lang="en-US" sz="1500" dirty="0">
                <a:solidFill>
                  <a:srgbClr val="4A5568"/>
                </a:solidFill>
                <a:latin typeface="Arial" pitchFamily="34" charset="0"/>
                <a:ea typeface="Arial" pitchFamily="34" charset="-122"/>
                <a:cs typeface="Arial" pitchFamily="34" charset="-120"/>
              </a:rPr>
              <a:t>When a code error appears in 2 tasks, take a short fix from our own earlier site that worked. At most 15 lines, checked by a compiler.</a:t>
            </a:r>
            <a:endParaRPr lang="en-US" sz="1500" dirty="0"/>
          </a:p>
        </p:txBody>
      </p:sp>
      <p:sp>
        <p:nvSpPr>
          <p:cNvPr id="10" name="Text 8"/>
          <p:cNvSpPr/>
          <p:nvPr/>
        </p:nvSpPr>
        <p:spPr>
          <a:xfrm>
            <a:off x="812800" y="3901380"/>
            <a:ext cx="10883392"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Arial" pitchFamily="34" charset="0"/>
                <a:ea typeface="Arial" pitchFamily="34" charset="-122"/>
                <a:cs typeface="Arial" pitchFamily="34" charset="-120"/>
              </a:rPr>
              <a:t>Example: import { ref } from 'vue' · const bookingId = ref('')</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5">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2A78D6"/>
                </a:solidFill>
                <a:latin typeface="Arial" pitchFamily="34" charset="0"/>
                <a:ea typeface="Arial" pitchFamily="34" charset="-122"/>
                <a:cs typeface="Arial" pitchFamily="34" charset="-120"/>
              </a:rPr>
              <a:t>Three memory designs</a:t>
            </a:r>
            <a:endParaRPr lang="en-US" sz="1400" dirty="0"/>
          </a:p>
        </p:txBody>
      </p:sp>
      <p:sp>
        <p:nvSpPr>
          <p:cNvPr id="3" name="Text 1"/>
          <p:cNvSpPr>
            <a:spLocks noGrp="1"/>
          </p:cNvSpPr>
          <p:nvPr>
            <p:ph type="title"/>
          </p:nvPr>
        </p:nvSpPr>
        <p:spPr>
          <a:xfrm>
            <a:off x="812800" y="1214090"/>
            <a:ext cx="11379200" cy="463550"/>
          </a:xfrm>
          <a:prstGeom prst="rect">
            <a:avLst/>
          </a:prstGeom>
          <a:noFill/>
          <a:ln/>
        </p:spPr>
        <p:txBody>
          <a:bodyPr wrap="square" lIns="0" tIns="0" rIns="0" bIns="0" rtlCol="0" anchor="t">
            <a:normAutofit/>
          </a:bodyPr>
          <a:lstStyle/>
          <a:p>
            <a:pPr marL="0" indent="0" algn="l">
              <a:lnSpc>
                <a:spcPts val="3450"/>
              </a:lnSpc>
              <a:buNone/>
            </a:pPr>
            <a:r>
              <a:rPr lang="en-US" sz="3000" b="1" i="0" dirty="0">
                <a:solidFill>
                  <a:srgbClr val="14213D"/>
                </a:solidFill>
                <a:latin typeface="Georgia" pitchFamily="18" charset="0"/>
                <a:ea typeface="Georgia" pitchFamily="18" charset="-122"/>
                <a:cs typeface="Georgia" pitchFamily="18" charset="-120"/>
              </a:rPr>
              <a:t>Text memory → code memory (whole-file) → code memory (fragments)</a:t>
            </a:r>
            <a:endParaRPr lang="en-US" sz="3000" dirty="0"/>
          </a:p>
        </p:txBody>
      </p:sp>
      <p:graphicFrame>
        <p:nvGraphicFramePr>
          <p:cNvPr id="4" name="Table 3"/>
          <p:cNvGraphicFramePr>
            <a:graphicFrameLocks noGrp="1"/>
          </p:cNvGraphicFramePr>
          <p:nvPr>
            <p:extLst>
              <p:ext uri="{D42A27DB-BD31-4B8C-83A1-F6EECF244321}">
                <p14:modId xmlns:p14="http://schemas.microsoft.com/office/powerpoint/2010/main" val="2365470570"/>
              </p:ext>
            </p:extLst>
          </p:nvPr>
        </p:nvGraphicFramePr>
        <p:xfrm>
          <a:off x="689113" y="2332383"/>
          <a:ext cx="10690088" cy="2600246"/>
        </p:xfrm>
        <a:graphic>
          <a:graphicData uri="http://schemas.openxmlformats.org/drawingml/2006/table">
            <a:tbl>
              <a:tblPr/>
              <a:tblGrid>
                <a:gridCol w="2138018">
                  <a:extLst>
                    <a:ext uri="{9D8B030D-6E8A-4147-A177-3AD203B41FA5}">
                      <a16:colId xmlns:a16="http://schemas.microsoft.com/office/drawing/2014/main" val="20000"/>
                    </a:ext>
                  </a:extLst>
                </a:gridCol>
                <a:gridCol w="2886324">
                  <a:extLst>
                    <a:ext uri="{9D8B030D-6E8A-4147-A177-3AD203B41FA5}">
                      <a16:colId xmlns:a16="http://schemas.microsoft.com/office/drawing/2014/main" val="20001"/>
                    </a:ext>
                  </a:extLst>
                </a:gridCol>
                <a:gridCol w="3313927">
                  <a:extLst>
                    <a:ext uri="{9D8B030D-6E8A-4147-A177-3AD203B41FA5}">
                      <a16:colId xmlns:a16="http://schemas.microsoft.com/office/drawing/2014/main" val="20002"/>
                    </a:ext>
                  </a:extLst>
                </a:gridCol>
                <a:gridCol w="2351819">
                  <a:extLst>
                    <a:ext uri="{9D8B030D-6E8A-4147-A177-3AD203B41FA5}">
                      <a16:colId xmlns:a16="http://schemas.microsoft.com/office/drawing/2014/main" val="20003"/>
                    </a:ext>
                  </a:extLst>
                </a:gridCol>
              </a:tblGrid>
              <a:tr h="442738">
                <a:tc>
                  <a:txBody>
                    <a:bodyPr/>
                    <a:lstStyle/>
                    <a:p>
                      <a:r>
                        <a:rPr sz="1200" b="1">
                          <a:solidFill>
                            <a:srgbClr val="14213D"/>
                          </a:solidFill>
                          <a:latin typeface="Arial"/>
                        </a:rPr>
                        <a:t>Design</a:t>
                      </a:r>
                    </a:p>
                  </a:txBody>
                  <a:tcPr marL="60000" marR="60000" marT="40000" marB="40000">
                    <a:solidFill>
                      <a:srgbClr val="EEF2F8"/>
                    </a:solidFill>
                  </a:tcPr>
                </a:tc>
                <a:tc>
                  <a:txBody>
                    <a:bodyPr/>
                    <a:lstStyle/>
                    <a:p>
                      <a:r>
                        <a:rPr sz="1200" b="1">
                          <a:solidFill>
                            <a:srgbClr val="14213D"/>
                          </a:solidFill>
                          <a:latin typeface="Arial"/>
                        </a:rPr>
                        <a:t>What memory gives the model</a:t>
                      </a:r>
                    </a:p>
                  </a:txBody>
                  <a:tcPr marL="60000" marR="60000" marT="40000" marB="40000">
                    <a:solidFill>
                      <a:srgbClr val="EEF2F8"/>
                    </a:solidFill>
                  </a:tcPr>
                </a:tc>
                <a:tc>
                  <a:txBody>
                    <a:bodyPr/>
                    <a:lstStyle/>
                    <a:p>
                      <a:r>
                        <a:rPr sz="1200" b="1">
                          <a:solidFill>
                            <a:srgbClr val="14213D"/>
                          </a:solidFill>
                          <a:latin typeface="Arial"/>
                        </a:rPr>
                        <a:t>Why we moved on</a:t>
                      </a:r>
                    </a:p>
                  </a:txBody>
                  <a:tcPr marL="60000" marR="60000" marT="40000" marB="40000">
                    <a:solidFill>
                      <a:srgbClr val="EEF2F8"/>
                    </a:solidFill>
                  </a:tcPr>
                </a:tc>
                <a:tc>
                  <a:txBody>
                    <a:bodyPr/>
                    <a:lstStyle/>
                    <a:p>
                      <a:r>
                        <a:rPr sz="1200" b="1">
                          <a:solidFill>
                            <a:srgbClr val="14213D"/>
                          </a:solidFill>
                          <a:latin typeface="Arial"/>
                        </a:rPr>
                        <a:t>Result (101 tasks)</a:t>
                      </a:r>
                    </a:p>
                  </a:txBody>
                  <a:tcPr marL="60000" marR="60000" marT="40000" marB="40000">
                    <a:solidFill>
                      <a:srgbClr val="EEF2F8"/>
                    </a:solidFill>
                  </a:tcPr>
                </a:tc>
                <a:extLst>
                  <a:ext uri="{0D108BD9-81ED-4DB2-BD59-A6C34878D82A}">
                    <a16:rowId xmlns:a16="http://schemas.microsoft.com/office/drawing/2014/main" val="10000"/>
                  </a:ext>
                </a:extLst>
              </a:tr>
              <a:tr h="543065">
                <a:tc>
                  <a:txBody>
                    <a:bodyPr/>
                    <a:lstStyle/>
                    <a:p>
                      <a:r>
                        <a:rPr sz="1200" b="0">
                          <a:solidFill>
                            <a:srgbClr val="14213D"/>
                          </a:solidFill>
                          <a:latin typeface="Arial"/>
                        </a:rPr>
                        <a:t>Text memory</a:t>
                      </a:r>
                    </a:p>
                  </a:txBody>
                  <a:tcPr marL="60000" marR="60000" marT="40000" marB="40000">
                    <a:solidFill>
                      <a:srgbClr val="FFFFFF"/>
                    </a:solidFill>
                  </a:tcPr>
                </a:tc>
                <a:tc>
                  <a:txBody>
                    <a:bodyPr/>
                    <a:lstStyle/>
                    <a:p>
                      <a:r>
                        <a:rPr sz="1200" b="0">
                          <a:solidFill>
                            <a:srgbClr val="14213D"/>
                          </a:solidFill>
                          <a:latin typeface="Arial"/>
                        </a:rPr>
                        <a:t>Checklist + text lessons</a:t>
                      </a:r>
                    </a:p>
                  </a:txBody>
                  <a:tcPr marL="60000" marR="60000" marT="40000" marB="40000">
                    <a:solidFill>
                      <a:srgbClr val="FFFFFF"/>
                    </a:solidFill>
                  </a:tcPr>
                </a:tc>
                <a:tc>
                  <a:txBody>
                    <a:bodyPr/>
                    <a:lstStyle/>
                    <a:p>
                      <a:r>
                        <a:rPr sz="1200" b="0">
                          <a:solidFill>
                            <a:srgbClr val="14213D"/>
                          </a:solidFill>
                          <a:latin typeface="Arial"/>
                        </a:rPr>
                        <a:t>Vague text piles up; the 7B model ignores it</a:t>
                      </a:r>
                    </a:p>
                  </a:txBody>
                  <a:tcPr marL="60000" marR="60000" marT="40000" marB="40000">
                    <a:solidFill>
                      <a:srgbClr val="FFFFFF"/>
                    </a:solidFill>
                  </a:tcPr>
                </a:tc>
                <a:tc>
                  <a:txBody>
                    <a:bodyPr/>
                    <a:lstStyle/>
                    <a:p>
                      <a:r>
                        <a:rPr sz="1200" b="0">
                          <a:solidFill>
                            <a:srgbClr val="14213D"/>
                          </a:solidFill>
                          <a:latin typeface="Arial"/>
                        </a:rPr>
                        <a:t>30.9%; below NM after task 30</a:t>
                      </a:r>
                    </a:p>
                  </a:txBody>
                  <a:tcPr marL="60000" marR="60000" marT="40000" marB="40000">
                    <a:solidFill>
                      <a:srgbClr val="FFFFFF"/>
                    </a:solidFill>
                  </a:tcPr>
                </a:tc>
                <a:extLst>
                  <a:ext uri="{0D108BD9-81ED-4DB2-BD59-A6C34878D82A}">
                    <a16:rowId xmlns:a16="http://schemas.microsoft.com/office/drawing/2014/main" val="10001"/>
                  </a:ext>
                </a:extLst>
              </a:tr>
              <a:tr h="543065">
                <a:tc>
                  <a:txBody>
                    <a:bodyPr/>
                    <a:lstStyle/>
                    <a:p>
                      <a:r>
                        <a:rPr sz="1200" b="0">
                          <a:solidFill>
                            <a:srgbClr val="14213D"/>
                          </a:solidFill>
                          <a:latin typeface="Arial"/>
                        </a:rPr>
                        <a:t>Code memory (whole-file)</a:t>
                      </a:r>
                    </a:p>
                  </a:txBody>
                  <a:tcPr marL="60000" marR="60000" marT="40000" marB="40000">
                    <a:solidFill>
                      <a:srgbClr val="FFFFFF"/>
                    </a:solidFill>
                  </a:tcPr>
                </a:tc>
                <a:tc>
                  <a:txBody>
                    <a:bodyPr/>
                    <a:lstStyle/>
                    <a:p>
                      <a:r>
                        <a:rPr sz="1200" b="0" dirty="0">
                          <a:solidFill>
                            <a:srgbClr val="14213D"/>
                          </a:solidFill>
                          <a:latin typeface="Arial"/>
                        </a:rPr>
                        <a:t>Checklist + code copied from our earlier working sites; some examples are a whole file (full </a:t>
                      </a:r>
                      <a:r>
                        <a:rPr sz="1200" b="0" dirty="0" err="1">
                          <a:solidFill>
                            <a:srgbClr val="14213D"/>
                          </a:solidFill>
                          <a:latin typeface="Arial"/>
                        </a:rPr>
                        <a:t>App.vue</a:t>
                      </a:r>
                      <a:r>
                        <a:rPr sz="1200" b="0" dirty="0">
                          <a:solidFill>
                            <a:srgbClr val="14213D"/>
                          </a:solidFill>
                          <a:latin typeface="Arial"/>
                        </a:rPr>
                        <a:t>)</a:t>
                      </a:r>
                    </a:p>
                  </a:txBody>
                  <a:tcPr marL="60000" marR="60000" marT="40000" marB="40000">
                    <a:solidFill>
                      <a:srgbClr val="FFFFFF"/>
                    </a:solidFill>
                  </a:tcPr>
                </a:tc>
                <a:tc>
                  <a:txBody>
                    <a:bodyPr/>
                    <a:lstStyle/>
                    <a:p>
                      <a:r>
                        <a:rPr sz="1200" b="0">
                          <a:solidFill>
                            <a:srgbClr val="14213D"/>
                          </a:solidFill>
                          <a:latin typeface="Arial"/>
                        </a:rPr>
                        <a:t>Whole-file examples caused blank sites in new orders</a:t>
                      </a:r>
                    </a:p>
                  </a:txBody>
                  <a:tcPr marL="60000" marR="60000" marT="40000" marB="40000">
                    <a:solidFill>
                      <a:srgbClr val="FFFFFF"/>
                    </a:solidFill>
                  </a:tcPr>
                </a:tc>
                <a:tc>
                  <a:txBody>
                    <a:bodyPr/>
                    <a:lstStyle/>
                    <a:p>
                      <a:r>
                        <a:rPr sz="1200" b="0">
                          <a:solidFill>
                            <a:srgbClr val="14213D"/>
                          </a:solidFill>
                          <a:latin typeface="Arial"/>
                        </a:rPr>
                        <a:t>40.0%, +11.5</a:t>
                      </a:r>
                    </a:p>
                  </a:txBody>
                  <a:tcPr marL="60000" marR="60000" marT="40000" marB="40000">
                    <a:solidFill>
                      <a:srgbClr val="FFFFFF"/>
                    </a:solidFill>
                  </a:tcPr>
                </a:tc>
                <a:extLst>
                  <a:ext uri="{0D108BD9-81ED-4DB2-BD59-A6C34878D82A}">
                    <a16:rowId xmlns:a16="http://schemas.microsoft.com/office/drawing/2014/main" val="10002"/>
                  </a:ext>
                </a:extLst>
              </a:tr>
              <a:tr h="543065">
                <a:tc>
                  <a:txBody>
                    <a:bodyPr/>
                    <a:lstStyle/>
                    <a:p>
                      <a:r>
                        <a:rPr sz="1200" b="0">
                          <a:solidFill>
                            <a:srgbClr val="14213D"/>
                          </a:solidFill>
                          <a:latin typeface="Arial"/>
                        </a:rPr>
                        <a:t>Code memory (fragments)</a:t>
                      </a:r>
                    </a:p>
                  </a:txBody>
                  <a:tcPr marL="60000" marR="60000" marT="40000" marB="40000">
                    <a:solidFill>
                      <a:srgbClr val="FFFFFF"/>
                    </a:solidFill>
                  </a:tcPr>
                </a:tc>
                <a:tc>
                  <a:txBody>
                    <a:bodyPr/>
                    <a:lstStyle/>
                    <a:p>
                      <a:r>
                        <a:rPr sz="1200" b="0">
                          <a:solidFill>
                            <a:srgbClr val="14213D"/>
                          </a:solidFill>
                          <a:latin typeface="Arial"/>
                        </a:rPr>
                        <a:t>Same, but each example is only the few key lines (at most 15), never a whole file</a:t>
                      </a:r>
                    </a:p>
                  </a:txBody>
                  <a:tcPr marL="60000" marR="60000" marT="40000" marB="40000">
                    <a:solidFill>
                      <a:srgbClr val="FFFFFF"/>
                    </a:solidFill>
                  </a:tcPr>
                </a:tc>
                <a:tc>
                  <a:txBody>
                    <a:bodyPr/>
                    <a:lstStyle/>
                    <a:p>
                      <a:r>
                        <a:rPr sz="1200" b="0">
                          <a:solidFill>
                            <a:srgbClr val="14213D"/>
                          </a:solidFill>
                          <a:latin typeface="Arial"/>
                        </a:rPr>
                        <a:t>Original order: below whole-file; kept for robustness across orders</a:t>
                      </a:r>
                    </a:p>
                  </a:txBody>
                  <a:tcPr marL="60000" marR="60000" marT="40000" marB="40000">
                    <a:solidFill>
                      <a:srgbClr val="FFFFFF"/>
                    </a:solidFill>
                  </a:tcPr>
                </a:tc>
                <a:tc>
                  <a:txBody>
                    <a:bodyPr/>
                    <a:lstStyle/>
                    <a:p>
                      <a:r>
                        <a:rPr sz="1200" b="1">
                          <a:solidFill>
                            <a:srgbClr val="14213D"/>
                          </a:solidFill>
                          <a:latin typeface="Arial"/>
                        </a:rPr>
                        <a:t>35.2%, +7.1; grouped +7.4; random +5.5</a:t>
                      </a:r>
                    </a:p>
                  </a:txBody>
                  <a:tcPr marL="60000" marR="60000" marT="40000" marB="40000">
                    <a:solidFill>
                      <a:srgbClr val="FFFFFF"/>
                    </a:solidFill>
                  </a:tcPr>
                </a:tc>
                <a:extLst>
                  <a:ext uri="{0D108BD9-81ED-4DB2-BD59-A6C34878D82A}">
                    <a16:rowId xmlns:a16="http://schemas.microsoft.com/office/drawing/2014/main" val="10003"/>
                  </a:ext>
                </a:extLst>
              </a:tr>
              <a:tr h="442738">
                <a:tc>
                  <a:txBody>
                    <a:bodyPr/>
                    <a:lstStyle/>
                    <a:p>
                      <a:r>
                        <a:rPr sz="1200" b="0">
                          <a:solidFill>
                            <a:srgbClr val="14213D"/>
                          </a:solidFill>
                          <a:latin typeface="Arial"/>
                        </a:rPr>
                        <a:t>Ablation: checklist only</a:t>
                      </a:r>
                    </a:p>
                  </a:txBody>
                  <a:tcPr marL="60000" marR="60000" marT="40000" marB="40000">
                    <a:solidFill>
                      <a:srgbClr val="FFFFFF"/>
                    </a:solidFill>
                  </a:tcPr>
                </a:tc>
                <a:tc>
                  <a:txBody>
                    <a:bodyPr/>
                    <a:lstStyle/>
                    <a:p>
                      <a:r>
                        <a:rPr sz="1200" b="0" dirty="0">
                          <a:solidFill>
                            <a:srgbClr val="14213D"/>
                          </a:solidFill>
                          <a:latin typeface="Arial"/>
                        </a:rPr>
                        <a:t>Checklist, memory turned off</a:t>
                      </a:r>
                    </a:p>
                  </a:txBody>
                  <a:tcPr marL="60000" marR="60000" marT="40000" marB="40000">
                    <a:solidFill>
                      <a:srgbClr val="FFFFFF"/>
                    </a:solidFill>
                  </a:tcPr>
                </a:tc>
                <a:tc>
                  <a:txBody>
                    <a:bodyPr/>
                    <a:lstStyle/>
                    <a:p>
                      <a:r>
                        <a:rPr sz="1200" b="0">
                          <a:solidFill>
                            <a:srgbClr val="14213D"/>
                          </a:solidFill>
                          <a:latin typeface="Arial"/>
                        </a:rPr>
                        <a:t>—</a:t>
                      </a:r>
                    </a:p>
                  </a:txBody>
                  <a:tcPr marL="60000" marR="60000" marT="40000" marB="40000">
                    <a:solidFill>
                      <a:srgbClr val="FFFFFF"/>
                    </a:solidFill>
                  </a:tcPr>
                </a:tc>
                <a:tc>
                  <a:txBody>
                    <a:bodyPr/>
                    <a:lstStyle/>
                    <a:p>
                      <a:r>
                        <a:rPr sz="1200" b="0" dirty="0">
                          <a:solidFill>
                            <a:srgbClr val="14213D"/>
                          </a:solidFill>
                          <a:latin typeface="Arial"/>
                        </a:rPr>
                        <a:t>31.8% (+3.4, CI includes 0)</a:t>
                      </a:r>
                    </a:p>
                  </a:txBody>
                  <a:tcPr marL="60000" marR="60000" marT="40000" marB="40000">
                    <a:solidFill>
                      <a:srgbClr val="FFFFFF"/>
                    </a:solidFill>
                  </a:tcPr>
                </a:tc>
                <a:extLst>
                  <a:ext uri="{0D108BD9-81ED-4DB2-BD59-A6C34878D82A}">
                    <a16:rowId xmlns:a16="http://schemas.microsoft.com/office/drawing/2014/main" val="10004"/>
                  </a:ext>
                </a:extLst>
              </a:tr>
            </a:tbl>
          </a:graphicData>
        </a:graphic>
      </p:graphicFrame>
      <p:sp>
        <p:nvSpPr>
          <p:cNvPr id="5" name="TextBox 4"/>
          <p:cNvSpPr txBox="1"/>
          <p:nvPr/>
        </p:nvSpPr>
        <p:spPr>
          <a:xfrm>
            <a:off x="825500" y="5100000"/>
            <a:ext cx="10553700" cy="500000"/>
          </a:xfrm>
          <a:prstGeom prst="rect">
            <a:avLst/>
          </a:prstGeom>
          <a:noFill/>
        </p:spPr>
        <p:txBody>
          <a:bodyPr wrap="square">
            <a:spAutoFit/>
          </a:bodyPr>
          <a:lstStyle/>
          <a:p>
            <a:pPr>
              <a:spcAft>
                <a:spcPts val="400"/>
              </a:spcAft>
            </a:pPr>
            <a:r>
              <a:rPr sz="1100" b="0">
                <a:solidFill>
                  <a:srgbClr val="4A5568"/>
                </a:solidFill>
                <a:latin typeface="Arial"/>
              </a:rPr>
              <a:t>NM = No Memory (28.5%). Repository labels: v4, v7, v9.1.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8">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2A78D6"/>
                </a:solidFill>
                <a:latin typeface="Arial" pitchFamily="34" charset="0"/>
                <a:ea typeface="Arial" pitchFamily="34" charset="-122"/>
                <a:cs typeface="Arial" pitchFamily="34" charset="-120"/>
              </a:rPr>
              <a:t>Main result · 101 tasks, one run</a:t>
            </a:r>
            <a:endParaRPr lang="en-US" sz="1400" dirty="0"/>
          </a:p>
        </p:txBody>
      </p:sp>
      <p:sp>
        <p:nvSpPr>
          <p:cNvPr id="3" name="Text 1"/>
          <p:cNvSpPr>
            <a:spLocks noGrp="1"/>
          </p:cNvSpPr>
          <p:nvPr>
            <p:ph type="title"/>
          </p:nvPr>
        </p:nvSpPr>
        <p:spPr>
          <a:xfrm>
            <a:off x="812800" y="1214090"/>
            <a:ext cx="10883392" cy="463550"/>
          </a:xfrm>
          <a:prstGeom prst="rect">
            <a:avLst/>
          </a:prstGeom>
          <a:noFill/>
          <a:ln/>
        </p:spPr>
        <p:txBody>
          <a:bodyPr wrap="square" lIns="0" tIns="0" rIns="0" bIns="0" rtlCol="0" anchor="t">
            <a:normAutofit/>
          </a:bodyPr>
          <a:lstStyle/>
          <a:p>
            <a:pPr marL="0" indent="0" algn="l">
              <a:lnSpc>
                <a:spcPts val="3450"/>
              </a:lnSpc>
              <a:buNone/>
            </a:pPr>
            <a:r>
              <a:rPr lang="en-US" sz="3000" b="1" i="0" dirty="0">
                <a:solidFill>
                  <a:srgbClr val="14213D"/>
                </a:solidFill>
                <a:latin typeface="Georgia" pitchFamily="18" charset="0"/>
                <a:ea typeface="Georgia" pitchFamily="18" charset="-122"/>
                <a:cs typeface="Georgia" pitchFamily="18" charset="-120"/>
              </a:rPr>
              <a:t>Accuracy rises from 28.5% to 35.2%</a:t>
            </a:r>
            <a:endParaRPr lang="en-US" sz="3000" dirty="0"/>
          </a:p>
        </p:txBody>
      </p:sp>
      <p:sp>
        <p:nvSpPr>
          <p:cNvPr id="4" name="Shape 2"/>
          <p:cNvSpPr/>
          <p:nvPr/>
        </p:nvSpPr>
        <p:spPr>
          <a:xfrm>
            <a:off x="812800" y="1906240"/>
            <a:ext cx="5181600" cy="1978620"/>
          </a:xfrm>
          <a:prstGeom prst="roundRect">
            <a:avLst>
              <a:gd name="adj" fmla="val 5135"/>
            </a:avLst>
          </a:prstGeom>
          <a:solidFill>
            <a:srgbClr val="EEF3FA"/>
          </a:solidFill>
          <a:ln/>
        </p:spPr>
        <p:txBody>
          <a:bodyPr/>
          <a:lstStyle/>
          <a:p>
            <a:endParaRPr lang="zh-CN" altLang="en-US"/>
          </a:p>
        </p:txBody>
      </p:sp>
      <p:sp>
        <p:nvSpPr>
          <p:cNvPr id="5" name="Text 3"/>
          <p:cNvSpPr/>
          <p:nvPr/>
        </p:nvSpPr>
        <p:spPr>
          <a:xfrm>
            <a:off x="1066800" y="2160240"/>
            <a:ext cx="4813808"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4A5568"/>
                </a:solidFill>
                <a:latin typeface="Arial" pitchFamily="34" charset="0"/>
                <a:ea typeface="Arial" pitchFamily="34" charset="-122"/>
                <a:cs typeface="Arial" pitchFamily="34" charset="-120"/>
              </a:rPr>
              <a:t>No Memory</a:t>
            </a:r>
            <a:endParaRPr lang="en-US" sz="1500" dirty="0"/>
          </a:p>
        </p:txBody>
      </p:sp>
      <p:sp>
        <p:nvSpPr>
          <p:cNvPr id="6" name="Text 4"/>
          <p:cNvSpPr/>
          <p:nvPr/>
        </p:nvSpPr>
        <p:spPr>
          <a:xfrm>
            <a:off x="1066800" y="2477740"/>
            <a:ext cx="4813808" cy="878830"/>
          </a:xfrm>
          <a:prstGeom prst="rect">
            <a:avLst/>
          </a:prstGeom>
          <a:noFill/>
          <a:ln/>
        </p:spPr>
        <p:txBody>
          <a:bodyPr wrap="square" lIns="0" tIns="0" rIns="0" bIns="0" rtlCol="0" anchor="t">
            <a:normAutofit/>
          </a:bodyPr>
          <a:lstStyle/>
          <a:p>
            <a:pPr marL="0" indent="0" algn="l">
              <a:lnSpc>
                <a:spcPts val="6720"/>
              </a:lnSpc>
              <a:buNone/>
            </a:pPr>
            <a:r>
              <a:rPr lang="en-US" sz="4800" b="1" dirty="0">
                <a:solidFill>
                  <a:srgbClr val="14213D"/>
                </a:solidFill>
                <a:latin typeface="Arial" pitchFamily="34" charset="0"/>
                <a:ea typeface="Arial" pitchFamily="34" charset="-122"/>
                <a:cs typeface="Arial" pitchFamily="34" charset="-120"/>
              </a:rPr>
              <a:t>28.5%</a:t>
            </a:r>
            <a:endParaRPr lang="en-US" sz="4800" dirty="0"/>
          </a:p>
        </p:txBody>
      </p:sp>
      <p:sp>
        <p:nvSpPr>
          <p:cNvPr id="7" name="Text 5"/>
          <p:cNvSpPr/>
          <p:nvPr/>
        </p:nvSpPr>
        <p:spPr>
          <a:xfrm>
            <a:off x="1066800" y="3381970"/>
            <a:ext cx="4813808"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Arial" pitchFamily="34" charset="0"/>
                <a:ea typeface="Arial" pitchFamily="34" charset="-122"/>
                <a:cs typeface="Arial" pitchFamily="34" charset="-120"/>
              </a:rPr>
              <a:t>30 zero-score tasks</a:t>
            </a:r>
            <a:endParaRPr lang="en-US" sz="1400" dirty="0"/>
          </a:p>
        </p:txBody>
      </p:sp>
      <p:sp>
        <p:nvSpPr>
          <p:cNvPr id="8" name="Shape 6"/>
          <p:cNvSpPr/>
          <p:nvPr/>
        </p:nvSpPr>
        <p:spPr>
          <a:xfrm>
            <a:off x="6197600" y="1906240"/>
            <a:ext cx="5181600" cy="1978620"/>
          </a:xfrm>
          <a:prstGeom prst="roundRect">
            <a:avLst>
              <a:gd name="adj" fmla="val 5135"/>
            </a:avLst>
          </a:prstGeom>
          <a:solidFill>
            <a:srgbClr val="DCE8F8"/>
          </a:solidFill>
          <a:ln/>
        </p:spPr>
        <p:txBody>
          <a:bodyPr/>
          <a:lstStyle/>
          <a:p>
            <a:endParaRPr lang="zh-CN" altLang="en-US"/>
          </a:p>
        </p:txBody>
      </p:sp>
      <p:sp>
        <p:nvSpPr>
          <p:cNvPr id="9" name="Text 7"/>
          <p:cNvSpPr/>
          <p:nvPr/>
        </p:nvSpPr>
        <p:spPr>
          <a:xfrm>
            <a:off x="6451600" y="2160240"/>
            <a:ext cx="4813808"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4A5568"/>
                </a:solidFill>
                <a:latin typeface="Arial" pitchFamily="34" charset="0"/>
                <a:ea typeface="Arial" pitchFamily="34" charset="-122"/>
                <a:cs typeface="Arial" pitchFamily="34" charset="-120"/>
              </a:rPr>
              <a:t>Code memory (final)</a:t>
            </a:r>
            <a:endParaRPr lang="en-US" sz="1500" dirty="0"/>
          </a:p>
        </p:txBody>
      </p:sp>
      <p:sp>
        <p:nvSpPr>
          <p:cNvPr id="10" name="Text 8"/>
          <p:cNvSpPr/>
          <p:nvPr/>
        </p:nvSpPr>
        <p:spPr>
          <a:xfrm>
            <a:off x="6451600" y="2477740"/>
            <a:ext cx="4813808" cy="878830"/>
          </a:xfrm>
          <a:prstGeom prst="rect">
            <a:avLst/>
          </a:prstGeom>
          <a:noFill/>
          <a:ln/>
        </p:spPr>
        <p:txBody>
          <a:bodyPr wrap="square" lIns="0" tIns="0" rIns="0" bIns="0" rtlCol="0" anchor="t">
            <a:normAutofit/>
          </a:bodyPr>
          <a:lstStyle/>
          <a:p>
            <a:pPr marL="0" indent="0" algn="l">
              <a:lnSpc>
                <a:spcPts val="6720"/>
              </a:lnSpc>
              <a:buNone/>
            </a:pPr>
            <a:r>
              <a:rPr lang="en-US" sz="4800" b="1" dirty="0">
                <a:solidFill>
                  <a:srgbClr val="1F5FAF"/>
                </a:solidFill>
                <a:latin typeface="Arial" pitchFamily="34" charset="0"/>
                <a:ea typeface="Arial" pitchFamily="34" charset="-122"/>
                <a:cs typeface="Arial" pitchFamily="34" charset="-120"/>
              </a:rPr>
              <a:t>35.2%</a:t>
            </a:r>
            <a:endParaRPr lang="en-US" sz="4800" dirty="0"/>
          </a:p>
        </p:txBody>
      </p:sp>
      <p:sp>
        <p:nvSpPr>
          <p:cNvPr id="11" name="Text 9"/>
          <p:cNvSpPr/>
          <p:nvPr/>
        </p:nvSpPr>
        <p:spPr>
          <a:xfrm>
            <a:off x="6451600" y="3381970"/>
            <a:ext cx="4813808"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Arial" pitchFamily="34" charset="0"/>
                <a:ea typeface="Arial" pitchFamily="34" charset="-122"/>
                <a:cs typeface="Arial" pitchFamily="34" charset="-120"/>
              </a:rPr>
              <a:t>20 zero-score tasks</a:t>
            </a:r>
            <a:endParaRPr lang="en-US" sz="1400" dirty="0"/>
          </a:p>
        </p:txBody>
      </p:sp>
      <p:sp>
        <p:nvSpPr>
          <p:cNvPr id="12" name="Text 10"/>
          <p:cNvSpPr/>
          <p:nvPr/>
        </p:nvSpPr>
        <p:spPr>
          <a:xfrm>
            <a:off x="812800" y="4138861"/>
            <a:ext cx="10883392"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4213D"/>
                </a:solidFill>
                <a:latin typeface="Arial" pitchFamily="34" charset="0"/>
                <a:ea typeface="Arial" pitchFamily="34" charset="-122"/>
                <a:cs typeface="Arial" pitchFamily="34" charset="-120"/>
              </a:rPr>
              <a:t>Paired by task: +7.1 points (95% CI 0.9 to 13.1); +7.4 and +5.5 in two shuffled orders. An intermediate whole-file version scored 40.0% here but only about +4.5 when the order changed.</a:t>
            </a:r>
            <a:endParaRPr lang="en-US" sz="1500" dirty="0"/>
          </a:p>
        </p:txBody>
      </p:sp>
      <p:sp>
        <p:nvSpPr>
          <p:cNvPr id="13" name="Shape 11"/>
          <p:cNvSpPr/>
          <p:nvPr/>
        </p:nvSpPr>
        <p:spPr>
          <a:xfrm>
            <a:off x="825500" y="4659561"/>
            <a:ext cx="0" cy="441920"/>
          </a:xfrm>
          <a:prstGeom prst="line">
            <a:avLst/>
          </a:prstGeom>
          <a:noFill/>
          <a:ln w="25400">
            <a:solidFill>
              <a:srgbClr val="2A78D6"/>
            </a:solidFill>
            <a:prstDash val="solid"/>
          </a:ln>
        </p:spPr>
        <p:txBody>
          <a:bodyPr/>
          <a:lstStyle/>
          <a:p>
            <a:endParaRPr lang="zh-CN" altLang="en-US"/>
          </a:p>
        </p:txBody>
      </p:sp>
      <p:sp>
        <p:nvSpPr>
          <p:cNvPr id="14" name="Text 12"/>
          <p:cNvSpPr/>
          <p:nvPr/>
        </p:nvSpPr>
        <p:spPr>
          <a:xfrm>
            <a:off x="939800" y="4659561"/>
            <a:ext cx="10752582" cy="467320"/>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4A5568"/>
                </a:solidFill>
                <a:latin typeface="Arial" pitchFamily="34" charset="0"/>
                <a:ea typeface="Arial" pitchFamily="34" charset="-122"/>
                <a:cs typeface="Arial" pitchFamily="34" charset="-120"/>
              </a:rPr>
              <a:t>Zero-score task: every check fails, usually a blank page. 95% CI: the likely range of the gain, from resampling tasks; it does not include 0.</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9">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711200" y="508000"/>
            <a:ext cx="11092688"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2A78D6"/>
                </a:solidFill>
                <a:latin typeface="Arial" pitchFamily="34" charset="0"/>
                <a:ea typeface="Arial" pitchFamily="34" charset="-122"/>
                <a:cs typeface="Arial" pitchFamily="34" charset="-120"/>
              </a:rPr>
              <a:t>Learning curve · 101 tasks, execution order</a:t>
            </a:r>
            <a:endParaRPr lang="en-US" sz="1400" dirty="0"/>
          </a:p>
        </p:txBody>
      </p:sp>
      <p:sp>
        <p:nvSpPr>
          <p:cNvPr id="3" name="Text 1"/>
          <p:cNvSpPr>
            <a:spLocks noGrp="1"/>
          </p:cNvSpPr>
          <p:nvPr>
            <p:ph type="title"/>
          </p:nvPr>
        </p:nvSpPr>
        <p:spPr>
          <a:xfrm>
            <a:off x="711200" y="909290"/>
            <a:ext cx="11092688" cy="434330"/>
          </a:xfrm>
          <a:prstGeom prst="rect">
            <a:avLst/>
          </a:prstGeom>
          <a:noFill/>
          <a:ln/>
        </p:spPr>
        <p:txBody>
          <a:bodyPr wrap="square" lIns="0" tIns="0" rIns="0" bIns="0" rtlCol="0" anchor="t">
            <a:normAutofit/>
          </a:bodyPr>
          <a:lstStyle/>
          <a:p>
            <a:pPr marL="0" indent="0" algn="l">
              <a:lnSpc>
                <a:spcPts val="3220"/>
              </a:lnSpc>
              <a:buNone/>
            </a:pPr>
            <a:r>
              <a:rPr lang="en-US" sz="2800" b="1" i="0" dirty="0">
                <a:solidFill>
                  <a:srgbClr val="14213D"/>
                </a:solidFill>
                <a:latin typeface="Georgia" pitchFamily="18" charset="0"/>
                <a:ea typeface="Georgia" pitchFamily="18" charset="-122"/>
                <a:cs typeface="Georgia" pitchFamily="18" charset="-120"/>
              </a:rPr>
              <a:t>Only the code-pool version keeps its lead</a:t>
            </a:r>
            <a:endParaRPr lang="en-US" sz="2800" dirty="0"/>
          </a:p>
        </p:txBody>
      </p:sp>
      <p:sp>
        <p:nvSpPr>
          <p:cNvPr id="4" name="Shape 2"/>
          <p:cNvSpPr/>
          <p:nvPr/>
        </p:nvSpPr>
        <p:spPr>
          <a:xfrm>
            <a:off x="711200" y="1470620"/>
            <a:ext cx="10769600" cy="3048000"/>
          </a:xfrm>
          <a:prstGeom prst="roundRect">
            <a:avLst>
              <a:gd name="adj" fmla="val 2500"/>
            </a:avLst>
          </a:prstGeom>
          <a:solidFill>
            <a:srgbClr val="FFFFFF"/>
          </a:solidFill>
          <a:ln/>
        </p:spPr>
        <p:txBody>
          <a:bodyPr/>
          <a:lstStyle/>
          <a:p>
            <a:endParaRPr lang="zh-CN" altLang="en-US"/>
          </a:p>
        </p:txBody>
      </p:sp>
      <p:pic>
        <p:nvPicPr>
          <p:cNvPr id="5" name="Image 0" descr="Cumulative and rolling accuracy for No Memory, checklist only, v4 and v7 over 101 tasks"/>
          <p:cNvPicPr>
            <a:picLocks noChangeAspect="1"/>
          </p:cNvPicPr>
          <p:nvPr/>
        </p:nvPicPr>
        <p:blipFill>
          <a:blip r:embed="rId3"/>
          <a:stretch>
            <a:fillRect/>
          </a:stretch>
        </p:blipFill>
        <p:spPr>
          <a:xfrm>
            <a:off x="1789043" y="1470620"/>
            <a:ext cx="8613913" cy="3048000"/>
          </a:xfrm>
          <a:prstGeom prst="rect">
            <a:avLst/>
          </a:prstGeom>
        </p:spPr>
      </p:pic>
      <p:sp>
        <p:nvSpPr>
          <p:cNvPr id="6" name="Shape 3"/>
          <p:cNvSpPr/>
          <p:nvPr/>
        </p:nvSpPr>
        <p:spPr>
          <a:xfrm>
            <a:off x="723900" y="4671020"/>
            <a:ext cx="0" cy="220960"/>
          </a:xfrm>
          <a:prstGeom prst="line">
            <a:avLst/>
          </a:prstGeom>
          <a:noFill/>
          <a:ln w="25400">
            <a:solidFill>
              <a:srgbClr val="2A78D6"/>
            </a:solidFill>
            <a:prstDash val="solid"/>
          </a:ln>
        </p:spPr>
        <p:txBody>
          <a:bodyPr/>
          <a:lstStyle/>
          <a:p>
            <a:endParaRPr lang="zh-CN" altLang="en-US"/>
          </a:p>
        </p:txBody>
      </p:sp>
      <p:sp>
        <p:nvSpPr>
          <p:cNvPr id="7" name="Text 4"/>
          <p:cNvSpPr/>
          <p:nvPr/>
        </p:nvSpPr>
        <p:spPr>
          <a:xfrm>
            <a:off x="838200" y="4671020"/>
            <a:ext cx="10961878" cy="246360"/>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4A5568"/>
                </a:solidFill>
                <a:latin typeface="Arial" pitchFamily="34" charset="0"/>
                <a:ea typeface="Arial" pitchFamily="34" charset="-122"/>
                <a:cs typeface="Arial" pitchFamily="34" charset="-120"/>
              </a:rPr>
              <a:t>Left: cumulative = average of all tasks so far. Right: rolling = average of the last 10 tasks, so it shows short-term ups and downs. Dotted line: task 30.</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0">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711200" y="508000"/>
            <a:ext cx="11092688"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2A78D6"/>
                </a:solidFill>
                <a:latin typeface="Arial" pitchFamily="34" charset="0"/>
                <a:ea typeface="Arial" pitchFamily="34" charset="-122"/>
                <a:cs typeface="Arial" pitchFamily="34" charset="-120"/>
              </a:rPr>
              <a:t>Ablation study · checklist vs. memory</a:t>
            </a:r>
            <a:endParaRPr lang="en-US" sz="1400" dirty="0"/>
          </a:p>
        </p:txBody>
      </p:sp>
      <p:sp>
        <p:nvSpPr>
          <p:cNvPr id="3" name="Text 1"/>
          <p:cNvSpPr>
            <a:spLocks noGrp="1"/>
          </p:cNvSpPr>
          <p:nvPr>
            <p:ph type="title"/>
          </p:nvPr>
        </p:nvSpPr>
        <p:spPr>
          <a:xfrm>
            <a:off x="711200" y="909290"/>
            <a:ext cx="11092688" cy="434330"/>
          </a:xfrm>
          <a:prstGeom prst="rect">
            <a:avLst/>
          </a:prstGeom>
          <a:noFill/>
          <a:ln/>
        </p:spPr>
        <p:txBody>
          <a:bodyPr wrap="square" lIns="0" tIns="0" rIns="0" bIns="0" rtlCol="0" anchor="t">
            <a:normAutofit/>
          </a:bodyPr>
          <a:lstStyle/>
          <a:p>
            <a:pPr marL="0" indent="0" algn="l">
              <a:lnSpc>
                <a:spcPts val="3220"/>
              </a:lnSpc>
              <a:buNone/>
            </a:pPr>
            <a:r>
              <a:rPr lang="en-US" sz="2800" b="1" i="0" dirty="0">
                <a:solidFill>
                  <a:srgbClr val="14213D"/>
                </a:solidFill>
                <a:latin typeface="Georgia" pitchFamily="18" charset="0"/>
                <a:ea typeface="Georgia" pitchFamily="18" charset="-122"/>
                <a:cs typeface="Georgia" pitchFamily="18" charset="-120"/>
              </a:rPr>
              <a:t>Memory, not the checklist, drives the gain</a:t>
            </a:r>
            <a:endParaRPr lang="en-US" sz="2800" dirty="0"/>
          </a:p>
        </p:txBody>
      </p:sp>
      <p:sp>
        <p:nvSpPr>
          <p:cNvPr id="4" name="Shape 2"/>
          <p:cNvSpPr/>
          <p:nvPr/>
        </p:nvSpPr>
        <p:spPr>
          <a:xfrm>
            <a:off x="711200" y="1470620"/>
            <a:ext cx="10769600" cy="3048000"/>
          </a:xfrm>
          <a:prstGeom prst="roundRect">
            <a:avLst>
              <a:gd name="adj" fmla="val 2500"/>
            </a:avLst>
          </a:prstGeom>
          <a:solidFill>
            <a:srgbClr val="FFFFFF"/>
          </a:solidFill>
          <a:ln/>
        </p:spPr>
        <p:txBody>
          <a:bodyPr/>
          <a:lstStyle/>
          <a:p>
            <a:endParaRPr lang="zh-CN" altLang="en-US"/>
          </a:p>
        </p:txBody>
      </p:sp>
      <p:pic>
        <p:nvPicPr>
          <p:cNvPr id="5" name="Image 0" descr="Accuracy and zero-score tasks for No Memory, checklist only and v7"/>
          <p:cNvPicPr>
            <a:picLocks noChangeAspect="1"/>
          </p:cNvPicPr>
          <p:nvPr/>
        </p:nvPicPr>
        <p:blipFill>
          <a:blip r:embed="rId3"/>
          <a:stretch>
            <a:fillRect/>
          </a:stretch>
        </p:blipFill>
        <p:spPr>
          <a:xfrm>
            <a:off x="1789043" y="1470620"/>
            <a:ext cx="8613913" cy="3048000"/>
          </a:xfrm>
          <a:prstGeom prst="rect">
            <a:avLst/>
          </a:prstGeom>
        </p:spPr>
      </p:pic>
      <p:sp>
        <p:nvSpPr>
          <p:cNvPr id="6" name="Shape 3"/>
          <p:cNvSpPr/>
          <p:nvPr/>
        </p:nvSpPr>
        <p:spPr>
          <a:xfrm>
            <a:off x="723900" y="4671020"/>
            <a:ext cx="0" cy="220960"/>
          </a:xfrm>
          <a:prstGeom prst="line">
            <a:avLst/>
          </a:prstGeom>
          <a:noFill/>
          <a:ln w="25400">
            <a:solidFill>
              <a:srgbClr val="2A78D6"/>
            </a:solidFill>
            <a:prstDash val="solid"/>
          </a:ln>
        </p:spPr>
        <p:txBody>
          <a:bodyPr/>
          <a:lstStyle/>
          <a:p>
            <a:endParaRPr lang="zh-CN" altLang="en-US"/>
          </a:p>
        </p:txBody>
      </p:sp>
      <p:sp>
        <p:nvSpPr>
          <p:cNvPr id="7" name="Text 4"/>
          <p:cNvSpPr/>
          <p:nvPr/>
        </p:nvSpPr>
        <p:spPr>
          <a:xfrm>
            <a:off x="838200" y="4671020"/>
            <a:ext cx="10961878" cy="246360"/>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4A5568"/>
                </a:solidFill>
                <a:latin typeface="Arial" pitchFamily="34" charset="0"/>
                <a:ea typeface="Arial" pitchFamily="34" charset="-122"/>
                <a:cs typeface="Arial" pitchFamily="34" charset="-120"/>
              </a:rPr>
              <a:t>Zero-score tasks: sites where every check fails.</a:t>
            </a:r>
            <a:endParaRPr lang="en-US" sz="1200" dirty="0"/>
          </a:p>
        </p:txBody>
      </p:sp>
      <p:sp>
        <p:nvSpPr>
          <p:cNvPr id="8" name="TextBox 7"/>
          <p:cNvSpPr txBox="1"/>
          <p:nvPr/>
        </p:nvSpPr>
        <p:spPr>
          <a:xfrm>
            <a:off x="838200" y="5000000"/>
            <a:ext cx="10961878" cy="1200000"/>
          </a:xfrm>
          <a:prstGeom prst="rect">
            <a:avLst/>
          </a:prstGeom>
          <a:noFill/>
        </p:spPr>
        <p:txBody>
          <a:bodyPr wrap="square">
            <a:spAutoFit/>
          </a:bodyPr>
          <a:lstStyle/>
          <a:p>
            <a:pPr>
              <a:spcAft>
                <a:spcPts val="400"/>
              </a:spcAft>
            </a:pPr>
            <a:r>
              <a:rPr sz="1400" b="1">
                <a:solidFill>
                  <a:srgbClr val="14213D"/>
                </a:solidFill>
                <a:latin typeface="Arial"/>
              </a:rPr>
              <a:t>Takeaways</a:t>
            </a:r>
          </a:p>
          <a:p>
            <a:pPr>
              <a:spcAft>
                <a:spcPts val="400"/>
              </a:spcAft>
            </a:pPr>
            <a:r>
              <a:rPr sz="1400" b="0">
                <a:solidFill>
                  <a:srgbClr val="14213D"/>
                </a:solidFill>
                <a:latin typeface="Arial"/>
              </a:rPr>
              <a:t>Checklist alone: +3.4 points, CI includes 0; mainly fewer blank sites.</a:t>
            </a:r>
          </a:p>
          <a:p>
            <a:pPr>
              <a:spcAft>
                <a:spcPts val="400"/>
              </a:spcAft>
            </a:pPr>
            <a:r>
              <a:rPr sz="1400" b="0">
                <a:solidFill>
                  <a:srgbClr val="14213D"/>
                </a:solidFill>
                <a:latin typeface="Arial"/>
              </a:rPr>
              <a:t>Memory on top of the checklist: +8.1 points (95% CI 2.9 to 13.2).</a:t>
            </a:r>
          </a:p>
          <a:p>
            <a:pPr>
              <a:spcAft>
                <a:spcPts val="400"/>
              </a:spcAft>
            </a:pPr>
            <a:r>
              <a:rPr sz="1400" b="0">
                <a:solidFill>
                  <a:srgbClr val="14213D"/>
                </a:solidFill>
                <a:latin typeface="Arial"/>
              </a:rPr>
              <a:t>So most of the gain comes from memory, not from splitting the request.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1">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2A78D6"/>
                </a:solidFill>
                <a:latin typeface="Arial" pitchFamily="34" charset="0"/>
                <a:ea typeface="Arial" pitchFamily="34" charset="-122"/>
                <a:cs typeface="Arial" pitchFamily="34" charset="-120"/>
              </a:rPr>
              <a:t>Task order · two new orders</a:t>
            </a:r>
            <a:endParaRPr lang="en-US" sz="1400" dirty="0"/>
          </a:p>
        </p:txBody>
      </p:sp>
      <p:sp>
        <p:nvSpPr>
          <p:cNvPr id="3" name="Text 1"/>
          <p:cNvSpPr>
            <a:spLocks noGrp="1"/>
          </p:cNvSpPr>
          <p:nvPr>
            <p:ph type="title"/>
          </p:nvPr>
        </p:nvSpPr>
        <p:spPr>
          <a:xfrm>
            <a:off x="812800" y="985490"/>
            <a:ext cx="10883392" cy="463550"/>
          </a:xfrm>
          <a:prstGeom prst="rect">
            <a:avLst/>
          </a:prstGeom>
          <a:noFill/>
          <a:ln/>
        </p:spPr>
        <p:txBody>
          <a:bodyPr wrap="square" lIns="0" tIns="0" rIns="0" bIns="0" rtlCol="0" anchor="t">
            <a:normAutofit fontScale="90000"/>
          </a:bodyPr>
          <a:lstStyle/>
          <a:p>
            <a:pPr marL="0" indent="0" algn="l">
              <a:lnSpc>
                <a:spcPts val="3450"/>
              </a:lnSpc>
              <a:buNone/>
            </a:pPr>
            <a:r>
              <a:rPr lang="en-US" sz="3000" b="1" i="0" dirty="0">
                <a:solidFill>
                  <a:srgbClr val="14213D"/>
                </a:solidFill>
                <a:latin typeface="Georgia" pitchFamily="18" charset="0"/>
                <a:ea typeface="Georgia" pitchFamily="18" charset="-122"/>
                <a:cs typeface="Georgia" pitchFamily="18" charset="-120"/>
              </a:rPr>
              <a:t>Whole-file examples caused blank sites; fragments fixed it</a:t>
            </a:r>
            <a:endParaRPr lang="en-US" sz="3000" dirty="0"/>
          </a:p>
        </p:txBody>
      </p:sp>
      <p:graphicFrame>
        <p:nvGraphicFramePr>
          <p:cNvPr id="4" name="Table 3"/>
          <p:cNvGraphicFramePr>
            <a:graphicFrameLocks noGrp="1"/>
          </p:cNvGraphicFramePr>
          <p:nvPr/>
        </p:nvGraphicFramePr>
        <p:xfrm>
          <a:off x="825500" y="1900000"/>
          <a:ext cx="10553699" cy="1650000"/>
        </p:xfrm>
        <a:graphic>
          <a:graphicData uri="http://schemas.openxmlformats.org/drawingml/2006/table">
            <a:tbl>
              <a:tblPr/>
              <a:tblGrid>
                <a:gridCol w="2388468">
                  <a:extLst>
                    <a:ext uri="{9D8B030D-6E8A-4147-A177-3AD203B41FA5}">
                      <a16:colId xmlns:a16="http://schemas.microsoft.com/office/drawing/2014/main" val="20000"/>
                    </a:ext>
                  </a:extLst>
                </a:gridCol>
                <a:gridCol w="2277377">
                  <a:extLst>
                    <a:ext uri="{9D8B030D-6E8A-4147-A177-3AD203B41FA5}">
                      <a16:colId xmlns:a16="http://schemas.microsoft.com/office/drawing/2014/main" val="20001"/>
                    </a:ext>
                  </a:extLst>
                </a:gridCol>
                <a:gridCol w="3610476">
                  <a:extLst>
                    <a:ext uri="{9D8B030D-6E8A-4147-A177-3AD203B41FA5}">
                      <a16:colId xmlns:a16="http://schemas.microsoft.com/office/drawing/2014/main" val="20002"/>
                    </a:ext>
                  </a:extLst>
                </a:gridCol>
                <a:gridCol w="2277378">
                  <a:extLst>
                    <a:ext uri="{9D8B030D-6E8A-4147-A177-3AD203B41FA5}">
                      <a16:colId xmlns:a16="http://schemas.microsoft.com/office/drawing/2014/main" val="20003"/>
                    </a:ext>
                  </a:extLst>
                </a:gridCol>
              </a:tblGrid>
              <a:tr h="330000">
                <a:tc>
                  <a:txBody>
                    <a:bodyPr/>
                    <a:lstStyle/>
                    <a:p>
                      <a:r>
                        <a:rPr sz="1200" b="1">
                          <a:solidFill>
                            <a:srgbClr val="14213D"/>
                          </a:solidFill>
                          <a:latin typeface="Arial"/>
                        </a:rPr>
                        <a:t>Task order</a:t>
                      </a:r>
                    </a:p>
                  </a:txBody>
                  <a:tcPr marL="60000" marR="60000" marT="40000" marB="40000">
                    <a:solidFill>
                      <a:srgbClr val="EEF2F8"/>
                    </a:solidFill>
                  </a:tcPr>
                </a:tc>
                <a:tc>
                  <a:txBody>
                    <a:bodyPr/>
                    <a:lstStyle/>
                    <a:p>
                      <a:r>
                        <a:rPr sz="1200" b="1">
                          <a:solidFill>
                            <a:srgbClr val="14213D"/>
                          </a:solidFill>
                          <a:latin typeface="Arial"/>
                        </a:rPr>
                        <a:t>Version</a:t>
                      </a:r>
                    </a:p>
                  </a:txBody>
                  <a:tcPr marL="60000" marR="60000" marT="40000" marB="40000">
                    <a:solidFill>
                      <a:srgbClr val="EEF2F8"/>
                    </a:solidFill>
                  </a:tcPr>
                </a:tc>
                <a:tc>
                  <a:txBody>
                    <a:bodyPr/>
                    <a:lstStyle/>
                    <a:p>
                      <a:r>
                        <a:rPr sz="1200" b="1">
                          <a:solidFill>
                            <a:srgbClr val="14213D"/>
                          </a:solidFill>
                          <a:latin typeface="Arial"/>
                        </a:rPr>
                        <a:t>Code example in memory</a:t>
                      </a:r>
                    </a:p>
                  </a:txBody>
                  <a:tcPr marL="60000" marR="60000" marT="40000" marB="40000">
                    <a:solidFill>
                      <a:srgbClr val="EEF2F8"/>
                    </a:solidFill>
                  </a:tcPr>
                </a:tc>
                <a:tc>
                  <a:txBody>
                    <a:bodyPr/>
                    <a:lstStyle/>
                    <a:p>
                      <a:r>
                        <a:rPr sz="1200" b="1">
                          <a:solidFill>
                            <a:srgbClr val="14213D"/>
                          </a:solidFill>
                          <a:latin typeface="Arial"/>
                        </a:rPr>
                        <a:t>Blank scaffolds</a:t>
                      </a:r>
                    </a:p>
                  </a:txBody>
                  <a:tcPr marL="60000" marR="60000" marT="40000" marB="40000">
                    <a:solidFill>
                      <a:srgbClr val="EEF2F8"/>
                    </a:solidFill>
                  </a:tcPr>
                </a:tc>
                <a:extLst>
                  <a:ext uri="{0D108BD9-81ED-4DB2-BD59-A6C34878D82A}">
                    <a16:rowId xmlns:a16="http://schemas.microsoft.com/office/drawing/2014/main" val="10000"/>
                  </a:ext>
                </a:extLst>
              </a:tr>
              <a:tr h="330000">
                <a:tc>
                  <a:txBody>
                    <a:bodyPr/>
                    <a:lstStyle/>
                    <a:p>
                      <a:r>
                        <a:rPr sz="1200" b="0">
                          <a:solidFill>
                            <a:srgbClr val="14213D"/>
                          </a:solidFill>
                          <a:latin typeface="Arial"/>
                        </a:rPr>
                        <a:t>Shuffled, domains grouped</a:t>
                      </a:r>
                    </a:p>
                  </a:txBody>
                  <a:tcPr marL="60000" marR="60000" marT="40000" marB="40000">
                    <a:solidFill>
                      <a:srgbClr val="FFFFFF"/>
                    </a:solidFill>
                  </a:tcPr>
                </a:tc>
                <a:tc>
                  <a:txBody>
                    <a:bodyPr/>
                    <a:lstStyle/>
                    <a:p>
                      <a:r>
                        <a:rPr sz="1200" b="0">
                          <a:solidFill>
                            <a:srgbClr val="14213D"/>
                          </a:solidFill>
                          <a:latin typeface="Arial"/>
                        </a:rPr>
                        <a:t>Code memory (whole-file)</a:t>
                      </a:r>
                    </a:p>
                  </a:txBody>
                  <a:tcPr marL="60000" marR="60000" marT="40000" marB="40000">
                    <a:solidFill>
                      <a:srgbClr val="FFFFFF"/>
                    </a:solidFill>
                  </a:tcPr>
                </a:tc>
                <a:tc>
                  <a:txBody>
                    <a:bodyPr/>
                    <a:lstStyle/>
                    <a:p>
                      <a:r>
                        <a:rPr sz="1200" b="0">
                          <a:solidFill>
                            <a:srgbClr val="14213D"/>
                          </a:solidFill>
                          <a:latin typeface="Arial"/>
                        </a:rPr>
                        <a:t>Whole App.vue file</a:t>
                      </a:r>
                    </a:p>
                  </a:txBody>
                  <a:tcPr marL="60000" marR="60000" marT="40000" marB="40000">
                    <a:solidFill>
                      <a:srgbClr val="FFFFFF"/>
                    </a:solidFill>
                  </a:tcPr>
                </a:tc>
                <a:tc>
                  <a:txBody>
                    <a:bodyPr/>
                    <a:lstStyle/>
                    <a:p>
                      <a:r>
                        <a:rPr sz="1200" b="0">
                          <a:solidFill>
                            <a:srgbClr val="14213D"/>
                          </a:solidFill>
                          <a:latin typeface="Arial"/>
                        </a:rPr>
                        <a:t>19</a:t>
                      </a:r>
                    </a:p>
                  </a:txBody>
                  <a:tcPr marL="60000" marR="60000" marT="40000" marB="40000">
                    <a:solidFill>
                      <a:srgbClr val="FFFFFF"/>
                    </a:solidFill>
                  </a:tcPr>
                </a:tc>
                <a:extLst>
                  <a:ext uri="{0D108BD9-81ED-4DB2-BD59-A6C34878D82A}">
                    <a16:rowId xmlns:a16="http://schemas.microsoft.com/office/drawing/2014/main" val="10001"/>
                  </a:ext>
                </a:extLst>
              </a:tr>
              <a:tr h="330000">
                <a:tc>
                  <a:txBody>
                    <a:bodyPr/>
                    <a:lstStyle/>
                    <a:p>
                      <a:r>
                        <a:rPr sz="1200" b="0">
                          <a:solidFill>
                            <a:srgbClr val="14213D"/>
                          </a:solidFill>
                          <a:latin typeface="Arial"/>
                        </a:rPr>
                        <a:t>Shuffled, domains grouped</a:t>
                      </a:r>
                    </a:p>
                  </a:txBody>
                  <a:tcPr marL="60000" marR="60000" marT="40000" marB="40000">
                    <a:solidFill>
                      <a:srgbClr val="FFFFFF"/>
                    </a:solidFill>
                  </a:tcPr>
                </a:tc>
                <a:tc>
                  <a:txBody>
                    <a:bodyPr/>
                    <a:lstStyle/>
                    <a:p>
                      <a:r>
                        <a:rPr sz="1200" b="0">
                          <a:solidFill>
                            <a:srgbClr val="14213D"/>
                          </a:solidFill>
                          <a:latin typeface="Arial"/>
                        </a:rPr>
                        <a:t>Code memory (fragments)</a:t>
                      </a:r>
                    </a:p>
                  </a:txBody>
                  <a:tcPr marL="60000" marR="60000" marT="40000" marB="40000">
                    <a:solidFill>
                      <a:srgbClr val="FFFFFF"/>
                    </a:solidFill>
                  </a:tcPr>
                </a:tc>
                <a:tc>
                  <a:txBody>
                    <a:bodyPr/>
                    <a:lstStyle/>
                    <a:p>
                      <a:r>
                        <a:rPr sz="1200" b="0">
                          <a:solidFill>
                            <a:srgbClr val="14213D"/>
                          </a:solidFill>
                          <a:latin typeface="Arial"/>
                        </a:rPr>
                        <a:t>Checked fragment</a:t>
                      </a:r>
                    </a:p>
                  </a:txBody>
                  <a:tcPr marL="60000" marR="60000" marT="40000" marB="40000">
                    <a:solidFill>
                      <a:srgbClr val="FFFFFF"/>
                    </a:solidFill>
                  </a:tcPr>
                </a:tc>
                <a:tc>
                  <a:txBody>
                    <a:bodyPr/>
                    <a:lstStyle/>
                    <a:p>
                      <a:r>
                        <a:rPr sz="1200" b="1">
                          <a:solidFill>
                            <a:srgbClr val="14213D"/>
                          </a:solidFill>
                          <a:latin typeface="Arial"/>
                        </a:rPr>
                        <a:t>0</a:t>
                      </a:r>
                    </a:p>
                  </a:txBody>
                  <a:tcPr marL="60000" marR="60000" marT="40000" marB="40000">
                    <a:solidFill>
                      <a:srgbClr val="FFFFFF"/>
                    </a:solidFill>
                  </a:tcPr>
                </a:tc>
                <a:extLst>
                  <a:ext uri="{0D108BD9-81ED-4DB2-BD59-A6C34878D82A}">
                    <a16:rowId xmlns:a16="http://schemas.microsoft.com/office/drawing/2014/main" val="10002"/>
                  </a:ext>
                </a:extLst>
              </a:tr>
              <a:tr h="330000">
                <a:tc>
                  <a:txBody>
                    <a:bodyPr/>
                    <a:lstStyle/>
                    <a:p>
                      <a:r>
                        <a:rPr sz="1200" b="0">
                          <a:solidFill>
                            <a:srgbClr val="14213D"/>
                          </a:solidFill>
                          <a:latin typeface="Arial"/>
                        </a:rPr>
                        <a:t>Fully random</a:t>
                      </a:r>
                    </a:p>
                  </a:txBody>
                  <a:tcPr marL="60000" marR="60000" marT="40000" marB="40000">
                    <a:solidFill>
                      <a:srgbClr val="FFFFFF"/>
                    </a:solidFill>
                  </a:tcPr>
                </a:tc>
                <a:tc>
                  <a:txBody>
                    <a:bodyPr/>
                    <a:lstStyle/>
                    <a:p>
                      <a:r>
                        <a:rPr sz="1200" b="0">
                          <a:solidFill>
                            <a:srgbClr val="14213D"/>
                          </a:solidFill>
                          <a:latin typeface="Arial"/>
                        </a:rPr>
                        <a:t>Code memory (whole-file)</a:t>
                      </a:r>
                    </a:p>
                  </a:txBody>
                  <a:tcPr marL="60000" marR="60000" marT="40000" marB="40000">
                    <a:solidFill>
                      <a:srgbClr val="FFFFFF"/>
                    </a:solidFill>
                  </a:tcPr>
                </a:tc>
                <a:tc>
                  <a:txBody>
                    <a:bodyPr/>
                    <a:lstStyle/>
                    <a:p>
                      <a:r>
                        <a:rPr sz="1200" b="0">
                          <a:solidFill>
                            <a:srgbClr val="14213D"/>
                          </a:solidFill>
                          <a:latin typeface="Arial"/>
                        </a:rPr>
                        <a:t>Whole App.vue file</a:t>
                      </a:r>
                    </a:p>
                  </a:txBody>
                  <a:tcPr marL="60000" marR="60000" marT="40000" marB="40000">
                    <a:solidFill>
                      <a:srgbClr val="FFFFFF"/>
                    </a:solidFill>
                  </a:tcPr>
                </a:tc>
                <a:tc>
                  <a:txBody>
                    <a:bodyPr/>
                    <a:lstStyle/>
                    <a:p>
                      <a:r>
                        <a:rPr sz="1200" b="0">
                          <a:solidFill>
                            <a:srgbClr val="14213D"/>
                          </a:solidFill>
                          <a:latin typeface="Arial"/>
                        </a:rPr>
                        <a:t>16</a:t>
                      </a:r>
                    </a:p>
                  </a:txBody>
                  <a:tcPr marL="60000" marR="60000" marT="40000" marB="40000">
                    <a:solidFill>
                      <a:srgbClr val="FFFFFF"/>
                    </a:solidFill>
                  </a:tcPr>
                </a:tc>
                <a:extLst>
                  <a:ext uri="{0D108BD9-81ED-4DB2-BD59-A6C34878D82A}">
                    <a16:rowId xmlns:a16="http://schemas.microsoft.com/office/drawing/2014/main" val="10003"/>
                  </a:ext>
                </a:extLst>
              </a:tr>
              <a:tr h="330000">
                <a:tc>
                  <a:txBody>
                    <a:bodyPr/>
                    <a:lstStyle/>
                    <a:p>
                      <a:r>
                        <a:rPr sz="1200" b="0">
                          <a:solidFill>
                            <a:srgbClr val="14213D"/>
                          </a:solidFill>
                          <a:latin typeface="Arial"/>
                        </a:rPr>
                        <a:t>Fully random</a:t>
                      </a:r>
                    </a:p>
                  </a:txBody>
                  <a:tcPr marL="60000" marR="60000" marT="40000" marB="40000">
                    <a:solidFill>
                      <a:srgbClr val="FFFFFF"/>
                    </a:solidFill>
                  </a:tcPr>
                </a:tc>
                <a:tc>
                  <a:txBody>
                    <a:bodyPr/>
                    <a:lstStyle/>
                    <a:p>
                      <a:r>
                        <a:rPr sz="1200" b="0">
                          <a:solidFill>
                            <a:srgbClr val="14213D"/>
                          </a:solidFill>
                          <a:latin typeface="Arial"/>
                        </a:rPr>
                        <a:t>Code memory (fragments)</a:t>
                      </a:r>
                    </a:p>
                  </a:txBody>
                  <a:tcPr marL="60000" marR="60000" marT="40000" marB="40000">
                    <a:solidFill>
                      <a:srgbClr val="FFFFFF"/>
                    </a:solidFill>
                  </a:tcPr>
                </a:tc>
                <a:tc>
                  <a:txBody>
                    <a:bodyPr/>
                    <a:lstStyle/>
                    <a:p>
                      <a:r>
                        <a:rPr sz="1200" b="0">
                          <a:solidFill>
                            <a:srgbClr val="14213D"/>
                          </a:solidFill>
                          <a:latin typeface="Arial"/>
                        </a:rPr>
                        <a:t>Checked fragment</a:t>
                      </a:r>
                    </a:p>
                  </a:txBody>
                  <a:tcPr marL="60000" marR="60000" marT="40000" marB="40000">
                    <a:solidFill>
                      <a:srgbClr val="FFFFFF"/>
                    </a:solidFill>
                  </a:tcPr>
                </a:tc>
                <a:tc>
                  <a:txBody>
                    <a:bodyPr/>
                    <a:lstStyle/>
                    <a:p>
                      <a:r>
                        <a:rPr sz="1200" b="1">
                          <a:solidFill>
                            <a:srgbClr val="14213D"/>
                          </a:solidFill>
                          <a:latin typeface="Arial"/>
                        </a:rPr>
                        <a:t>0</a:t>
                      </a:r>
                    </a:p>
                  </a:txBody>
                  <a:tcPr marL="60000" marR="60000" marT="40000" marB="40000">
                    <a:solidFill>
                      <a:srgbClr val="FFFFFF"/>
                    </a:solidFill>
                  </a:tcPr>
                </a:tc>
                <a:extLst>
                  <a:ext uri="{0D108BD9-81ED-4DB2-BD59-A6C34878D82A}">
                    <a16:rowId xmlns:a16="http://schemas.microsoft.com/office/drawing/2014/main" val="10004"/>
                  </a:ext>
                </a:extLst>
              </a:tr>
            </a:tbl>
          </a:graphicData>
        </a:graphic>
      </p:graphicFrame>
      <p:pic>
        <p:nvPicPr>
          <p:cNvPr id="5" name="Picture 4" descr="gap_order_seed11_v91.png"/>
          <p:cNvPicPr>
            <a:picLocks noChangeAspect="1"/>
          </p:cNvPicPr>
          <p:nvPr/>
        </p:nvPicPr>
        <p:blipFill>
          <a:blip r:embed="rId3"/>
          <a:stretch>
            <a:fillRect/>
          </a:stretch>
        </p:blipFill>
        <p:spPr>
          <a:xfrm>
            <a:off x="692978" y="4150000"/>
            <a:ext cx="5900000" cy="2467000"/>
          </a:xfrm>
          <a:prstGeom prst="rect">
            <a:avLst/>
          </a:prstGeom>
        </p:spPr>
      </p:pic>
      <p:sp>
        <p:nvSpPr>
          <p:cNvPr id="6" name="TextBox 5"/>
          <p:cNvSpPr txBox="1"/>
          <p:nvPr/>
        </p:nvSpPr>
        <p:spPr>
          <a:xfrm>
            <a:off x="7000000" y="4150000"/>
            <a:ext cx="3780000" cy="2500000"/>
          </a:xfrm>
          <a:prstGeom prst="rect">
            <a:avLst/>
          </a:prstGeom>
          <a:noFill/>
        </p:spPr>
        <p:txBody>
          <a:bodyPr wrap="square">
            <a:spAutoFit/>
          </a:bodyPr>
          <a:lstStyle/>
          <a:p>
            <a:pPr>
              <a:spcAft>
                <a:spcPts val="400"/>
              </a:spcAft>
            </a:pPr>
            <a:r>
              <a:rPr sz="1200" b="1">
                <a:solidFill>
                  <a:srgbClr val="14213D"/>
                </a:solidFill>
                <a:latin typeface="Arial"/>
              </a:rPr>
              <a:t>What it means</a:t>
            </a:r>
          </a:p>
          <a:p>
            <a:pPr>
              <a:spcAft>
                <a:spcPts val="400"/>
              </a:spcAft>
            </a:pPr>
            <a:r>
              <a:rPr sz="1200" b="0">
                <a:solidFill>
                  <a:srgbClr val="14213D"/>
                </a:solidFill>
                <a:latin typeface="Arial"/>
              </a:rPr>
              <a:t>With whole-file examples, the model copied a whole file as a finished answer and returned the empty starter project.</a:t>
            </a:r>
          </a:p>
          <a:p>
            <a:pPr>
              <a:spcAft>
                <a:spcPts val="400"/>
              </a:spcAft>
            </a:pPr>
            <a:r>
              <a:rPr sz="1200" b="0">
                <a:solidFill>
                  <a:srgbClr val="14213D"/>
                </a:solidFill>
                <a:latin typeface="Arial"/>
              </a:rPr>
              <a:t>With fragments: zero blank sites in both orders. In the original order they stopped vue-router less reliably (35.2% vs 40.0%).</a:t>
            </a:r>
          </a:p>
          <a:p>
            <a:pPr>
              <a:spcAft>
                <a:spcPts val="400"/>
              </a:spcAft>
            </a:pPr>
            <a:r>
              <a:rPr sz="1200" b="0">
                <a:solidFill>
                  <a:srgbClr val="14213D"/>
                </a:solidFill>
                <a:latin typeface="Arial"/>
              </a:rPr>
              <a:t>Chart: fragments version minus No Memory, averaged over the last 10 tasks; above 0 = memory scores higher.</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1">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2A78D6"/>
                </a:solidFill>
                <a:latin typeface="Arial" pitchFamily="34" charset="0"/>
                <a:ea typeface="Arial" pitchFamily="34" charset="-122"/>
                <a:cs typeface="Arial" pitchFamily="34" charset="-120"/>
              </a:rPr>
              <a:t>Limits and next steps</a:t>
            </a:r>
            <a:endParaRPr lang="en-US" sz="1400" dirty="0"/>
          </a:p>
        </p:txBody>
      </p:sp>
      <p:sp>
        <p:nvSpPr>
          <p:cNvPr id="3" name="Text 1"/>
          <p:cNvSpPr>
            <a:spLocks noGrp="1"/>
          </p:cNvSpPr>
          <p:nvPr>
            <p:ph type="title"/>
          </p:nvPr>
        </p:nvSpPr>
        <p:spPr>
          <a:xfrm>
            <a:off x="812800" y="1214090"/>
            <a:ext cx="10883392" cy="463550"/>
          </a:xfrm>
          <a:prstGeom prst="rect">
            <a:avLst/>
          </a:prstGeom>
          <a:noFill/>
          <a:ln/>
        </p:spPr>
        <p:txBody>
          <a:bodyPr wrap="square" lIns="0" tIns="0" rIns="0" bIns="0" rtlCol="0" anchor="t">
            <a:normAutofit/>
          </a:bodyPr>
          <a:lstStyle/>
          <a:p>
            <a:pPr marL="0" indent="0" algn="l">
              <a:lnSpc>
                <a:spcPts val="3450"/>
              </a:lnSpc>
              <a:buNone/>
            </a:pPr>
            <a:r>
              <a:rPr lang="en-US" sz="3000" b="1" i="0" dirty="0">
                <a:solidFill>
                  <a:srgbClr val="14213D"/>
                </a:solidFill>
                <a:latin typeface="Georgia" pitchFamily="18" charset="0"/>
                <a:ea typeface="Georgia" pitchFamily="18" charset="-122"/>
                <a:cs typeface="Georgia" pitchFamily="18" charset="-120"/>
              </a:rPr>
              <a:t>What we still need to check</a:t>
            </a:r>
            <a:endParaRPr lang="en-US" sz="3000" dirty="0"/>
          </a:p>
        </p:txBody>
      </p:sp>
      <p:sp>
        <p:nvSpPr>
          <p:cNvPr id="4" name="Text 2"/>
          <p:cNvSpPr/>
          <p:nvPr/>
        </p:nvSpPr>
        <p:spPr>
          <a:xfrm>
            <a:off x="812800" y="1906240"/>
            <a:ext cx="5337048"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4213D"/>
                </a:solidFill>
                <a:latin typeface="Arial" pitchFamily="34" charset="0"/>
                <a:ea typeface="Arial" pitchFamily="34" charset="-122"/>
                <a:cs typeface="Arial" pitchFamily="34" charset="-120"/>
              </a:rPr>
              <a:t>Limits</a:t>
            </a:r>
            <a:endParaRPr lang="en-US" sz="1800" dirty="0"/>
          </a:p>
        </p:txBody>
      </p:sp>
      <p:sp>
        <p:nvSpPr>
          <p:cNvPr id="5" name="Text 3"/>
          <p:cNvSpPr/>
          <p:nvPr/>
        </p:nvSpPr>
        <p:spPr>
          <a:xfrm>
            <a:off x="896620" y="2282130"/>
            <a:ext cx="5245608" cy="2600000"/>
          </a:xfrm>
          <a:prstGeom prst="rect">
            <a:avLst/>
          </a:prstGeom>
          <a:noFill/>
          <a:ln/>
        </p:spPr>
        <p:txBody>
          <a:bodyPr wrap="square" lIns="0" tIns="0" rIns="0" bIns="0" rtlCol="0" anchor="t">
            <a:noAutofit/>
          </a:bodyPr>
          <a:lstStyle/>
          <a:p>
            <a:pPr marL="170180" indent="-170180" algn="l">
              <a:lnSpc>
                <a:spcPts val="2400"/>
              </a:lnSpc>
              <a:buSzPct val="100000"/>
              <a:buChar char="•"/>
            </a:pPr>
            <a:r>
              <a:rPr lang="en-US" sz="1500" dirty="0">
                <a:solidFill>
                  <a:srgbClr val="4A5568"/>
                </a:solidFill>
                <a:latin typeface="Arial" pitchFamily="34" charset="0"/>
                <a:ea typeface="Arial" pitchFamily="34" charset="-122"/>
                <a:cs typeface="Arial" pitchFamily="34" charset="-120"/>
              </a:rPr>
              <a:t>One run per task order (the paper also uses one run)</a:t>
            </a:r>
            <a:endParaRPr lang="en-US" sz="1500" dirty="0"/>
          </a:p>
          <a:p>
            <a:pPr marL="170180" indent="-170180" algn="l">
              <a:lnSpc>
                <a:spcPts val="2400"/>
              </a:lnSpc>
              <a:buSzPct val="100000"/>
              <a:buChar char="•"/>
            </a:pPr>
            <a:r>
              <a:rPr lang="en-US" sz="1500" dirty="0">
                <a:solidFill>
                  <a:srgbClr val="4A5568"/>
                </a:solidFill>
                <a:latin typeface="Arial" pitchFamily="34" charset="0"/>
                <a:ea typeface="Arial" pitchFamily="34" charset="-122"/>
                <a:cs typeface="Arial" pitchFamily="34" charset="-120"/>
              </a:rPr>
              <a:t>Gain is in features, not in look (3.25 vs 3.22)</a:t>
            </a:r>
            <a:endParaRPr lang="en-US" sz="1500" dirty="0"/>
          </a:p>
          <a:p>
            <a:pPr marL="170180" indent="-170180" algn="l">
              <a:lnSpc>
                <a:spcPts val="2400"/>
              </a:lnSpc>
              <a:buSzPct val="100000"/>
              <a:buChar char="•"/>
            </a:pPr>
            <a:r>
              <a:rPr lang="en-US" sz="1500" dirty="0">
                <a:solidFill>
                  <a:srgbClr val="4A5568"/>
                </a:solidFill>
                <a:latin typeface="Arial" pitchFamily="34" charset="0"/>
                <a:ea typeface="Arial" pitchFamily="34" charset="-122"/>
                <a:cs typeface="Arial" pitchFamily="34" charset="-120"/>
              </a:rPr>
              <a:t>One model and one tool (Bolt + Vue)</a:t>
            </a:r>
            <a:endParaRPr lang="en-US" sz="1500" dirty="0"/>
          </a:p>
          <a:p>
            <a:pPr marL="170180" indent="-170180" algn="l">
              <a:lnSpc>
                <a:spcPts val="2400"/>
              </a:lnSpc>
              <a:buSzPct val="100000"/>
              <a:buChar char="•"/>
            </a:pPr>
            <a:r>
              <a:rPr lang="en-US" sz="1500" dirty="0">
                <a:solidFill>
                  <a:srgbClr val="4A5568"/>
                </a:solidFill>
                <a:latin typeface="Arial" pitchFamily="34" charset="0"/>
                <a:ea typeface="Arial" pitchFamily="34" charset="-122"/>
                <a:cs typeface="Arial" pitchFamily="34" charset="-120"/>
              </a:rPr>
              <a:t>Method tuned on the same 101 tasks; original order: fragments 35.2% vs whole-file 40.0%</a:t>
            </a:r>
            <a:endParaRPr lang="en-US" sz="1500" dirty="0"/>
          </a:p>
        </p:txBody>
      </p:sp>
      <p:sp>
        <p:nvSpPr>
          <p:cNvPr id="6" name="Text 4"/>
          <p:cNvSpPr/>
          <p:nvPr/>
        </p:nvSpPr>
        <p:spPr>
          <a:xfrm>
            <a:off x="6197600" y="1906240"/>
            <a:ext cx="5337048"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4213D"/>
                </a:solidFill>
                <a:latin typeface="Arial" pitchFamily="34" charset="0"/>
                <a:ea typeface="Arial" pitchFamily="34" charset="-122"/>
                <a:cs typeface="Arial" pitchFamily="34" charset="-120"/>
              </a:rPr>
              <a:t>Next steps</a:t>
            </a:r>
            <a:endParaRPr lang="en-US" sz="1800" dirty="0"/>
          </a:p>
        </p:txBody>
      </p:sp>
      <p:sp>
        <p:nvSpPr>
          <p:cNvPr id="7" name="Text 5"/>
          <p:cNvSpPr/>
          <p:nvPr/>
        </p:nvSpPr>
        <p:spPr>
          <a:xfrm>
            <a:off x="6281420" y="2282130"/>
            <a:ext cx="5245608" cy="2600000"/>
          </a:xfrm>
          <a:prstGeom prst="rect">
            <a:avLst/>
          </a:prstGeom>
          <a:noFill/>
          <a:ln/>
        </p:spPr>
        <p:txBody>
          <a:bodyPr wrap="square" lIns="0" tIns="0" rIns="0" bIns="0" rtlCol="0" anchor="t">
            <a:noAutofit/>
          </a:bodyPr>
          <a:lstStyle/>
          <a:p>
            <a:pPr marL="170180" indent="-170180" algn="l">
              <a:lnSpc>
                <a:spcPts val="2400"/>
              </a:lnSpc>
              <a:buSzPct val="100000"/>
              <a:buChar char="•"/>
            </a:pPr>
            <a:r>
              <a:rPr lang="en-US" sz="1500" dirty="0">
                <a:solidFill>
                  <a:srgbClr val="4A5568"/>
                </a:solidFill>
                <a:latin typeface="Arial" pitchFamily="34" charset="0"/>
                <a:ea typeface="Arial" pitchFamily="34" charset="-122"/>
                <a:cs typeface="Arial" pitchFamily="34" charset="-120"/>
              </a:rPr>
              <a:t>Seed 47 and alternating orders: about 17–18 Oct</a:t>
            </a:r>
            <a:endParaRPr lang="en-US" sz="1500" dirty="0"/>
          </a:p>
          <a:p>
            <a:pPr marL="170180" indent="-170180" algn="l">
              <a:lnSpc>
                <a:spcPts val="2400"/>
              </a:lnSpc>
              <a:buSzPct val="100000"/>
              <a:buChar char="•"/>
            </a:pPr>
            <a:r>
              <a:rPr lang="en-US" sz="1500" dirty="0">
                <a:solidFill>
                  <a:srgbClr val="4A5568"/>
                </a:solidFill>
                <a:latin typeface="Arial" pitchFamily="34" charset="0"/>
                <a:ea typeface="Arial" pitchFamily="34" charset="-122"/>
                <a:cs typeface="Arial" pitchFamily="34" charset="-120"/>
              </a:rPr>
              <a:t>Fixed code prefix: after seed 47</a:t>
            </a:r>
            <a:endParaRPr lang="en-US" sz="1500" dirty="0"/>
          </a:p>
          <a:p>
            <a:pPr marL="170180" indent="-170180" algn="l">
              <a:lnSpc>
                <a:spcPts val="2400"/>
              </a:lnSpc>
              <a:buSzPct val="100000"/>
              <a:buChar char="•"/>
            </a:pPr>
            <a:r>
              <a:rPr lang="en-US" sz="1500" dirty="0">
                <a:solidFill>
                  <a:srgbClr val="4A5568"/>
                </a:solidFill>
                <a:latin typeface="Arial" pitchFamily="34" charset="0"/>
                <a:ea typeface="Arial" pitchFamily="34" charset="-122"/>
                <a:cs typeface="Arial" pitchFamily="34" charset="-120"/>
              </a:rPr>
              <a:t>Thesis draft to supervisor: 19 Oct</a:t>
            </a:r>
            <a:endParaRPr lang="en-US" sz="15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2">
    <p:bg>
      <p:bgPr>
        <a:solidFill>
          <a:srgbClr val="FBFBF8"/>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711200" y="508000"/>
            <a:ext cx="11092688" cy="405110"/>
          </a:xfrm>
          <a:prstGeom prst="rect">
            <a:avLst/>
          </a:prstGeom>
          <a:noFill/>
          <a:ln/>
        </p:spPr>
        <p:txBody>
          <a:bodyPr wrap="square" lIns="0" tIns="0" rIns="0" bIns="0" rtlCol="0" anchor="t">
            <a:normAutofit/>
          </a:bodyPr>
          <a:lstStyle/>
          <a:p>
            <a:pPr marL="0" indent="0" algn="l">
              <a:lnSpc>
                <a:spcPts val="2990"/>
              </a:lnSpc>
              <a:buNone/>
            </a:pPr>
            <a:r>
              <a:rPr lang="en-US" sz="2600" b="1" i="0" dirty="0">
                <a:solidFill>
                  <a:srgbClr val="14213D"/>
                </a:solidFill>
                <a:latin typeface="Georgia" pitchFamily="18" charset="0"/>
                <a:ea typeface="Georgia" pitchFamily="18" charset="-122"/>
                <a:cs typeface="Georgia" pitchFamily="18" charset="-120"/>
              </a:rPr>
              <a:t>References</a:t>
            </a:r>
            <a:endParaRPr lang="en-US" sz="2600" dirty="0"/>
          </a:p>
        </p:txBody>
      </p:sp>
      <p:sp>
        <p:nvSpPr>
          <p:cNvPr id="4" name="Text 1">
            <a:extLst>
              <a:ext uri="{FF2B5EF4-FFF2-40B4-BE49-F238E27FC236}">
                <a16:creationId xmlns:a16="http://schemas.microsoft.com/office/drawing/2014/main" id="{59E0F296-53D6-3D06-3E9B-A9B9DDE745A5}"/>
              </a:ext>
            </a:extLst>
          </p:cNvPr>
          <p:cNvSpPr/>
          <p:nvPr/>
        </p:nvSpPr>
        <p:spPr>
          <a:xfrm>
            <a:off x="629920" y="1040110"/>
            <a:ext cx="11092688" cy="5309890"/>
          </a:xfrm>
          <a:prstGeom prst="rect">
            <a:avLst/>
          </a:prstGeom>
          <a:noFill/>
          <a:ln/>
        </p:spPr>
        <p:txBody>
          <a:bodyPr wrap="square" lIns="0" tIns="0" rIns="0" bIns="0" rtlCol="0" anchor="t">
            <a:noAutofit/>
          </a:bodyPr>
          <a:lstStyle/>
          <a:p>
            <a:pPr marL="114808" indent="-114808" algn="l">
              <a:lnSpc>
                <a:spcPct val="150000"/>
              </a:lnSpc>
              <a:buSzPct val="100000"/>
              <a:buChar char="•"/>
            </a:pPr>
            <a:r>
              <a:rPr lang="en-US" sz="1400" dirty="0">
                <a:solidFill>
                  <a:srgbClr val="14213D"/>
                </a:solidFill>
                <a:latin typeface="Arial" pitchFamily="34" charset="0"/>
                <a:ea typeface="Arial" pitchFamily="34" charset="-122"/>
                <a:cs typeface="Arial" pitchFamily="34" charset="-120"/>
              </a:rPr>
              <a:t>Lu et al., 2025. WebGen-Bench: Evaluating LLMs on generating interactive and functional websites from scratch. arXiv:2505.03733.</a:t>
            </a:r>
            <a:endParaRPr lang="en-US" sz="1400" dirty="0"/>
          </a:p>
          <a:p>
            <a:pPr marL="114808" indent="-114808" algn="l">
              <a:lnSpc>
                <a:spcPct val="150000"/>
              </a:lnSpc>
              <a:buSzPct val="100000"/>
              <a:buChar char="•"/>
            </a:pPr>
            <a:r>
              <a:rPr lang="en-US" sz="1400" dirty="0">
                <a:solidFill>
                  <a:srgbClr val="14213D"/>
                </a:solidFill>
                <a:latin typeface="Arial" pitchFamily="34" charset="0"/>
                <a:ea typeface="Arial" pitchFamily="34" charset="-122"/>
                <a:cs typeface="Arial" pitchFamily="34" charset="-120"/>
              </a:rPr>
              <a:t>He et al., 2024. WebVoyager: Building an end-to-end web agent with large multimodal models. ACL.</a:t>
            </a:r>
            <a:endParaRPr lang="en-US" sz="1400" dirty="0"/>
          </a:p>
          <a:p>
            <a:pPr marL="114808" indent="-114808" algn="l">
              <a:lnSpc>
                <a:spcPct val="150000"/>
              </a:lnSpc>
              <a:buSzPct val="100000"/>
              <a:buChar char="•"/>
            </a:pPr>
            <a:r>
              <a:rPr lang="en-US" sz="1400" dirty="0">
                <a:solidFill>
                  <a:srgbClr val="14213D"/>
                </a:solidFill>
                <a:latin typeface="Arial" pitchFamily="34" charset="0"/>
                <a:ea typeface="Arial" pitchFamily="34" charset="-122"/>
                <a:cs typeface="Arial" pitchFamily="34" charset="-120"/>
              </a:rPr>
              <a:t>StackBlitz Labs, 2024. bolt.diy: open-source AI coding agent. github.com/stackblitz-labs/bolt.diy.</a:t>
            </a:r>
            <a:endParaRPr lang="en-US" sz="1400" dirty="0"/>
          </a:p>
          <a:p>
            <a:pPr marL="114808" indent="-114808" algn="l">
              <a:lnSpc>
                <a:spcPct val="150000"/>
              </a:lnSpc>
              <a:buSzPct val="100000"/>
              <a:buChar char="•"/>
            </a:pPr>
            <a:r>
              <a:rPr lang="en-US" sz="1400" dirty="0">
                <a:solidFill>
                  <a:srgbClr val="14213D"/>
                </a:solidFill>
                <a:latin typeface="Arial" pitchFamily="34" charset="0"/>
                <a:ea typeface="Arial" pitchFamily="34" charset="-122"/>
                <a:cs typeface="Arial" pitchFamily="34" charset="-120"/>
              </a:rPr>
              <a:t>Zhao et al., 2024. ExpeL: LLM agents are experiential learners. AAAI.</a:t>
            </a:r>
            <a:endParaRPr lang="en-US" sz="1400" dirty="0"/>
          </a:p>
          <a:p>
            <a:pPr marL="114808" indent="-114808" algn="l">
              <a:lnSpc>
                <a:spcPct val="150000"/>
              </a:lnSpc>
              <a:buSzPct val="100000"/>
              <a:buChar char="•"/>
            </a:pPr>
            <a:r>
              <a:rPr lang="en-US" sz="1400" dirty="0">
                <a:solidFill>
                  <a:srgbClr val="14213D"/>
                </a:solidFill>
                <a:latin typeface="Arial" pitchFamily="34" charset="0"/>
                <a:ea typeface="Arial" pitchFamily="34" charset="-122"/>
                <a:cs typeface="Arial" pitchFamily="34" charset="-120"/>
              </a:rPr>
              <a:t>Ouyang et al., 2026. ReasoningBank: Scaling agent self-evolving with reasoning memory. ICLR. arXiv:2509.25140.</a:t>
            </a:r>
            <a:endParaRPr lang="en-US" sz="1400" dirty="0"/>
          </a:p>
          <a:p>
            <a:pPr marL="114808" indent="-114808" algn="l">
              <a:lnSpc>
                <a:spcPct val="150000"/>
              </a:lnSpc>
              <a:buSzPct val="100000"/>
              <a:buChar char="•"/>
            </a:pPr>
            <a:r>
              <a:rPr lang="en-US" sz="1400" dirty="0">
                <a:solidFill>
                  <a:srgbClr val="14213D"/>
                </a:solidFill>
                <a:latin typeface="Arial" pitchFamily="34" charset="0"/>
                <a:ea typeface="Arial" pitchFamily="34" charset="-122"/>
                <a:cs typeface="Arial" pitchFamily="34" charset="-120"/>
              </a:rPr>
              <a:t>Chhikara et al., 2025. Mem0: Building production-ready AI agents with scalable long-term memory. arXiv:2504.19413.</a:t>
            </a:r>
            <a:endParaRPr lang="en-US" sz="1400" dirty="0"/>
          </a:p>
          <a:p>
            <a:pPr marL="114808" indent="-114808" algn="l">
              <a:lnSpc>
                <a:spcPct val="150000"/>
              </a:lnSpc>
              <a:buSzPct val="100000"/>
              <a:buChar char="•"/>
            </a:pPr>
            <a:r>
              <a:rPr lang="en-US" sz="1400" dirty="0">
                <a:solidFill>
                  <a:srgbClr val="14213D"/>
                </a:solidFill>
                <a:latin typeface="Arial" pitchFamily="34" charset="0"/>
                <a:ea typeface="Arial" pitchFamily="34" charset="-122"/>
                <a:cs typeface="Arial" pitchFamily="34" charset="-120"/>
              </a:rPr>
              <a:t>Wang, Mao, Fried &amp; Neubig, 2025. Agent Workflow Memory. ICML. arXiv:2409.07429.</a:t>
            </a:r>
            <a:endParaRPr lang="en-US" sz="1400" dirty="0"/>
          </a:p>
          <a:p>
            <a:pPr marL="114808" indent="-114808" algn="l">
              <a:lnSpc>
                <a:spcPct val="150000"/>
              </a:lnSpc>
              <a:buSzPct val="100000"/>
              <a:buChar char="•"/>
            </a:pPr>
            <a:r>
              <a:rPr lang="en-US" sz="1400" dirty="0">
                <a:solidFill>
                  <a:srgbClr val="14213D"/>
                </a:solidFill>
                <a:latin typeface="Arial" pitchFamily="34" charset="0"/>
                <a:ea typeface="Arial" pitchFamily="34" charset="-122"/>
                <a:cs typeface="Arial" pitchFamily="34" charset="-120"/>
              </a:rPr>
              <a:t>Zheng et al., 2024. Synapse: Trajectory-as-exemplar prompting with memory. ICLR. arXiv:2306.07863.</a:t>
            </a:r>
            <a:endParaRPr lang="en-US" sz="1400" dirty="0"/>
          </a:p>
          <a:p>
            <a:pPr marL="114808" indent="-114808" algn="l">
              <a:lnSpc>
                <a:spcPct val="150000"/>
              </a:lnSpc>
              <a:buSzPct val="100000"/>
              <a:buChar char="•"/>
            </a:pPr>
            <a:r>
              <a:rPr lang="en-US" sz="1400" dirty="0">
                <a:solidFill>
                  <a:srgbClr val="14213D"/>
                </a:solidFill>
                <a:latin typeface="Arial" pitchFamily="34" charset="0"/>
                <a:ea typeface="Arial" pitchFamily="34" charset="-122"/>
                <a:cs typeface="Arial" pitchFamily="34" charset="-120"/>
              </a:rPr>
              <a:t>Wang et al., 2023. Voyager: An open-ended embodied agent with large language models. arXiv:2305.16291.</a:t>
            </a:r>
            <a:endParaRPr lang="en-US" sz="1400" dirty="0"/>
          </a:p>
          <a:p>
            <a:pPr marL="114808" indent="-114808" algn="l">
              <a:lnSpc>
                <a:spcPct val="150000"/>
              </a:lnSpc>
              <a:buSzPct val="100000"/>
              <a:buChar char="•"/>
            </a:pPr>
            <a:r>
              <a:rPr lang="en-US" sz="1400" dirty="0">
                <a:solidFill>
                  <a:srgbClr val="14213D"/>
                </a:solidFill>
                <a:latin typeface="Arial" pitchFamily="34" charset="0"/>
                <a:ea typeface="Arial" pitchFamily="34" charset="-122"/>
                <a:cs typeface="Arial" pitchFamily="34" charset="-120"/>
              </a:rPr>
              <a:t>Suzgun et al., 2026. Dynamic Cheatsheet: Test-time learning with adaptive memory. EACL. arXiv:2504.07952.</a:t>
            </a:r>
            <a:endParaRPr lang="en-US" sz="1400" dirty="0"/>
          </a:p>
          <a:p>
            <a:pPr marL="114808" indent="-114808" algn="l">
              <a:lnSpc>
                <a:spcPct val="150000"/>
              </a:lnSpc>
              <a:buSzPct val="100000"/>
              <a:buChar char="•"/>
            </a:pPr>
            <a:r>
              <a:rPr lang="en-US" sz="1400" dirty="0">
                <a:solidFill>
                  <a:srgbClr val="14213D"/>
                </a:solidFill>
                <a:latin typeface="Arial" pitchFamily="34" charset="0"/>
                <a:ea typeface="Arial" pitchFamily="34" charset="-122"/>
                <a:cs typeface="Arial" pitchFamily="34" charset="-120"/>
              </a:rPr>
              <a:t>Zhang et al., 2026. Agentic Context Engineering: Evolving contexts for self-improving language models. ICLR. arXiv:2510.04618.</a:t>
            </a:r>
            <a:endParaRPr lang="en-US" sz="1400" dirty="0"/>
          </a:p>
          <a:p>
            <a:pPr marL="114808" indent="-114808" algn="l">
              <a:lnSpc>
                <a:spcPct val="150000"/>
              </a:lnSpc>
              <a:buSzPct val="100000"/>
              <a:buChar char="•"/>
            </a:pPr>
            <a:r>
              <a:rPr lang="en-US" sz="1400" dirty="0">
                <a:solidFill>
                  <a:srgbClr val="14213D"/>
                </a:solidFill>
                <a:latin typeface="Arial" pitchFamily="34" charset="0"/>
                <a:ea typeface="Arial" pitchFamily="34" charset="-122"/>
                <a:cs typeface="Arial" pitchFamily="34" charset="-120"/>
              </a:rPr>
              <a:t>Dai et al., 2026. Metis: Bridging text and code memory for self-evolving agents. arXiv:2606.24151.</a:t>
            </a:r>
            <a:endParaRPr lang="en-US" sz="1400" dirty="0"/>
          </a:p>
          <a:p>
            <a:pPr marL="114808" indent="-114808" algn="l">
              <a:lnSpc>
                <a:spcPct val="150000"/>
              </a:lnSpc>
              <a:buSzPct val="100000"/>
              <a:buChar char="•"/>
            </a:pPr>
            <a:r>
              <a:rPr lang="en-US" sz="1400" dirty="0">
                <a:solidFill>
                  <a:srgbClr val="14213D"/>
                </a:solidFill>
                <a:latin typeface="Arial" pitchFamily="34" charset="0"/>
                <a:ea typeface="Arial" pitchFamily="34" charset="-122"/>
                <a:cs typeface="Arial" pitchFamily="34" charset="-120"/>
              </a:rPr>
              <a:t>Kim et al., 2026. Memory Transfer Learning: How memories are transferred across domains in coding agents. arXiv:2604.14004.</a:t>
            </a:r>
            <a:endParaRPr lang="en-US" sz="1400" dirty="0"/>
          </a:p>
          <a:p>
            <a:pPr marL="114808" indent="-114808" algn="l">
              <a:lnSpc>
                <a:spcPct val="150000"/>
              </a:lnSpc>
              <a:buSzPct val="100000"/>
              <a:buChar char="•"/>
            </a:pPr>
            <a:r>
              <a:rPr lang="en-US" sz="1400" dirty="0">
                <a:solidFill>
                  <a:srgbClr val="14213D"/>
                </a:solidFill>
                <a:latin typeface="Arial" pitchFamily="34" charset="0"/>
                <a:ea typeface="Arial" pitchFamily="34" charset="-122"/>
                <a:cs typeface="Arial" pitchFamily="34" charset="-120"/>
              </a:rPr>
              <a:t>Shi et al., 2023. LLMs can be easily distracted by irrelevant context. ICML.</a:t>
            </a:r>
            <a:endParaRPr lang="en-US" sz="1400" dirty="0"/>
          </a:p>
          <a:p>
            <a:pPr marL="114808" indent="-114808" algn="l">
              <a:lnSpc>
                <a:spcPct val="150000"/>
              </a:lnSpc>
              <a:buSzPct val="100000"/>
              <a:buChar char="•"/>
            </a:pPr>
            <a:r>
              <a:rPr lang="en-US" sz="1400" dirty="0">
                <a:solidFill>
                  <a:srgbClr val="14213D"/>
                </a:solidFill>
                <a:latin typeface="Arial" pitchFamily="34" charset="0"/>
                <a:ea typeface="Arial" pitchFamily="34" charset="-122"/>
                <a:cs typeface="Arial" pitchFamily="34" charset="-120"/>
              </a:rPr>
              <a:t>Liu et al., 2024. Lost in the middle: How language models use long contexts. TACL 12.</a:t>
            </a:r>
            <a:endParaRPr lang="en-US" sz="1400" dirty="0"/>
          </a:p>
          <a:p>
            <a:pPr marL="114808" indent="-114808" algn="l">
              <a:lnSpc>
                <a:spcPct val="150000"/>
              </a:lnSpc>
              <a:buSzPct val="100000"/>
              <a:buChar char="•"/>
            </a:pPr>
            <a:r>
              <a:rPr lang="en-US" sz="1400" dirty="0">
                <a:solidFill>
                  <a:srgbClr val="14213D"/>
                </a:solidFill>
                <a:latin typeface="Arial" pitchFamily="34" charset="0"/>
                <a:ea typeface="Arial" pitchFamily="34" charset="-122"/>
                <a:cs typeface="Arial" pitchFamily="34" charset="-120"/>
              </a:rPr>
              <a:t>Du et al., 2025. Context length alone hurts LLM performance despite perfect retrieval. Findings of EMNLP. arXiv:2510.05381.</a:t>
            </a:r>
            <a:endParaRPr lang="en-US" sz="1400" dirty="0"/>
          </a:p>
          <a:p>
            <a:pPr marL="114808" indent="-114808" algn="l">
              <a:lnSpc>
                <a:spcPct val="150000"/>
              </a:lnSpc>
              <a:buSzPct val="100000"/>
              <a:buChar char="•"/>
            </a:pPr>
            <a:r>
              <a:rPr lang="en-US" sz="1400" dirty="0">
                <a:solidFill>
                  <a:srgbClr val="14213D"/>
                </a:solidFill>
                <a:latin typeface="Arial" pitchFamily="34" charset="0"/>
                <a:ea typeface="Arial" pitchFamily="34" charset="-122"/>
                <a:cs typeface="Arial" pitchFamily="34" charset="-120"/>
              </a:rPr>
              <a:t>Madaan et al., 2023. Self-Refine: Iterative refinement with self-feedback. NeurIPS.</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3">
    <p:bg>
      <p:bgPr>
        <a:solidFill>
          <a:srgbClr val="14213D"/>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2261890"/>
            <a:ext cx="10883392" cy="1193800"/>
          </a:xfrm>
          <a:prstGeom prst="rect">
            <a:avLst/>
          </a:prstGeom>
          <a:noFill/>
          <a:ln/>
        </p:spPr>
        <p:txBody>
          <a:bodyPr wrap="square" lIns="0" tIns="0" rIns="0" bIns="0" rtlCol="0" anchor="t">
            <a:normAutofit/>
          </a:bodyPr>
          <a:lstStyle/>
          <a:p>
            <a:pPr marL="0" indent="0" algn="l">
              <a:lnSpc>
                <a:spcPts val="4600"/>
              </a:lnSpc>
              <a:buNone/>
            </a:pPr>
            <a:r>
              <a:rPr lang="en-US" sz="4000" b="1" i="0" dirty="0">
                <a:solidFill>
                  <a:srgbClr val="F4F1EA"/>
                </a:solidFill>
                <a:latin typeface="Georgia" pitchFamily="18" charset="0"/>
                <a:ea typeface="Georgia" pitchFamily="18" charset="-122"/>
                <a:cs typeface="Georgia" pitchFamily="18" charset="-120"/>
              </a:rPr>
              <a:t>For a small model, memory should give code, not advice</a:t>
            </a:r>
            <a:endParaRPr lang="en-US" sz="4000" dirty="0"/>
          </a:p>
        </p:txBody>
      </p:sp>
      <p:sp>
        <p:nvSpPr>
          <p:cNvPr id="3" name="Text 1"/>
          <p:cNvSpPr/>
          <p:nvPr/>
        </p:nvSpPr>
        <p:spPr>
          <a:xfrm>
            <a:off x="812800" y="3684290"/>
            <a:ext cx="10883392" cy="327620"/>
          </a:xfrm>
          <a:prstGeom prst="rect">
            <a:avLst/>
          </a:prstGeom>
          <a:noFill/>
          <a:ln/>
        </p:spPr>
        <p:txBody>
          <a:bodyPr wrap="square" lIns="0" tIns="0" rIns="0" bIns="0" rtlCol="0" anchor="t">
            <a:normAutofit/>
          </a:bodyPr>
          <a:lstStyle/>
          <a:p>
            <a:pPr marL="0" indent="0" algn="l">
              <a:lnSpc>
                <a:spcPts val="2380"/>
              </a:lnSpc>
              <a:buNone/>
            </a:pPr>
            <a:r>
              <a:rPr lang="en-US" sz="1700" dirty="0">
                <a:solidFill>
                  <a:srgbClr val="C9D3E3"/>
                </a:solidFill>
                <a:latin typeface="Arial" pitchFamily="34" charset="0"/>
                <a:ea typeface="Arial" pitchFamily="34" charset="-122"/>
                <a:cs typeface="Arial" pitchFamily="34" charset="-120"/>
              </a:rPr>
              <a:t>28.5% → 35.2%, positive in all three task orders so far</a:t>
            </a:r>
            <a:endParaRPr lang="en-US" sz="1700" dirty="0"/>
          </a:p>
        </p:txBody>
      </p:sp>
      <p:sp>
        <p:nvSpPr>
          <p:cNvPr id="4" name="Text 2"/>
          <p:cNvSpPr/>
          <p:nvPr/>
        </p:nvSpPr>
        <p:spPr>
          <a:xfrm>
            <a:off x="812800" y="4240510"/>
            <a:ext cx="10883392"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8FB8EE"/>
                </a:solidFill>
                <a:latin typeface="Arial" pitchFamily="34" charset="0"/>
                <a:ea typeface="Arial" pitchFamily="34" charset="-122"/>
                <a:cs typeface="Arial" pitchFamily="34" charset="-120"/>
              </a:rPr>
              <a:t>Thank you. Questions?  ·  Code and data: github.com/qiaopan/WebGen-Bench</a:t>
            </a:r>
            <a:endParaRPr lang="en-US" sz="2000" dirty="0"/>
          </a:p>
        </p:txBody>
      </p:sp>
    </p:spTree>
  </p:cSld>
  <p:clrMapOvr>
    <a:masterClrMapping/>
  </p:clrMapOvr>
</p:sld>
</file>

<file path=ppt/theme/theme1.xml><?xml version="1.0" encoding="utf-8"?>
<a:theme xmlns:a="http://schemas.openxmlformats.org/drawingml/2006/main" name="Long-term memory for a small website generator">
  <a:themeElements>
    <a:clrScheme name="Long-term memory for a small website generator">
      <a:dk1>
        <a:srgbClr val="14213D"/>
      </a:dk1>
      <a:lt1>
        <a:srgbClr val="FBFBF8"/>
      </a:lt1>
      <a:dk2>
        <a:srgbClr val="4E586C"/>
      </a:dk2>
      <a:lt2>
        <a:srgbClr val="E4E5E5"/>
      </a:lt2>
      <a:accent1>
        <a:srgbClr val="2A78D6"/>
      </a:accent1>
      <a:accent2>
        <a:srgbClr val="8FB8EE"/>
      </a:accent2>
      <a:accent3>
        <a:srgbClr val="1F5FAF"/>
      </a:accent3>
      <a:accent4>
        <a:srgbClr val="F2A97F"/>
      </a:accent4>
      <a:accent5>
        <a:srgbClr val="4A5568"/>
      </a:accent5>
      <a:accent6>
        <a:srgbClr val="C9D3E3"/>
      </a:accent6>
      <a:hlink>
        <a:srgbClr val="0563C1"/>
      </a:hlink>
      <a:folHlink>
        <a:srgbClr val="954F72"/>
      </a:folHlink>
    </a:clrScheme>
    <a:fontScheme name="Long-term memory for a small website generator">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542</TotalTime>
  <Words>2830</Words>
  <Application>Microsoft Macintosh PowerPoint</Application>
  <PresentationFormat>宽屏</PresentationFormat>
  <Paragraphs>268</Paragraphs>
  <Slides>18</Slides>
  <Notes>18</Notes>
  <HiddenSlides>0</HiddenSlides>
  <MMClips>0</MMClips>
  <ScaleCrop>false</ScaleCrop>
  <HeadingPairs>
    <vt:vector size="6" baseType="variant">
      <vt:variant>
        <vt:lpstr>已用的字体</vt:lpstr>
      </vt:variant>
      <vt:variant>
        <vt:i4>2</vt:i4>
      </vt:variant>
      <vt:variant>
        <vt:lpstr>主题</vt:lpstr>
      </vt:variant>
      <vt:variant>
        <vt:i4>1</vt:i4>
      </vt:variant>
      <vt:variant>
        <vt:lpstr>幻灯片标题</vt:lpstr>
      </vt:variant>
      <vt:variant>
        <vt:i4>18</vt:i4>
      </vt:variant>
    </vt:vector>
  </HeadingPairs>
  <TitlesOfParts>
    <vt:vector size="21" baseType="lpstr">
      <vt:lpstr>Arial</vt:lpstr>
      <vt:lpstr>Georgia</vt:lpstr>
      <vt:lpstr>Long-term memory for a small website generator</vt:lpstr>
      <vt:lpstr>Can long-term memory help a small model build better websites?</vt:lpstr>
      <vt:lpstr>A 7B model builds 101 websites, one after another</vt:lpstr>
      <vt:lpstr>The official pipeline, and what Long Memory adds</vt:lpstr>
      <vt:lpstr>Official rules, and our baseline matches the paper</vt:lpstr>
      <vt:lpstr>A small model trained for this tool, on two H200 GPUs</vt:lpstr>
      <vt:lpstr>What we compare, and in which task orders</vt:lpstr>
      <vt:lpstr>Text lessons helped early, then fell below the baseline</vt:lpstr>
      <vt:lpstr>One missing package turns the whole site into an error page</vt:lpstr>
      <vt:lpstr>The small model follows code, not text</vt:lpstr>
      <vt:lpstr>Two parts: a checklist and a code pool</vt:lpstr>
      <vt:lpstr>Text memory → code memory (whole-file) → code memory (fragments)</vt:lpstr>
      <vt:lpstr>Accuracy rises from 28.5% to 40.0%</vt:lpstr>
      <vt:lpstr>Only the code-pool version keeps its lead</vt:lpstr>
      <vt:lpstr>Memory, not the checklist, drives the gain</vt:lpstr>
      <vt:lpstr>Whole-file examples caused blank sites; fragments fixed it</vt:lpstr>
      <vt:lpstr>What we still need to check</vt:lpstr>
      <vt:lpstr>References</vt:lpstr>
      <vt:lpstr>For a small model, memory should give code, not advice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Long-term memory for a small website generator</dc:title>
  <dc:subject/>
  <dc:creator/>
  <cp:lastModifiedBy>Qiaopan Ma</cp:lastModifiedBy>
  <cp:revision>8</cp:revision>
  <dcterms:created xsi:type="dcterms:W3CDTF">2026-10-13T06:48:37Z</dcterms:created>
  <dcterms:modified xsi:type="dcterms:W3CDTF">2026-10-15T21:43:57Z</dcterms:modified>
</cp:coreProperties>
</file>