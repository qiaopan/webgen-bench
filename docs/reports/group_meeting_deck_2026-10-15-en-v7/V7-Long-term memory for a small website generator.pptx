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2" r:id="rId23"/>
    <p:sldId id="269" r:id="rId6"/>
    <p:sldId id="260" r:id="rId7"/>
    <p:sldId id="261" r:id="rId8"/>
    <p:sldId id="262" r:id="rId9"/>
    <p:sldId id="271" r:id="rId22"/>
    <p:sldId id="263" r:id="rId10"/>
    <p:sldId id="264" r:id="rId11"/>
    <p:sldId id="265" r:id="rId12"/>
    <p:sldId id="270"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0.xml"/><Relationship Id="rId23"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We have eleven full runs: about one thousand one hundred websites and seven thousand checks. No Memory was run in three task orders, to measure how much the baseline itself varies. The remaining runs now use two lanes in parallel, so they finish this weekend; a stronger 32B generator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v4, used text lessons. They helped on the first 30 tasks, but by the end v4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v7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result. Without memory: 28.5 percent and 30 zero-score tasks. With v7: 40 percent and 13. Paired by task, the gain is 11.5 points, and the 95 percent confidence interval, 6 to 16.9, does not include zero.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Code memory, in blue, keeps its lead to the end. So the gain grows with experience, it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this is not significant. Adding memory on top adds 8.1 points, and this is significant.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memory, the task order matters, because each task can only use what came before it. We tried two shuffled orders. With v7 the gain dropped to about four and a half points. The reason: one code example was a whole file, and the model copied it as a finished answer, returning the empty starter project. In v9.1 every example is a short checked fragment. Blank sites go to zero, and the gain is 7.4 points on seed 11, which is significant, and 5.5 on seed 29. The chart shows the gap staying near or above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Next: the last runs finish this weekend, the 32B generator after that,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to 40 percent,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the versions in one table. v4 gives text lessons; they pile up and the small model ignores them. Checklist only turns memory off; it helps a little, not significantly. v7 replaces text tips with short code examples; this is the big jump, to 40 percent. v9.1, our final version, uses only checked fragments, which matters when the task order changes. I will come back to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the results, a word on the models and compute. The generator is WebGen-LM-7B. It is not a general Qwen model: the WebGen-Bench authors took Qwen2.5-Coder-7B-Instruct and fine-tuned it on about 600 website-building trajectories that DeepSeek-V3 produced inside Bolt, keeping only good-looking sites. So it already speaks Bolt's format, which makes it a fair small baseline. Everything runs on two H200 GPUs on the school cluster. The first GPU holds the 32B tester and the 7B generator; the second holds the 72B memory model and the embedding model. No paid API is used. We run two tasks in parallel, about twelve minutes each, and so far we have used about 470 GPU-hours.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seed 11, seed 29)</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(v4), code memory (v7),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v7 and the fixed v9.1 in 2 shuffled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(ready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(two lanes in parallel)</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original order: 16 Oct morning</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17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17–18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Stronger 32B generator: about 19 Oct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lessons (v4)</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(v7)</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Versions at a glance</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Each version fixes a failure of the one before</a:t>
            </a:r>
            <a:endParaRPr lang="en-US" sz="3000" dirty="0"/>
          </a:p>
        </p:txBody>
      </p:sp>
      <p:graphicFrame>
        <p:nvGraphicFramePr>
          <p:cNvPr id="4" name="Table 3"/>
          <p:cNvGraphicFramePr>
            <a:graphicFrameLocks noGrp="1"/>
          </p:cNvGraphicFramePr>
          <p:nvPr/>
        </p:nvGraphicFramePr>
        <p:xfrm>
          <a:off x="825500" y="1800000"/>
          <a:ext cx="10553700" cy="2800000"/>
        </p:xfrm>
        <a:graphic>
          <a:graphicData uri="http://schemas.openxmlformats.org/drawingml/2006/table">
            <a:tbl>
              <a:tblPr firstRow="0" bandRow="0"/>
              <a:tblGrid>
                <a:gridCol w="1055370"/>
                <a:gridCol w="2743962"/>
                <a:gridCol w="2743962"/>
                <a:gridCol w="2321814"/>
                <a:gridCol w="1688592"/>
              </a:tblGrid>
              <a:tr h="560000">
                <a:tc>
                  <a:txBody>
                    <a:bodyPr wrap="square"/>
                    <a:lstStyle/>
                    <a:p>
                      <a:r>
                        <a:rPr sz="1200" b="1">
                          <a:solidFill>
                            <a:srgbClr val="14213D"/>
                          </a:solidFill>
                          <a:latin typeface="Arial"/>
                        </a:rPr>
                        <a:t>Version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What memory gives the model</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Change</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What it showed</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Result (101 tasks)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v4</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Text lessons under a checklist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First version of memory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Vague text piles up; the 7B model ignores it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30.9%, below NM after task 30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Checklist only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no memory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Ablation: memory turned off</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Decomposing the request helps a little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31.8% (+3.4,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 short code examples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pool replaces text tips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is followed; gain grows over time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40.0% (+11.5)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v9.1 (final)</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Same, examples are checked fragments only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No whole-file examples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Fixes blank sites when task order changes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Seed 11: +7.4; seed 29: +5.5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n.s. = not significant. v8 and v9 were stopped early and are not listed.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Long Memory (v7)</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 so the gain is not chance.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n.s. = not significant (the CI includes 0). 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not significant; mainly fewer blank sites.</a:t>
            </a:r>
          </a:p>
          <a:p>
            <a:pPr>
              <a:spcAft>
                <a:spcPts val="400"/>
              </a:spcAft>
            </a:pPr>
            <a:r>
              <a:rPr sz="1400" b="0">
                <a:solidFill>
                  <a:srgbClr val="14213D"/>
                </a:solidFill>
                <a:latin typeface="Arial"/>
              </a:rPr>
              <a:t>Memory on top of the checklist: +8.1 points (95% CI 2.9 to 13.2), significant.</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shuffled runs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whole-file example caused blank sites; checked fragments fixed it</a:t>
            </a:r>
            <a:endParaRPr lang="en-US" sz="3000" dirty="0"/>
          </a:p>
        </p:txBody>
      </p:sp>
      <p:graphicFrame>
        <p:nvGraphicFramePr>
          <p:cNvPr id="4" name="Table 3"/>
          <p:cNvGraphicFramePr>
            <a:graphicFrameLocks noGrp="1"/>
          </p:cNvGraphicFramePr>
          <p:nvPr/>
        </p:nvGraphicFramePr>
        <p:xfrm>
          <a:off x="825500" y="1700000"/>
          <a:ext cx="10553699" cy="1650000"/>
        </p:xfrm>
        <a:graphic>
          <a:graphicData uri="http://schemas.openxmlformats.org/drawingml/2006/table">
            <a:tbl>
              <a:tblPr firstRow="0" bandRow="0"/>
              <a:tblGrid>
                <a:gridCol w="1666373"/>
                <a:gridCol w="1555282"/>
                <a:gridCol w="2888381"/>
                <a:gridCol w="2888381"/>
                <a:gridCol w="1555282"/>
              </a:tblGrid>
              <a:tr h="330000">
                <a:tc>
                  <a:txBody>
                    <a:bodyPr wrap="square"/>
                    <a:lstStyle/>
                    <a:p>
                      <a:r>
                        <a:rPr sz="1200" b="1">
                          <a:solidFill>
                            <a:srgbClr val="14213D"/>
                          </a:solidFill>
                          <a:latin typeface="Arial"/>
                        </a:rPr>
                        <a:t>Task order</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Version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Code example in memory</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Gain vs No Memory (95% CI)</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Blank scaffolds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+4.4 (−1.9 to 10.6),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19</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+7.4 (1.6 to 13.1), significant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+4.5 (−2.2 to 11.3),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+5.5 (−0.5 to 11.6)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pic>
        <p:nvPicPr>
          <p:cNvPr id="5" name="Picture 4" descr="gap_order_seed11_v91.png"/>
          <p:cNvPicPr>
            <a:picLocks noChangeAspect="1"/>
          </p:cNvPicPr>
          <p:nvPr/>
        </p:nvPicPr>
        <p:blipFill>
          <a:blip r:embed="rId3"/>
          <a:stretch>
            <a:fillRect/>
          </a:stretch>
        </p:blipFill>
        <p:spPr>
          <a:xfrm>
            <a:off x="825500" y="3800000"/>
            <a:ext cx="6300000" cy="2634545"/>
          </a:xfrm>
          <a:prstGeom prst="rect">
            <a:avLst/>
          </a:prstGeom>
        </p:spPr>
      </p:pic>
      <p:sp>
        <p:nvSpPr>
          <p:cNvPr id="6" name="TextBox 5"/>
          <p:cNvSpPr txBox="1"/>
          <p:nvPr/>
        </p:nvSpPr>
        <p:spPr>
          <a:xfrm>
            <a:off x="7350000" y="390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v7, the model copied a whole file as a finished answer and returned the empty starter project.</a:t>
            </a:r>
          </a:p>
          <a:p>
            <a:pPr>
              <a:spcAft>
                <a:spcPts val="400"/>
              </a:spcAft>
            </a:pPr>
            <a:r>
              <a:rPr sz="1200" b="0">
                <a:solidFill>
                  <a:srgbClr val="14213D"/>
                </a:solidFill>
                <a:latin typeface="Arial"/>
              </a:rPr>
              <a:t>v9.1 removes this: zero blank sites in both orders.</a:t>
            </a:r>
          </a:p>
          <a:p>
            <a:pPr>
              <a:spcAft>
                <a:spcPts val="400"/>
              </a:spcAft>
            </a:pPr>
            <a:r>
              <a:rPr sz="1200" b="0">
                <a:solidFill>
                  <a:srgbClr val="14213D"/>
                </a:solidFill>
                <a:latin typeface="Arial"/>
              </a:rPr>
              <a:t>No Memory is stable (27.9–28.6%), so the change is on the memory side.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developed on the same benchmark</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and fixed code prefix: by 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32B generator: about 19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2845</Words>
  <Application>Microsoft Macintosh PowerPoint</Application>
  <PresentationFormat>宽屏</PresentationFormat>
  <Paragraphs>180</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11 full runs × 101 tasks: about 1,100 websites and 7,000 checks</vt:lpstr>
      <vt:lpstr>Text lessons helped early, then fell below the baseline</vt:lpstr>
      <vt:lpstr>The small model follows code, not text</vt:lpstr>
      <vt:lpstr>Two parts: a checklist and a code pool</vt:lpstr>
      <vt:lpstr>Accuracy rises from 28.5% to 40.0%</vt:lpstr>
      <vt:lpstr>Only the code-pool version keeps its lead</vt:lpstr>
      <vt:lpstr>Memory, not the checklist, drives the gain</vt:lpstr>
      <vt:lpstr>One bad memory caused blank sites; short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5</cp:revision>
  <dcterms:created xsi:type="dcterms:W3CDTF">2026-10-13T06:48:37Z</dcterms:created>
  <dcterms:modified xsi:type="dcterms:W3CDTF">2026-10-15T06:55:22Z</dcterms:modified>
</cp:coreProperties>
</file>