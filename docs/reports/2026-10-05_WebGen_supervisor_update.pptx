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17ee9ecc-c249-ba07-8480-73b5b3409976}">
          <p14:sldIdLst>
            <p14:sldId id="256"/>
          </p14:sldIdLst>
        </p14:section>
        <p14:section name="结论" id="{5449ed19-be0f-9da4-e004-3e4641d971c8}">
          <p14:sldIdLst>
            <p14:sldId id="257"/>
          </p14:sldIdLst>
        </p14:section>
        <p14:section name="模型与流程" id="{2490e0af-18f9-c5cd-7f04-80ee3b82f73a}">
          <p14:sldIdLst>
            <p14:sldId id="258"/>
            <p14:sldId id="259"/>
            <p14:sldId id="260"/>
          </p14:sldIdLst>
        </p14:section>
        <p14:section name="第一阶段结果" id="{6706dc6a-43ce-d573-4c8a-b135e294043b}">
          <p14:sldIdLst>
            <p14:sldId id="261"/>
            <p14:sldId id="262"/>
            <p14:sldId id="263"/>
            <p14:sldId id="264"/>
            <p14:sldId id="265"/>
          </p14:sldIdLst>
        </p14:section>
        <p14:section name="分析" id="{a34a6e2c-46c3-69c0-9c4c-60400fe63663}">
          <p14:sldIdLst>
            <p14:sldId id="266"/>
            <p14:sldId id="267"/>
          </p14:sldIdLst>
        </p14:section>
        <p14:section name="论文设计与下一步" id="{4b342cd0-f7e9-a345-6c03-41c9b3711cea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Memory</c:v>
                </c:pt>
              </c:strCache>
            </c:strRef>
          </c:tx>
          <c:spPr>
            <a:solidFill>
              <a:srgbClr val="8C99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内容看不见（白字 / 空白）</c:v>
                  </c:pt>
                  <c:pt idx="1">
                    <c:v>评测员没给最终结论</c:v>
                  </c:pt>
                  <c:pt idx="2">
                    <c:v>配色要求没满足</c:v>
                  </c:pt>
                  <c:pt idx="3">
                    <c:v>交互逻辑缺陷</c:v>
                  </c:pt>
                  <c:pt idx="4">
                    <c:v>页面写了但没有导航入口</c:v>
                  </c:pt>
                  <c:pt idx="5">
                    <c:v>构建失败（1 个任务）</c:v>
                  </c:pt>
                  <c:pt idx="6">
                    <c:v>功能或版块没做</c:v>
                  </c:pt>
                  <c:pt idx="7">
                    <c:v>内容缺失或不完整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5</c:v>
                </c:pt>
                <c:pt idx="7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3"/>
                </a:solidFill>
                <a:latin typeface="+mn-lt"/>
              </a:rPr>
              <a:t>每个任务的检查级准确率（%）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Memory</c:v>
                </c:pt>
              </c:strCache>
            </c:strRef>
          </c:tx>
          <c:spPr>
            <a:solidFill>
              <a:srgbClr val="8C99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014</c:v>
                  </c:pt>
                  <c:pt idx="1">
                    <c:v>015</c:v>
                  </c:pt>
                  <c:pt idx="2">
                    <c:v>016</c:v>
                  </c:pt>
                  <c:pt idx="3">
                    <c:v>017</c:v>
                  </c:pt>
                  <c:pt idx="4">
                    <c:v>019</c:v>
                  </c:pt>
                  <c:pt idx="5">
                    <c:v>020</c:v>
                  </c:pt>
                  <c:pt idx="6">
                    <c:v>021</c:v>
                  </c:pt>
                  <c:pt idx="7">
                    <c:v>026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40</c:v>
                </c:pt>
                <c:pt idx="1">
                  <c:v>40</c:v>
                </c:pt>
                <c:pt idx="2">
                  <c:v>50</c:v>
                </c:pt>
                <c:pt idx="3">
                  <c:v>58</c:v>
                </c:pt>
                <c:pt idx="4">
                  <c:v>33</c:v>
                </c:pt>
                <c:pt idx="5">
                  <c:v>50</c:v>
                </c:pt>
                <c:pt idx="6">
                  <c:v>10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Long Memory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014</c:v>
                  </c:pt>
                  <c:pt idx="1">
                    <c:v>015</c:v>
                  </c:pt>
                  <c:pt idx="2">
                    <c:v>016</c:v>
                  </c:pt>
                  <c:pt idx="3">
                    <c:v>017</c:v>
                  </c:pt>
                  <c:pt idx="4">
                    <c:v>019</c:v>
                  </c:pt>
                  <c:pt idx="5">
                    <c:v>020</c:v>
                  </c:pt>
                  <c:pt idx="6">
                    <c:v>021</c:v>
                  </c:pt>
                  <c:pt idx="7">
                    <c:v>026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60</c:v>
                </c:pt>
                <c:pt idx="1">
                  <c:v>100</c:v>
                </c:pt>
                <c:pt idx="2">
                  <c:v>17</c:v>
                </c:pt>
                <c:pt idx="3">
                  <c:v>33</c:v>
                </c:pt>
                <c:pt idx="4">
                  <c:v>42</c:v>
                </c:pt>
                <c:pt idx="5">
                  <c:v>40</c:v>
                </c:pt>
                <c:pt idx="6">
                  <c:v>80</c:v>
                </c:pt>
                <c:pt idx="7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Memory</c:v>
                </c:pt>
              </c:strCache>
            </c:strRef>
          </c:tx>
          <c:spPr>
            <a:solidFill>
              <a:srgbClr val="8C99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构建失败</c:v>
                  </c:pt>
                  <c:pt idx="1">
                    <c:v>内容缺失或不完整</c:v>
                  </c:pt>
                  <c:pt idx="2">
                    <c:v>配色要求没满足</c:v>
                  </c:pt>
                  <c:pt idx="3">
                    <c:v>评测员没给结论</c:v>
                  </c:pt>
                  <c:pt idx="4">
                    <c:v>功能或版块没做</c:v>
                  </c:pt>
                  <c:pt idx="5">
                    <c:v>交互逻辑缺陷</c:v>
                  </c:pt>
                  <c:pt idx="6">
                    <c:v>页面没有导航入口</c:v>
                  </c:pt>
                  <c:pt idx="7">
                    <c:v>内容看不见（白字）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6</c:v>
                </c:pt>
                <c:pt idx="2">
                  <c:v>3</c:v>
                </c:pt>
                <c:pt idx="3">
                  <c:v>3</c:v>
                </c:pt>
                <c:pt idx="4">
                  <c:v>5</c:v>
                </c:pt>
                <c:pt idx="5">
                  <c:v>3</c:v>
                </c:pt>
                <c:pt idx="6">
                  <c:v>4</c:v>
                </c:pt>
                <c:pt idx="7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Long Memory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构建失败</c:v>
                  </c:pt>
                  <c:pt idx="1">
                    <c:v>内容缺失或不完整</c:v>
                  </c:pt>
                  <c:pt idx="2">
                    <c:v>配色要求没满足</c:v>
                  </c:pt>
                  <c:pt idx="3">
                    <c:v>评测员没给结论</c:v>
                  </c:pt>
                  <c:pt idx="4">
                    <c:v>功能或版块没做</c:v>
                  </c:pt>
                  <c:pt idx="5">
                    <c:v>交互逻辑缺陷</c:v>
                  </c:pt>
                  <c:pt idx="6">
                    <c:v>页面没有导航入口</c:v>
                  </c:pt>
                  <c:pt idx="7">
                    <c:v>内容看不见（白字）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  <c:pt idx="4">
                  <c:v>6</c:v>
                </c:pt>
                <c:pt idx="5">
                  <c:v>4</c:v>
                </c:pt>
                <c:pt idx="6">
                  <c:v>6</c:v>
                </c:pt>
                <c:pt idx="7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本次汇报三件事：1) 现在用的模型和实验流程；2) 第一阶段（Mac 本地，11 个任务）里 No Memory 的错误类型、Long Memory 如何应对、效果如何；3) 第二阶段在学校 H200 上的完整实验设计和论文主表。第二阶段 11 个任务的试跑已在集群上运行，今天还没有结果。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检查级准确率 = (通过 + 0.5×部分通过) / 检查总数，与 WebGen-Bench 官方算法一致。8 个共同任务：014、015、016、017、019、020、021、026（018 的 Long Memory 结果已重置，未计入）。No Memory 15.5/43，Long Memory 21.5/43。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为什么选 WebGen-LM-7B：论文 Bolt.diy 表中能自部署的模型里，Qwen2.5-Coder-32B 只有 9.5%、Qwen2.5-72B 13.8%，接近地板；WebGen-LM-7B 28.4%、14B 29.4%、32B 38.2%，既不贴地板也远离天花板，约 72% 的检查还没通过，记忆有提升空间。7B 速度快，也和第一阶段一致。DeepSeek-V3/R1（671B）和 Claude/GPT 无法自部署。外观评分改用 Qwen2.5-VL-32B：同一作者的 WebGen-Agent 论文在生成循环里就用这个模型给截图打外观分。记忆模型要看截图做外观反思，所以选视觉模型，且与评测模型不同，避免把评分偏好带进记忆。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一次 Slurm 作业占 2 张 H200：第 1 张放生成模型和评测模型，第 2 张放 72B 记忆模型和 embedding。每个任务两组背靠背跑，谁先跑按任务位置交替，避免固定先后带来的偏差。每个任务跑完自动检查评测员是否有回复、外观分能否读出，环境问题会立即停下队列，不会被记成模型失败。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官方协议的关键差别：Vite 的 dev server 不做类型检查，vue-tsc 的严格类型错误不会阻止网站运行。第一阶段很多“构建失败”在论文的流程里其实能被评测。改为官方协议后，No Memory 的准确率可以直接和论文的 28.4% 对照，作为复现检验。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分类方法：读每个没通过检查的评测员最终结论，归到 8 类；021 的 4 项“找不到页面”在第一阶段已核对代码，是页面写了却没有导航入口。这是第一阶段数据，第二阶段换了评测协议和浅色模式浏览器，频次会变，届时用反思结果 + 人工抽查重新统计。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白字问题：Vite 默认 style.css 在深色模式下把文字设成白色，评测浏览器在 Mac 上跟随系统深色模式，白卡片上的文字就看不见。两组都有一半左右的项目引入了这个文件，是否中招有偶然性。第二阶段在 Linux 上评测，浏览器默认浅色模式（已确认），这个问题预计会消失。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第三个数字写法要注意：No Memory 有 1 个任务构建失败（026），Long Memory 没有。变差的 3 个任务原因都已逐项核对：016 guidance 让模型把页面做成独立路由却没有导航入口（0.50→0.17）；017 白字让 3 项内容看不见（0.58→0.33）；020 账户更新与套餐详情没做（0.50→0.40）。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结论：记忆能减少它有具体对策的错误，但也会引入新错误（导航入口），且评测环境噪声（白字）会掩盖真实效果。第二阶段需要在 101 个任务上按同一分类统计，并做多次运行估计方差。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同领域确实给了记忆复用的机会：导航入口这类结构性问题在同领域里反复出现（No Memory 021、Long Memory 016），学到后在 017、018 生效。但反思模型较弱时，具体经验会被过度泛化或误归因，带来负迁移。第二阶段 20 个领域块，可以按“在领域块中的位置”统计准确率，直接回答同领域是否解决了问题。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前两条是方法本身的问题，后三条是实验条件的问题。第二阶段针对后三条：官方协议、Linux 浅色模式、101 个任务、冻结方法版本后一次跑完；前两条要靠更强的反思模型（72B）、只缩不删的压缩和后续消融来验证。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ReasoningBank：记忆条目由 LLM 从成功和失败轨迹中提炼（成败由 LLM-as-judge 判断，不用标准答案），用 gemini-embedding-001 检索，默认 top-1 注入系统提示，并要求 agent 说明是否采用每条记忆；MaTTS 通过给每个任务更多计算产生更多样的经验来提升记忆质量。我们的差异主要在：模型更弱、任务是一次性生成而非多步交互、同环境任务少、注入更长更具体。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“功能 / 数据展示 / 设计”对应 WebGen-Bench 测试用例的三类：Functional Testing 339、Data Display Testing 186、Design Validation Testing 122。注入长度用来说明长度与效果的关系。若算力允许，再加 WebGen-LM-32B（论文 38.2%）作为第二个生成器，检验结论是否随模型变强而变化。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资源：学校 CS ML 集群（8 × H200，Slurm），每个作业 2 张卡、16 核、128GB；不使用 Azure 等付费资源。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WebGen-Bench 跨任务长期记忆 · 双周汇报 · 2026-10-05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跨任务长期记忆能否帮助小模型生成网站？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WebGen-Bench · 第一阶段结果复盘 + 第二阶段（学校 H200，全自部署）实验设计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双周汇报 · 2026-10-05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一页结论：有正向信号，但还不能算证据</a:t>
            </a:r>
            <a:endParaRPr lang="en-US" sz="3000" dirty="0"/>
          </a:p>
        </p:txBody>
      </p:sp>
      <p:sp>
        <p:nvSpPr>
          <p:cNvPr id="3" name="stat-card-1"/>
          <p:cNvSpPr/>
          <p:nvPr/>
        </p:nvSpPr>
        <p:spPr>
          <a:xfrm>
            <a:off x="548640" y="132588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→ 50%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检查级准确率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Memory → Long Memory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第一阶段 8 个共同任务</a:t>
            </a:r>
            <a:endParaRPr lang="en-US" sz="1300" dirty="0"/>
          </a:p>
        </p:txBody>
      </p:sp>
      <p:sp>
        <p:nvSpPr>
          <p:cNvPr id="6" name="stat-card-2"/>
          <p:cNvSpPr/>
          <p:nvPr/>
        </p:nvSpPr>
        <p:spPr>
          <a:xfrm>
            <a:off x="3364992" y="132588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47872" y="1463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好 / 3 差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547872" y="2377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逐任务比较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Long Memory 更好 5 个，更差 3 个</a:t>
            </a:r>
            <a:endParaRPr lang="en-US" sz="1300" dirty="0"/>
          </a:p>
        </p:txBody>
      </p:sp>
      <p:sp>
        <p:nvSpPr>
          <p:cNvPr id="9" name="stat-card-3"/>
          <p:cNvSpPr/>
          <p:nvPr/>
        </p:nvSpPr>
        <p:spPr>
          <a:xfrm>
            <a:off x="6181344" y="132588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463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9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28.4%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2377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论文里 WebGen-LM-7B 准确率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第二阶段 No Memory 的复现目标</a:t>
            </a:r>
            <a:endParaRPr lang="en-US" sz="1300" dirty="0"/>
          </a:p>
        </p:txBody>
      </p:sp>
      <p:sp>
        <p:nvSpPr>
          <p:cNvPr id="12" name="stat-card-4"/>
          <p:cNvSpPr/>
          <p:nvPr/>
        </p:nvSpPr>
        <p:spPr>
          <a:xfrm>
            <a:off x="8997696" y="132588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0576" y="1463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× 2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180576" y="2377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第二阶段：101 个任务、两组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11 个任务试跑正在集群上运行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31920"/>
            <a:ext cx="11064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为什么还不能算证据：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只有 8 个任务、每组各跑 1 次；Long Memory 链在过程中改过多次方法，混了不同版本的结果。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第一阶段的评测流程比论文严（要求 npm run build 通过）、又比论文宽（最多 5 次修复），分数没法和论文对照。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第二阶段：全部改用学校 H200 自部署模型 + 论文官方评测协议，重新跑完整 101 个任务。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现在用的模型：尽量贴近论文，只有外观评分不同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  <a:gridCol w="320040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角色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论文官方设置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我们（第二阶段，学校 H200）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生成网站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WebGen-LM-7B（Bolt.diy）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WebGen-LM-7B BF16（vLLM）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与论文相同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功能评测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WebVoyager + Qwen2.5-VL-32B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同左，BF16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与论文相同；647 个测试用例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9534F"/>
                          </a:solidFill>
                        </a:rPr>
                        <a:t>外观评分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GPT-4o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Qwen2.5-VL-32B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9534F"/>
                          </a:solidFill>
                        </a:rPr>
                        <a:t>唯一偏差：只比较两组，不和论文的 2.5 分比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记忆 / 反思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—（论文没有）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Qwen2.5-VL-72B（AWQ）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要看截图；必须和评测模型不同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Embedding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bge-m3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本地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算力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2 × H200（Slurm 作业）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</a:rPr>
                        <a:t>不调用任何付费 API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第一阶段（9 月）：生成器为 Mac 本地 WebGen-LM-7B Q8_0；外观评分、记忆、反思用 Azure GPT-4o / gpt-5.4-mini。两阶段结果不混用。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实验流程：Long Memory 多一个“反思 → 存储 → 检索”循环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1143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两组共用（No Memory 只走这一行）</a:t>
            </a:r>
            <a:endParaRPr lang="en-US" sz="1300" dirty="0"/>
          </a:p>
        </p:txBody>
      </p:sp>
      <p:sp>
        <p:nvSpPr>
          <p:cNvPr id="4" name="flow-shared-1"/>
          <p:cNvSpPr/>
          <p:nvPr/>
        </p:nvSpPr>
        <p:spPr>
          <a:xfrm>
            <a:off x="429768" y="14630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9496" y="1554480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B43"/>
                </a:solidFill>
              </a:rPr>
              <a:t>任务流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101 个任务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按 20 个领域分块顺序执行</a:t>
            </a:r>
            <a:endParaRPr lang="en-US" sz="1400" dirty="0"/>
          </a:p>
        </p:txBody>
      </p:sp>
      <p:sp>
        <p:nvSpPr>
          <p:cNvPr id="6" name="arrow-shared-1"/>
          <p:cNvSpPr/>
          <p:nvPr/>
        </p:nvSpPr>
        <p:spPr>
          <a:xfrm>
            <a:off x="2468880" y="2034540"/>
            <a:ext cx="265176" cy="0"/>
          </a:xfrm>
          <a:prstGeom prst="line">
            <a:avLst/>
          </a:prstGeom>
          <a:noFill/>
          <a:ln w="19050">
            <a:solidFill>
              <a:srgbClr val="8C99A6"/>
            </a:solidFill>
            <a:prstDash val="solid"/>
            <a:tailEnd type="triangle"/>
          </a:ln>
        </p:spPr>
      </p:sp>
      <p:sp>
        <p:nvSpPr>
          <p:cNvPr id="7" name="flow-shared-2"/>
          <p:cNvSpPr/>
          <p:nvPr/>
        </p:nvSpPr>
        <p:spPr>
          <a:xfrm>
            <a:off x="2761488" y="14630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71216" y="1554480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B43"/>
                </a:solidFill>
              </a:rPr>
              <a:t>生成网站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Bolt.diy +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WebGen-LM-7B</a:t>
            </a:r>
            <a:endParaRPr lang="en-US" sz="1400" dirty="0"/>
          </a:p>
        </p:txBody>
      </p:sp>
      <p:sp>
        <p:nvSpPr>
          <p:cNvPr id="9" name="arrow-shared-2"/>
          <p:cNvSpPr/>
          <p:nvPr/>
        </p:nvSpPr>
        <p:spPr>
          <a:xfrm>
            <a:off x="4800600" y="2034540"/>
            <a:ext cx="265176" cy="0"/>
          </a:xfrm>
          <a:prstGeom prst="line">
            <a:avLst/>
          </a:prstGeom>
          <a:noFill/>
          <a:ln w="19050">
            <a:solidFill>
              <a:srgbClr val="8C99A6"/>
            </a:solidFill>
            <a:prstDash val="solid"/>
            <a:tailEnd type="triangle"/>
          </a:ln>
        </p:spPr>
      </p:sp>
      <p:sp>
        <p:nvSpPr>
          <p:cNvPr id="10" name="flow-shared-3"/>
          <p:cNvSpPr/>
          <p:nvPr/>
        </p:nvSpPr>
        <p:spPr>
          <a:xfrm>
            <a:off x="5093208" y="14630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02936" y="1554480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B43"/>
                </a:solidFill>
              </a:rPr>
              <a:t>启动网站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npm install + dev server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（官方协议：不修复）</a:t>
            </a:r>
            <a:endParaRPr lang="en-US" sz="1400" dirty="0"/>
          </a:p>
        </p:txBody>
      </p:sp>
      <p:sp>
        <p:nvSpPr>
          <p:cNvPr id="12" name="arrow-shared-3"/>
          <p:cNvSpPr/>
          <p:nvPr/>
        </p:nvSpPr>
        <p:spPr>
          <a:xfrm>
            <a:off x="7132320" y="2034540"/>
            <a:ext cx="265176" cy="0"/>
          </a:xfrm>
          <a:prstGeom prst="line">
            <a:avLst/>
          </a:prstGeom>
          <a:noFill/>
          <a:ln w="19050">
            <a:solidFill>
              <a:srgbClr val="8C99A6"/>
            </a:solidFill>
            <a:prstDash val="solid"/>
            <a:tailEnd type="triangle"/>
          </a:ln>
        </p:spPr>
      </p:sp>
      <p:sp>
        <p:nvSpPr>
          <p:cNvPr id="13" name="flow-shared-4"/>
          <p:cNvSpPr/>
          <p:nvPr/>
        </p:nvSpPr>
        <p:spPr>
          <a:xfrm>
            <a:off x="7424928" y="14630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34656" y="1554480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B43"/>
                </a:solidFill>
              </a:rPr>
              <a:t>功能评测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WebVoyager +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Qwen2.5-VL-32B · 647 用例</a:t>
            </a:r>
            <a:endParaRPr lang="en-US" sz="1400" dirty="0"/>
          </a:p>
        </p:txBody>
      </p:sp>
      <p:sp>
        <p:nvSpPr>
          <p:cNvPr id="15" name="arrow-shared-4"/>
          <p:cNvSpPr/>
          <p:nvPr/>
        </p:nvSpPr>
        <p:spPr>
          <a:xfrm>
            <a:off x="9464040" y="2034540"/>
            <a:ext cx="265176" cy="0"/>
          </a:xfrm>
          <a:prstGeom prst="line">
            <a:avLst/>
          </a:prstGeom>
          <a:noFill/>
          <a:ln w="19050">
            <a:solidFill>
              <a:srgbClr val="8C99A6"/>
            </a:solidFill>
            <a:prstDash val="solid"/>
            <a:tailEnd type="triangle"/>
          </a:ln>
        </p:spPr>
      </p:sp>
      <p:sp>
        <p:nvSpPr>
          <p:cNvPr id="16" name="flow-shared-5"/>
          <p:cNvSpPr/>
          <p:nvPr/>
        </p:nvSpPr>
        <p:spPr>
          <a:xfrm>
            <a:off x="9756648" y="14630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66376" y="1554480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B43"/>
                </a:solidFill>
              </a:rPr>
              <a:t>外观评分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Qwen2.5-VL-32B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截图 1–5 分</a:t>
            </a:r>
            <a:endParaRPr lang="en-US" sz="1400" dirty="0"/>
          </a:p>
        </p:txBody>
      </p:sp>
      <p:sp>
        <p:nvSpPr>
          <p:cNvPr id="18" name="lane-longmem"/>
          <p:cNvSpPr/>
          <p:nvPr/>
        </p:nvSpPr>
        <p:spPr>
          <a:xfrm>
            <a:off x="429768" y="3429000"/>
            <a:ext cx="11329416" cy="2331720"/>
          </a:xfrm>
          <a:prstGeom prst="roundRect">
            <a:avLst>
              <a:gd name="adj" fmla="val 3137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只有 Long Memory</a:t>
            </a:r>
            <a:endParaRPr lang="en-US" sz="1300" dirty="0"/>
          </a:p>
        </p:txBody>
      </p:sp>
      <p:sp>
        <p:nvSpPr>
          <p:cNvPr id="20" name="flow-longmem-1"/>
          <p:cNvSpPr/>
          <p:nvPr/>
        </p:nvSpPr>
        <p:spPr>
          <a:xfrm>
            <a:off x="1600200" y="3931920"/>
            <a:ext cx="2926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737360" y="402336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</a:rPr>
              <a:t>下个任务前：检索 + 改写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拆需求 → bge-m3 找相似经验 → 72B 判断是否相关 → 改写成当前任务的做法 → 压缩成至多 6 条</a:t>
            </a:r>
            <a:endParaRPr lang="en-US" sz="1400" dirty="0"/>
          </a:p>
        </p:txBody>
      </p:sp>
      <p:sp>
        <p:nvSpPr>
          <p:cNvPr id="22" name="flow-longmem-2"/>
          <p:cNvSpPr/>
          <p:nvPr/>
        </p:nvSpPr>
        <p:spPr>
          <a:xfrm>
            <a:off x="5166360" y="39319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03520" y="402336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</a:rPr>
              <a:t>记忆库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具体 case（功能 / 外观）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全站经验池（次数 × 严重度排序）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运行统计</a:t>
            </a:r>
            <a:endParaRPr lang="en-US" sz="1400" dirty="0"/>
          </a:p>
        </p:txBody>
      </p:sp>
      <p:sp>
        <p:nvSpPr>
          <p:cNvPr id="24" name="flow-longmem-3"/>
          <p:cNvSpPr/>
          <p:nvPr/>
        </p:nvSpPr>
        <p:spPr>
          <a:xfrm>
            <a:off x="8458200" y="3931920"/>
            <a:ext cx="31089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95360" y="402336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</a:rPr>
              <a:t>任务后反思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Qwen2.5-VL-72B 按 9 步排查：评测员是否到达目标 → 截图 → 代码路径 → 样式追踪 → 结论与可信度</a:t>
            </a:r>
            <a:endParaRPr lang="en-US" sz="1400" dirty="0"/>
          </a:p>
        </p:txBody>
      </p:sp>
      <p:sp>
        <p:nvSpPr>
          <p:cNvPr id="26" name="arrow-eval-to-reflect"/>
          <p:cNvSpPr/>
          <p:nvPr/>
        </p:nvSpPr>
        <p:spPr>
          <a:xfrm>
            <a:off x="10012680" y="2633472"/>
            <a:ext cx="0" cy="1271016"/>
          </a:xfrm>
          <a:prstGeom prst="line">
            <a:avLst/>
          </a:prstGeom>
          <a:noFill/>
          <a:ln w="22225">
            <a:solidFill>
              <a:srgbClr val="1B998B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10104120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评测结果 + 截图 + 代码</a:t>
            </a:r>
            <a:endParaRPr lang="en-US" sz="1100" dirty="0"/>
          </a:p>
        </p:txBody>
      </p:sp>
      <p:sp>
        <p:nvSpPr>
          <p:cNvPr id="28" name="arrow-reflect-to-store"/>
          <p:cNvSpPr/>
          <p:nvPr/>
        </p:nvSpPr>
        <p:spPr>
          <a:xfrm flipH="1">
            <a:off x="7845552" y="4727448"/>
            <a:ext cx="585216" cy="0"/>
          </a:xfrm>
          <a:prstGeom prst="line">
            <a:avLst/>
          </a:prstGeom>
          <a:noFill/>
          <a:ln w="22225">
            <a:solidFill>
              <a:srgbClr val="1B998B"/>
            </a:solidFill>
            <a:prstDash val="solid"/>
            <a:tailEnd type="triangle"/>
          </a:ln>
        </p:spPr>
      </p:sp>
      <p:sp>
        <p:nvSpPr>
          <p:cNvPr id="29" name="arrow-store-to-retrieve"/>
          <p:cNvSpPr/>
          <p:nvPr/>
        </p:nvSpPr>
        <p:spPr>
          <a:xfrm flipH="1">
            <a:off x="4553712" y="4727448"/>
            <a:ext cx="585216" cy="0"/>
          </a:xfrm>
          <a:prstGeom prst="line">
            <a:avLst/>
          </a:prstGeom>
          <a:noFill/>
          <a:ln w="22225">
            <a:solidFill>
              <a:srgbClr val="1B998B"/>
            </a:solidFill>
            <a:prstDash val="solid"/>
            <a:tailEnd type="triangle"/>
          </a:ln>
        </p:spPr>
      </p:sp>
      <p:sp>
        <p:nvSpPr>
          <p:cNvPr id="30" name="arrow-inject"/>
          <p:cNvSpPr/>
          <p:nvPr/>
        </p:nvSpPr>
        <p:spPr>
          <a:xfrm flipV="1">
            <a:off x="3063240" y="2633472"/>
            <a:ext cx="0" cy="1271016"/>
          </a:xfrm>
          <a:prstGeom prst="line">
            <a:avLst/>
          </a:prstGeom>
          <a:noFill/>
          <a:ln w="22225">
            <a:solidFill>
              <a:srgbClr val="1B998B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315468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注入 prompt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防泄题：检索时排除当前任务自己的记忆；评测结果只用于之后的任务。两组在同一作业里背靠背运行，先后顺序逐任务交替。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评测协议：按论文官方做法，保证 No Memory 能和论文对照</a:t>
            </a:r>
            <a:endParaRPr lang="en-US" sz="3000" dirty="0"/>
          </a:p>
        </p:txBody>
      </p:sp>
      <p:sp>
        <p:nvSpPr>
          <p:cNvPr id="3" name="proto-key-1"/>
          <p:cNvSpPr/>
          <p:nvPr/>
        </p:nvSpPr>
        <p:spPr>
          <a:xfrm>
            <a:off x="548640" y="13258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任务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32588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WebGen-Bench 全部 101 个任务、647 个测试用例；按 20 个应用领域分块，同领域的任务连续执行</a:t>
            </a:r>
            <a:endParaRPr lang="en-US" sz="1500" dirty="0"/>
          </a:p>
        </p:txBody>
      </p:sp>
      <p:sp>
        <p:nvSpPr>
          <p:cNvPr id="6" name="proto-key-2"/>
          <p:cNvSpPr/>
          <p:nvPr/>
        </p:nvSpPr>
        <p:spPr>
          <a:xfrm>
            <a:off x="548640" y="22402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E5266"/>
          </a:solidFill>
          <a:ln w="12700">
            <a:solidFill>
              <a:srgbClr val="2E52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40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生成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24028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每个任务只生成一次，不修复，不做我们自己的代码补丁（第一阶段有 build 检查 + 最多 5 次修复，和论文不一致）</a:t>
            </a:r>
            <a:endParaRPr lang="en-US" sz="1500" dirty="0"/>
          </a:p>
        </p:txBody>
      </p:sp>
      <p:sp>
        <p:nvSpPr>
          <p:cNvPr id="9" name="proto-key-3"/>
          <p:cNvSpPr/>
          <p:nvPr/>
        </p:nvSpPr>
        <p:spPr>
          <a:xfrm>
            <a:off x="548640" y="31546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评测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15468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依赖装好、dev server 能启动就交给评测员；网站没起来的用例计 0 分，和官方 compute_acc.py 一致</a:t>
            </a:r>
            <a:endParaRPr lang="en-US" sz="1500" dirty="0"/>
          </a:p>
        </p:txBody>
      </p:sp>
      <p:sp>
        <p:nvSpPr>
          <p:cNvPr id="12" name="proto-key-4"/>
          <p:cNvSpPr/>
          <p:nvPr/>
        </p:nvSpPr>
        <p:spPr>
          <a:xfrm>
            <a:off x="548640" y="40690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E5266"/>
          </a:solidFill>
          <a:ln w="12700">
            <a:solidFill>
              <a:srgbClr val="2E52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指标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406908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Accuracy = (YES + 0.5 × PARTIAL) / 647；另报 YES / PARTIAL / NO / 未启动比例和外观分（1–5）</a:t>
            </a:r>
            <a:endParaRPr lang="en-US" sz="1500" dirty="0"/>
          </a:p>
        </p:txBody>
      </p:sp>
      <p:sp>
        <p:nvSpPr>
          <p:cNvPr id="15" name="proto-key-5"/>
          <p:cNvSpPr/>
          <p:nvPr/>
        </p:nvSpPr>
        <p:spPr>
          <a:xfrm>
            <a:off x="548640" y="49834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983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公平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498348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两组同一任务背靠背；只排除当前任务自己的记忆；评测结果只用于后续任务，不修当前任务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No Memory 的错误：43 个检查里 30 个没通过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nm-error-notes"/>
          <p:cNvSpPr/>
          <p:nvPr/>
        </p:nvSpPr>
        <p:spPr>
          <a:xfrm>
            <a:off x="7863840" y="132588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46720" y="1463040"/>
            <a:ext cx="3383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43"/>
                </a:solidFill>
              </a:rPr>
              <a:t>怎么读这张图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检查级准确率 36%（15.5 / 43）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前三类都是“网站没把需求做全”：内容不完整、功能没做、页面没入口，合计 15 个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构建失败只有 1 个任务（026），但一失败 5 个检查全部记 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“评测员没给结论”不是网站问题：转录在中途结束，被共用解析器记成失败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口径：第一阶段 8 个共同任务（014–017、019–021、026），按评测员最终结论归类，部分经代码核对；交互次数用完的检查按评测员给出的原因归类。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Long Memory 怎么应对这些错误，效果如何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1737360"/>
                <a:gridCol w="26517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错误类型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Long Memory 的机制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 Mem → Long Mem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判断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构建失败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失败也写入记忆（“项目要能构建启动”）进全站经验池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5 → 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59F2F"/>
                          </a:solidFill>
                        </a:rPr>
                        <a:t>减少，但只有 1 个任务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内容缺失或不完整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按需求功能检索相似 case，改写成当前任务的做法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6 → 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998B"/>
                          </a:solidFill>
                        </a:rPr>
                        <a:t>减少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配色要求没满足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外观 case：背景 / 组件颜色要用到页面上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3 → 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998B"/>
                          </a:solidFill>
                        </a:rPr>
                        <a:t>减少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功能或版块没做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压缩时“只缩不删”，开头和结尾声明需求优先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5 → 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</a:rPr>
                        <a:t>没改善：被压缩掉的功能恰好没做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页面没有导航入口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反思判为全站经验，进经验池：“每个版块要有入口”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4 → 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59F2F"/>
                          </a:solidFill>
                        </a:rPr>
                        <a:t>先变坏后修好（见同领域页）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内容看不见（白字）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反思追到全局样式表时形成“文字对比度”经验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1 → 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</a:rPr>
                        <a:t>变多：评测环境造成，两组都受影响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交互逻辑缺陷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功能 case：提交后要有可见确认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3 → 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</a:rPr>
                        <a:t>没改善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同口径：8 个共同任务、各 43 个检查。“评测员没给结论” 3 → 0 属于评测随机性，未列入。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整体效果：8 个任务里 5 个变好、3 个变差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overall-stat-1"/>
          <p:cNvSpPr/>
          <p:nvPr/>
        </p:nvSpPr>
        <p:spPr>
          <a:xfrm>
            <a:off x="8503920" y="132588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0" y="143560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998B"/>
                </a:solidFill>
              </a:rPr>
              <a:t>36% → 50%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2057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检查级准确率（共 43 个检查）</a:t>
            </a:r>
            <a:endParaRPr lang="en-US" sz="1200" dirty="0"/>
          </a:p>
        </p:txBody>
      </p:sp>
      <p:sp>
        <p:nvSpPr>
          <p:cNvPr id="7" name="overall-stat-2"/>
          <p:cNvSpPr/>
          <p:nvPr/>
        </p:nvSpPr>
        <p:spPr>
          <a:xfrm>
            <a:off x="8503920" y="283464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0" y="29443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998B"/>
                </a:solidFill>
              </a:rPr>
              <a:t>2.9 → 3.1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3566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外观分（1–5，有网站的 7 个任务）</a:t>
            </a:r>
            <a:endParaRPr lang="en-US" sz="1200" dirty="0"/>
          </a:p>
        </p:txBody>
      </p:sp>
      <p:sp>
        <p:nvSpPr>
          <p:cNvPr id="10" name="overall-stat-3"/>
          <p:cNvSpPr/>
          <p:nvPr/>
        </p:nvSpPr>
        <p:spPr>
          <a:xfrm>
            <a:off x="8503920" y="434340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0" y="44531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5266"/>
                </a:solidFill>
              </a:rPr>
              <a:t>1 → 0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5074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构建失败的任务数（026）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单次运行；Long Memory 的 014、015 为未压缩旧版，016–021 为 10 月 1 日的几个中间版本，026 为 10 月 2 日版本。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Long Memory 的错误有没有减少：总数 30 → 25，但结构变了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78638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ewer-errors"/>
          <p:cNvSpPr/>
          <p:nvPr/>
        </p:nvSpPr>
        <p:spPr>
          <a:xfrm>
            <a:off x="8778240" y="1325880"/>
            <a:ext cx="2834640" cy="2057400"/>
          </a:xfrm>
          <a:prstGeom prst="roundRect">
            <a:avLst>
              <a:gd name="adj" fmla="val 3556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61120" y="146304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998B"/>
                </a:solidFill>
              </a:rPr>
              <a:t>减少了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构建失败、内容不完整、配色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——记忆里有对应的具体做法</a:t>
            </a:r>
            <a:endParaRPr lang="en-US" sz="1400" dirty="0"/>
          </a:p>
        </p:txBody>
      </p:sp>
      <p:sp>
        <p:nvSpPr>
          <p:cNvPr id="6" name="more-errors"/>
          <p:cNvSpPr/>
          <p:nvPr/>
        </p:nvSpPr>
        <p:spPr>
          <a:xfrm>
            <a:off x="8778240" y="3611880"/>
            <a:ext cx="2834640" cy="2240280"/>
          </a:xfrm>
          <a:prstGeom prst="roundRect">
            <a:avLst>
              <a:gd name="adj" fmla="val 3265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61120" y="374904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</a:rPr>
              <a:t>变多了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导航入口：guidance 写“放在单独页面”却没要求入口。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白字：评测环境造成，和记忆无关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同口径：8 个共同任务、各 43 个检查。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同领域实验：重复出现的根因能被修复，但具体经验容易过度迁移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领域块 1：Company Brochure Sites（000014–000021，共 8 个任务，连续执行）</a:t>
            </a:r>
            <a:endParaRPr lang="en-US" sz="1400" dirty="0"/>
          </a:p>
        </p:txBody>
      </p:sp>
      <p:sp>
        <p:nvSpPr>
          <p:cNvPr id="4" name="domain-step-1"/>
          <p:cNvSpPr/>
          <p:nvPr/>
        </p:nvSpPr>
        <p:spPr>
          <a:xfrm>
            <a:off x="548640" y="16916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01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43"/>
                </a:solidFill>
              </a:rPr>
              <a:t>016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34F"/>
                </a:solidFill>
              </a:rPr>
              <a:t>0.17（No Mem 0.50）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guidance 让模型建独立页面，但首页没有任何入口，5 项都找不到页面</a:t>
            </a:r>
            <a:endParaRPr lang="en-US" sz="1400" dirty="0"/>
          </a:p>
        </p:txBody>
      </p:sp>
      <p:sp>
        <p:nvSpPr>
          <p:cNvPr id="8" name="domain-arrow-1"/>
          <p:cNvSpPr/>
          <p:nvPr/>
        </p:nvSpPr>
        <p:spPr>
          <a:xfrm>
            <a:off x="3182112" y="2852928"/>
            <a:ext cx="155448" cy="0"/>
          </a:xfrm>
          <a:prstGeom prst="line">
            <a:avLst/>
          </a:prstGeom>
          <a:noFill/>
          <a:ln w="19050">
            <a:solidFill>
              <a:srgbClr val="8C99A6"/>
            </a:solidFill>
            <a:prstDash val="solid"/>
            <a:tailEnd type="triangle"/>
          </a:ln>
        </p:spPr>
      </p:sp>
      <p:sp>
        <p:nvSpPr>
          <p:cNvPr id="9" name="domain-step-2"/>
          <p:cNvSpPr/>
          <p:nvPr/>
        </p:nvSpPr>
        <p:spPr>
          <a:xfrm>
            <a:off x="3364992" y="16916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801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43"/>
                </a:solidFill>
              </a:rPr>
              <a:t>016 反思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5266"/>
                </a:solidFill>
              </a:rPr>
              <a:t>产出全站经验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6517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“每个主要版块都要有可点击的导航入口”进入全站经验池</a:t>
            </a:r>
            <a:endParaRPr lang="en-US" sz="1400" dirty="0"/>
          </a:p>
        </p:txBody>
      </p:sp>
      <p:sp>
        <p:nvSpPr>
          <p:cNvPr id="13" name="domain-arrow-2"/>
          <p:cNvSpPr/>
          <p:nvPr/>
        </p:nvSpPr>
        <p:spPr>
          <a:xfrm>
            <a:off x="5998464" y="2852928"/>
            <a:ext cx="155448" cy="0"/>
          </a:xfrm>
          <a:prstGeom prst="line">
            <a:avLst/>
          </a:prstGeom>
          <a:noFill/>
          <a:ln w="19050">
            <a:solidFill>
              <a:srgbClr val="8C99A6"/>
            </a:solidFill>
            <a:prstDash val="solid"/>
            <a:tailEnd type="triangle"/>
          </a:ln>
        </p:spPr>
      </p:sp>
      <p:sp>
        <p:nvSpPr>
          <p:cNvPr id="14" name="domain-step-3"/>
          <p:cNvSpPr/>
          <p:nvPr/>
        </p:nvSpPr>
        <p:spPr>
          <a:xfrm>
            <a:off x="6181344" y="16916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64224" y="1801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43"/>
                </a:solidFill>
              </a:rPr>
              <a:t>017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64224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998B"/>
                </a:solidFill>
              </a:rPr>
              <a:t>导航检查通过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6517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通用经验被注入，导航项由部分通过变为通过（但白字让另外 3 项失败）</a:t>
            </a:r>
            <a:endParaRPr lang="en-US" sz="1400" dirty="0"/>
          </a:p>
        </p:txBody>
      </p:sp>
      <p:sp>
        <p:nvSpPr>
          <p:cNvPr id="18" name="domain-arrow-3"/>
          <p:cNvSpPr/>
          <p:nvPr/>
        </p:nvSpPr>
        <p:spPr>
          <a:xfrm>
            <a:off x="8814816" y="2852928"/>
            <a:ext cx="155448" cy="0"/>
          </a:xfrm>
          <a:prstGeom prst="line">
            <a:avLst/>
          </a:prstGeom>
          <a:noFill/>
          <a:ln w="19050">
            <a:solidFill>
              <a:srgbClr val="8C99A6"/>
            </a:solidFill>
            <a:prstDash val="solid"/>
            <a:tailEnd type="triangle"/>
          </a:ln>
        </p:spPr>
      </p:sp>
      <p:sp>
        <p:nvSpPr>
          <p:cNvPr id="19" name="domain-step-4"/>
          <p:cNvSpPr/>
          <p:nvPr/>
        </p:nvSpPr>
        <p:spPr>
          <a:xfrm>
            <a:off x="8997696" y="16916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0576" y="1801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43"/>
                </a:solidFill>
              </a:rPr>
              <a:t>018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180576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998B"/>
                </a:solidFill>
              </a:rPr>
              <a:t>0.67 = No Memory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180576" y="26517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注入导航 + 文字对比度两条经验；此前同一任务 4 次只有 0.08–0.33</a:t>
            </a:r>
            <a:endParaRPr lang="en-US" sz="1400" dirty="0"/>
          </a:p>
        </p:txBody>
      </p:sp>
      <p:sp>
        <p:nvSpPr>
          <p:cNvPr id="23" name="negative-transfer"/>
          <p:cNvSpPr/>
          <p:nvPr/>
        </p:nvSpPr>
        <p:spPr>
          <a:xfrm>
            <a:off x="548640" y="425196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3891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534F"/>
                </a:solidFill>
              </a:rPr>
              <a:t>负迁移的例子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014 的反思把“交互次数用完”误归因为“服务介绍要放首屏”，加上代码里写死的“首屏展示所有功能”拆解项，被改写成“落地页展示全部内容、不需要导航”：017 改成标签页，018 没有导航。删除写死的拆解项后，导航检查恢复通过。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领域块 2（Discussion Forums，026–）在第一阶段只跑到 026，样本不足以下结论。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为什么 Long Memory 没有稳定提升</a:t>
            </a:r>
            <a:endParaRPr lang="en-US" sz="3000" dirty="0"/>
          </a:p>
        </p:txBody>
      </p:sp>
      <p:sp>
        <p:nvSpPr>
          <p:cNvPr id="3" name="reason-badge-1"/>
          <p:cNvSpPr/>
          <p:nvPr/>
        </p:nvSpPr>
        <p:spPr>
          <a:xfrm>
            <a:off x="548640" y="1353312"/>
            <a:ext cx="566928" cy="56692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53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280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43"/>
                </a:solidFill>
              </a:rPr>
              <a:t>记忆会引入新错误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2801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guidance 过长时盖过需求（016 只做首页）；列出部分功能时被当成全部范围（018、026 漏做）；写死的设计假设被放大</a:t>
            </a:r>
            <a:endParaRPr lang="en-US" sz="1400" dirty="0"/>
          </a:p>
        </p:txBody>
      </p:sp>
      <p:sp>
        <p:nvSpPr>
          <p:cNvPr id="7" name="reason-badge-2"/>
          <p:cNvSpPr/>
          <p:nvPr/>
        </p:nvSpPr>
        <p:spPr>
          <a:xfrm>
            <a:off x="548640" y="2295144"/>
            <a:ext cx="566928" cy="56692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95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22199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43"/>
                </a:solidFill>
              </a:rPr>
              <a:t>反思模型不够可靠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221992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只偶尔追到真实根因（白字只追到 1 次）；把猜测标成“确定”；回归集 12–13/18，同一版本两次可以差很多</a:t>
            </a:r>
            <a:endParaRPr lang="en-US" sz="1400" dirty="0"/>
          </a:p>
        </p:txBody>
      </p:sp>
      <p:sp>
        <p:nvSpPr>
          <p:cNvPr id="11" name="reason-badge-3"/>
          <p:cNvSpPr/>
          <p:nvPr/>
        </p:nvSpPr>
        <p:spPr>
          <a:xfrm>
            <a:off x="548640" y="3236976"/>
            <a:ext cx="566928" cy="566928"/>
          </a:xfrm>
          <a:prstGeom prst="ellipse">
            <a:avLst/>
          </a:prstGeom>
          <a:solidFill>
            <a:srgbClr val="2E5266"/>
          </a:solidFill>
          <a:ln w="12700">
            <a:solidFill>
              <a:srgbClr val="2E52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36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16382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43"/>
                </a:solidFill>
              </a:rPr>
              <a:t>生成器能力上限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3163824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7B 模型拿到“每个版块要有导航”也不总照做；记忆只能提醒，不能补能力</a:t>
            </a:r>
            <a:endParaRPr lang="en-US" sz="1400" dirty="0"/>
          </a:p>
        </p:txBody>
      </p:sp>
      <p:sp>
        <p:nvSpPr>
          <p:cNvPr id="15" name="reason-badge-4"/>
          <p:cNvSpPr/>
          <p:nvPr/>
        </p:nvSpPr>
        <p:spPr>
          <a:xfrm>
            <a:off x="548640" y="4178808"/>
            <a:ext cx="566928" cy="566928"/>
          </a:xfrm>
          <a:prstGeom prst="ellipse">
            <a:avLst/>
          </a:prstGeom>
          <a:solidFill>
            <a:srgbClr val="2E5266"/>
          </a:solidFill>
          <a:ln w="12700">
            <a:solidFill>
              <a:srgbClr val="2E52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178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0565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43"/>
                </a:solidFill>
              </a:rPr>
              <a:t>评测噪声大于效应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105656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交互次数用完：No Memory 12/43、Long Memory 19/43 个检查；评测员中途结束；深色模式白字</a:t>
            </a:r>
            <a:endParaRPr lang="en-US" sz="1400" dirty="0"/>
          </a:p>
        </p:txBody>
      </p:sp>
      <p:sp>
        <p:nvSpPr>
          <p:cNvPr id="19" name="reason-badge-5"/>
          <p:cNvSpPr/>
          <p:nvPr/>
        </p:nvSpPr>
        <p:spPr>
          <a:xfrm>
            <a:off x="548640" y="5120640"/>
            <a:ext cx="566928" cy="566928"/>
          </a:xfrm>
          <a:prstGeom prst="ellipse">
            <a:avLst/>
          </a:prstGeom>
          <a:solidFill>
            <a:srgbClr val="2E5266"/>
          </a:solidFill>
          <a:ln w="12700">
            <a:solidFill>
              <a:srgbClr val="2E52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20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0474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43"/>
                </a:solidFill>
              </a:rPr>
              <a:t>样本小、版本混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504748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个任务、各 1 次；Long Memory 链中途多次改方法；协议与论文不一致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ReasoningBank 为什么能提升，我们差在哪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754880"/>
                <a:gridCol w="4480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对比项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ReasoningBank（Ouyang 等，2025）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我们（第一阶段）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主干模型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Gemini-2.5-flash / pro、Claude-3.7：能用好抽象策略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WebGen-LM-7B（8 bit 量化）：不总遵守 guidance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任务形态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多步交互 agent，记忆影响每一步决策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一次生成整站代码，记忆只在开头注入一次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环境重复度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WebArena 在同几个网站上大量相似任务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每个任务网站不同；每个领域只有 2–8 个任务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记忆内容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抽象推理策略（标题 / 描述 / 内容），每条轨迹 ≤ 3 条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具体 case → 改写 → 压缩，最多 6 条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注入量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top-1，很短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曾达需求原文的 5.7 倍，压缩后约 1.3 倍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规模与结果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数百任务；WebArena 40.5% → 48.8%，加入失败经验 +3.2 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8 个任务、单次；36% → 50%，不可靠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43"/>
                </a:solidFill>
              </a:rPr>
              <a:t>可借鉴：更短、更抽象的策略记忆（top-1）；论文主表里加一个 ReasoningBank 式的记忆基线；同领域任务更多时记忆才有机会复用。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ReasoningBank 数字来自其论文（arXiv 2509.25140）WebArena、Gemini-2.5-flash 设置；失败经验消融为 WebArena-Shopping 46.5% → 49.7%。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论文主表设计（WebGen-Bench 101 个任务、647 个用例）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960120"/>
                <a:gridCol w="777240"/>
                <a:gridCol w="960120"/>
                <a:gridCol w="777240"/>
                <a:gridCol w="914400"/>
                <a:gridCol w="777240"/>
                <a:gridCol w="187452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方法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准确率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PARTIAL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未启动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外观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功能 / 数据展示 / 设计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注入长度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8C99A6"/>
                          </a:solidFill>
                        </a:rPr>
                        <a:t>WebGen-LM-7B（论文报告）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28.4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24.9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7.1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68.0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2.5*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No Memory（我们复现）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ReasoningBank 式记忆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998B"/>
                          </a:solidFill>
                        </a:rPr>
                        <a:t>Long Memory（ours）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   − 反思排查（只存原始摘要）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   − 压缩（原样注入）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</a:rPr>
                        <a:t>   − 全站经验池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9834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配套：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表 2：错误类型频次（No Memory vs Long Memory），说明哪些错误被记忆减少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图：准确率随任务序号的累积曲线，以及按“在领域块中的位置”分组的准确率（回答同领域是否有帮助）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每组 ≥ 3 次运行，报均值与按任务配对的置信区间；外观分 * 为 GPT-4o，与我们的 Qwen-VL 分数不可直接比较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下一步</a:t>
            </a:r>
            <a:endParaRPr lang="en-US" sz="3000" dirty="0"/>
          </a:p>
        </p:txBody>
      </p:sp>
      <p:sp>
        <p:nvSpPr>
          <p:cNvPr id="3" name="next-when-1"/>
          <p:cNvSpPr/>
          <p:nvPr/>
        </p:nvSpPr>
        <p:spPr>
          <a:xfrm>
            <a:off x="548640" y="128016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进行中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28016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43"/>
                </a:solidFill>
              </a:rPr>
              <a:t>11 个任务试跑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28016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核对 No Memory 是否接近 28.4%；检查反思提取、入库、检索是否正常（第 3、5 个任务后各检查一次）</a:t>
            </a:r>
            <a:endParaRPr lang="en-US" sz="1400" dirty="0"/>
          </a:p>
        </p:txBody>
      </p:sp>
      <p:sp>
        <p:nvSpPr>
          <p:cNvPr id="7" name="next-when-2"/>
          <p:cNvSpPr/>
          <p:nvPr/>
        </p:nvSpPr>
        <p:spPr>
          <a:xfrm>
            <a:off x="548640" y="2221992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21992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</a:rPr>
              <a:t>约 1–2 天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222199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43"/>
                </a:solidFill>
              </a:rPr>
              <a:t>全部 101 个任务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221992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试跑没问题后跑剩下的 90 个；两组同一作业、逐任务交替</a:t>
            </a:r>
            <a:endParaRPr lang="en-US" sz="1400" dirty="0"/>
          </a:p>
        </p:txBody>
      </p:sp>
      <p:sp>
        <p:nvSpPr>
          <p:cNvPr id="11" name="next-when-3"/>
          <p:cNvSpPr/>
          <p:nvPr/>
        </p:nvSpPr>
        <p:spPr>
          <a:xfrm>
            <a:off x="548640" y="3163824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163824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</a:rPr>
              <a:t>之后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316382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43"/>
                </a:solidFill>
              </a:rPr>
              <a:t>基线与消融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16382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ReasoningBank 式记忆基线；去掉反思排查 / 压缩 / 全站经验池</a:t>
            </a:r>
            <a:endParaRPr lang="en-US" sz="1400" dirty="0"/>
          </a:p>
        </p:txBody>
      </p:sp>
      <p:sp>
        <p:nvSpPr>
          <p:cNvPr id="15" name="next-when-4"/>
          <p:cNvSpPr/>
          <p:nvPr/>
        </p:nvSpPr>
        <p:spPr>
          <a:xfrm>
            <a:off x="548640" y="4105656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105656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</a:rPr>
              <a:t>之后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10565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43"/>
                </a:solidFill>
              </a:rPr>
              <a:t>多次运行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4105656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每组 ≥ 3 次，估计方差；按任务配对比较</a:t>
            </a:r>
            <a:endParaRPr lang="en-US" sz="1400" dirty="0"/>
          </a:p>
        </p:txBody>
      </p:sp>
      <p:sp>
        <p:nvSpPr>
          <p:cNvPr id="19" name="next-when-5"/>
          <p:cNvSpPr/>
          <p:nvPr/>
        </p:nvSpPr>
        <p:spPr>
          <a:xfrm>
            <a:off x="548640" y="5047488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04748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</a:rPr>
              <a:t>之后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377440" y="504748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43"/>
                </a:solidFill>
              </a:rPr>
              <a:t>错误分析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5047488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按同一分类统计 101 个任务；按领域块位置画学习曲线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Gen Memory">
  <a:themeElements>
    <a:clrScheme name="WebGen Memory">
      <a:dk1>
        <a:srgbClr val="1F2A33"/>
      </a:dk1>
      <a:lt1>
        <a:srgbClr val="FFFFFF"/>
      </a:lt1>
      <a:dk2>
        <a:srgbClr val="0E3B43"/>
      </a:dk2>
      <a:lt2>
        <a:srgbClr val="EEF3F2"/>
      </a:lt2>
      <a:accent1>
        <a:srgbClr val="1B998B"/>
      </a:accent1>
      <a:accent2>
        <a:srgbClr val="8C99A6"/>
      </a:accent2>
      <a:accent3>
        <a:srgbClr val="D9534F"/>
      </a:accent3>
      <a:accent4>
        <a:srgbClr val="E59F2F"/>
      </a:accent4>
      <a:accent5>
        <a:srgbClr val="2E5266"/>
      </a:accent5>
      <a:accent6>
        <a:srgbClr val="B8D8D3"/>
      </a:accent6>
      <a:hlink>
        <a:srgbClr val="1B998B"/>
      </a:hlink>
      <a:folHlink>
        <a:srgbClr val="2E5266"/>
      </a:folHlink>
    </a:clrScheme>
    <a:fontScheme name="WebGen Memor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WebGen-Bench 长期记忆 双周汇报</dc:title>
  <dc:subject>PptxGenJS Presentation</dc:subject>
  <dc:creator>WebGen Long Memory</dc:creator>
  <cp:lastModifiedBy>WebGen Long Memory</cp:lastModifiedBy>
  <cp:revision>1</cp:revision>
  <dcterms:created xsi:type="dcterms:W3CDTF">2026-10-05T00:16:55Z</dcterms:created>
  <dcterms:modified xsi:type="dcterms:W3CDTF">2026-10-05T00:16:55Z</dcterms:modified>
</cp:coreProperties>
</file>